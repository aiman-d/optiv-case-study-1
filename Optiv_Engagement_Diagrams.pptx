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42B4C"/>
                </a:solidFill>
              </a:defRPr>
            </a:pPr>
            <a:r>
              <a:t>Expected Outcomes: Case Study 01</a:t>
            </a:r>
          </a:p>
          <a:p>
            <a:r>
              <a:t>Solution Guide &amp;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Vendor AI Usage Analysis Solution</a:t>
            </a:r>
          </a:p>
          <a:p>
            <a:r>
              <a:t>Optiv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Introduction to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Welcome to the Vendor AI Usage Analysis Tool Guide.</a:t>
            </a:r>
          </a:p>
          <a:p>
            <a:pPr>
              <a:defRPr sz="2000"/>
            </a:pPr>
            <a:r>
              <a:t>This presentation will walk you through how our solution automatically assesses if third-party vendors are using AI.</a:t>
            </a:r>
          </a:p>
          <a:p>
            <a:pPr>
              <a:defRPr sz="2000"/>
            </a:pPr>
            <a:r>
              <a:t>Key Principles:</a:t>
            </a:r>
          </a:p>
          <a:p>
            <a:pPr lvl="1">
              <a:defRPr sz="2000"/>
            </a:pPr>
            <a:r>
              <a:t>• 100% OSINT (Public Information) - We don't contact the vendor.</a:t>
            </a:r>
          </a:p>
          <a:p>
            <a:pPr lvl="1">
              <a:defRPr sz="2000"/>
            </a:pPr>
            <a:r>
              <a:t>• Verbatim Evidence - We only use exact quotes as proof.</a:t>
            </a:r>
          </a:p>
          <a:p>
            <a:pPr lvl="1">
              <a:defRPr sz="2000"/>
            </a:pPr>
            <a:r>
              <a:t>• Tiered Approach - We spend more time on riskier vendors.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01 Functional Design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57400" y="1371600"/>
            <a:ext cx="3200400" cy="54864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1. Input: Vendor Excel File</a:t>
            </a:r>
          </a:p>
        </p:txBody>
      </p:sp>
      <p:sp>
        <p:nvSpPr>
          <p:cNvPr id="4" name="Down Arrow 3"/>
          <p:cNvSpPr/>
          <p:nvPr/>
        </p:nvSpPr>
        <p:spPr>
          <a:xfrm>
            <a:off x="3566160" y="1920240"/>
            <a:ext cx="182880" cy="365760"/>
          </a:xfrm>
          <a:prstGeom prst="downArrow">
            <a:avLst/>
          </a:prstGeom>
          <a:solidFill>
            <a:srgbClr val="ED6B2D"/>
          </a:solidFill>
          <a:ln>
            <a:solidFill>
              <a:srgbClr val="ED6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286000"/>
            <a:ext cx="3200400" cy="54864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2. M1: Criticality Engine (Scoring)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566160" y="2834640"/>
            <a:ext cx="182880" cy="365760"/>
          </a:xfrm>
          <a:prstGeom prst="downArrow">
            <a:avLst/>
          </a:prstGeom>
          <a:solidFill>
            <a:srgbClr val="ED6B2D"/>
          </a:solidFill>
          <a:ln>
            <a:solidFill>
              <a:srgbClr val="ED6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3200400"/>
            <a:ext cx="3200400" cy="54864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 M2: OSINT Collectors (Web Crawl)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66160" y="3749039"/>
            <a:ext cx="182880" cy="365760"/>
          </a:xfrm>
          <a:prstGeom prst="downArrow">
            <a:avLst/>
          </a:prstGeom>
          <a:solidFill>
            <a:srgbClr val="ED6B2D"/>
          </a:solidFill>
          <a:ln>
            <a:solidFill>
              <a:srgbClr val="ED6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57400" y="4114800"/>
            <a:ext cx="3200400" cy="54864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4. M3: AI Signal Classifier (LLM)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566160" y="4663440"/>
            <a:ext cx="182880" cy="365760"/>
          </a:xfrm>
          <a:prstGeom prst="downArrow">
            <a:avLst/>
          </a:prstGeom>
          <a:solidFill>
            <a:srgbClr val="ED6B2D"/>
          </a:solidFill>
          <a:ln>
            <a:solidFill>
              <a:srgbClr val="ED6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57400" y="5029200"/>
            <a:ext cx="3200400" cy="54864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5. M4 &amp; M5: Risk Engine &amp; Excel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02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1828800" cy="914400"/>
          </a:xfrm>
          <a:prstGeom prst="roundRect">
            <a:avLst/>
          </a:prstGeom>
          <a:solidFill>
            <a:srgbClr val="0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 Interface</a:t>
            </a:r>
            <a:br/>
            <a:r>
              <a:t>(Streamlit UI)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2194560" cy="91440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M1: config/rubric.yaml</a:t>
            </a:r>
            <a:br/>
            <a:r>
              <a:t>(pandas, yaml)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560320"/>
            <a:ext cx="2194560" cy="91440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M2: trafilatura</a:t>
            </a:r>
            <a:br/>
            <a:r>
              <a:t>(urllib, local cache)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560320"/>
            <a:ext cx="2194560" cy="91440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M3: LLM prompt</a:t>
            </a:r>
            <a:br/>
            <a:r>
              <a:t>(regex, JSON schema)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114800"/>
            <a:ext cx="2743200" cy="91440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M4: Formula weighting</a:t>
            </a:r>
            <a:br/>
            <a:r>
              <a:t>(base × tier × recency)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114800"/>
            <a:ext cx="2743200" cy="914400"/>
          </a:xfrm>
          <a:prstGeom prst="roundRect">
            <a:avLst/>
          </a:prstGeom>
          <a:solidFill>
            <a:srgbClr val="142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M5: shutil.copy</a:t>
            </a:r>
            <a:br/>
            <a:r>
              <a:t>(pandas, openpyxl)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03 Source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Where we look for evidence and how we prioritize it:</a:t>
            </a:r>
          </a:p>
          <a:p>
            <a:pPr>
              <a:defRPr sz="2000"/>
            </a:pPr>
            <a:r>
              <a:t>Tier A (Direct Evidence):</a:t>
            </a:r>
          </a:p>
          <a:p>
            <a:pPr lvl="1">
              <a:defRPr sz="2000"/>
            </a:pPr>
            <a:r>
              <a:t>The most reliable. Product documentation, AI policies, sub-processor lists.</a:t>
            </a:r>
          </a:p>
          <a:p>
            <a:pPr>
              <a:defRPr sz="2000"/>
            </a:pPr>
            <a:r>
              <a:t>Tier B (Corroborating Evidence):</a:t>
            </a:r>
          </a:p>
          <a:p>
            <a:pPr lvl="1">
              <a:defRPr sz="2000"/>
            </a:pPr>
            <a:r>
              <a:t>Technical job postings, engineering blogs, GitHub repositories.</a:t>
            </a:r>
          </a:p>
          <a:p>
            <a:pPr>
              <a:defRPr sz="2000"/>
            </a:pPr>
            <a:r>
              <a:t>Tier C (Contextual Evidence):</a:t>
            </a:r>
          </a:p>
          <a:p>
            <a:pPr lvl="1">
              <a:defRPr sz="2000"/>
            </a:pPr>
            <a:r>
              <a:t>Executive posts, press releases, interviews.</a:t>
            </a:r>
          </a:p>
          <a:p>
            <a:pPr>
              <a:defRPr sz="2000"/>
            </a:pPr>
            <a:r>
              <a:t>Tier D (Noise):</a:t>
            </a:r>
          </a:p>
          <a:p>
            <a:pPr lvl="1">
              <a:defRPr sz="2000"/>
            </a:pPr>
            <a:r>
              <a:t>Generic marketing buzzwords (we give this very little weight).</a:t>
            </a:r>
          </a:p>
          <a:p>
            <a:pPr>
              <a:defRPr sz="2000"/>
            </a:pPr>
            <a:r>
              <a:t>Scoring System:</a:t>
            </a:r>
          </a:p>
          <a:p>
            <a:pPr lvl="1">
              <a:defRPr sz="2000"/>
            </a:pPr>
            <a:r>
              <a:t>We multiply the reliability of the source by how closely it links to the actual service being provided.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04 Criticality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How we decide which vendors need the most scrutiny:</a:t>
            </a:r>
          </a:p>
          <a:p>
            <a:pPr>
              <a:defRPr sz="2000"/>
            </a:pPr>
            <a:r>
              <a:t>The Scoring Rubric:</a:t>
            </a:r>
          </a:p>
          <a:p>
            <a:pPr lvl="1">
              <a:defRPr sz="2000"/>
            </a:pPr>
            <a:r>
              <a:t>We score vendors 0-3 on things like data sensitivity, payment flow, and operational dependency.</a:t>
            </a:r>
          </a:p>
          <a:p>
            <a:pPr>
              <a:defRPr sz="2000"/>
            </a:pPr>
            <a:r>
              <a:t>The Resulting Tiers:</a:t>
            </a:r>
          </a:p>
          <a:p>
            <a:pPr lvl="1">
              <a:defRPr sz="2000"/>
            </a:pPr>
            <a:r>
              <a:t>Critical: Gets a 'Full Sweep' (docs, job postings, financial filings, exec channels).</a:t>
            </a:r>
          </a:p>
          <a:p>
            <a:pPr lvl="1">
              <a:defRPr sz="2000"/>
            </a:pPr>
            <a:r>
              <a:t>High: Checks product docs, trust center, jobs, and filings.</a:t>
            </a:r>
          </a:p>
          <a:p>
            <a:pPr lvl="1">
              <a:defRPr sz="2000"/>
            </a:pPr>
            <a:r>
              <a:t>Medium: Checks website, basic docs, and jobs.</a:t>
            </a:r>
          </a:p>
          <a:p>
            <a:pPr lvl="1">
              <a:defRPr sz="2000"/>
            </a:pPr>
            <a:r>
              <a:t>Low: Just a quick check of their trust center and AI policy.</a:t>
            </a:r>
          </a:p>
          <a:p>
            <a:pPr>
              <a:defRPr sz="2000"/>
            </a:pPr>
            <a:r>
              <a:t>Why this matters: It saves time and resources by focusing on the highest risk vendors.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D6B2D"/>
                </a:solidFill>
              </a:defRPr>
            </a:pPr>
            <a:r>
              <a:t>05 Working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How to use the solution yourself:</a:t>
            </a:r>
          </a:p>
          <a:p>
            <a:pPr>
              <a:defRPr sz="2000"/>
            </a:pPr>
            <a:r>
              <a:t>The User Interface:</a:t>
            </a:r>
          </a:p>
          <a:p>
            <a:pPr lvl="1">
              <a:defRPr sz="2000"/>
            </a:pPr>
            <a:r>
              <a:t>We built a simple dashboard. You don't need to be a programmer to use it.</a:t>
            </a:r>
          </a:p>
          <a:p>
            <a:pPr>
              <a:defRPr sz="2000"/>
            </a:pPr>
            <a:r>
              <a:t>The Process:</a:t>
            </a:r>
          </a:p>
          <a:p>
            <a:pPr lvl="1">
              <a:defRPr sz="2000"/>
            </a:pPr>
            <a:r>
              <a:t>1. Upload your 'Meridian_Vendor_Input.xlsx' file into the app.</a:t>
            </a:r>
          </a:p>
          <a:p>
            <a:pPr lvl="1">
              <a:defRPr sz="2000"/>
            </a:pPr>
            <a:r>
              <a:t>2. Click 'Run Pipeline'.</a:t>
            </a:r>
          </a:p>
          <a:p>
            <a:pPr lvl="1">
              <a:defRPr sz="2000"/>
            </a:pPr>
            <a:r>
              <a:t>3. Watch as the tool shows 'evidence cards' for each vendor in real-time.</a:t>
            </a:r>
          </a:p>
          <a:p>
            <a:pPr lvl="1">
              <a:defRPr sz="2000"/>
            </a:pPr>
            <a:r>
              <a:t>4. Download the final, completed Excel workbook with all the answers filled in.</a:t>
            </a:r>
          </a:p>
          <a:p>
            <a:pPr>
              <a:defRPr sz="2000"/>
            </a:pPr>
            <a:r>
              <a:t>Evidence Log:</a:t>
            </a:r>
          </a:p>
          <a:p>
            <a:pPr lvl="1">
              <a:defRPr sz="2000"/>
            </a:pPr>
            <a:r>
              <a:t>The final Excel file will have a new tab showing every exact quote and website link we found.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