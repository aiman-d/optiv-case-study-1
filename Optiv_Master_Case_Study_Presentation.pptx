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our end-to-end consulting deliverables for both Case Study 1 and Case Study 2. We address the full lifecycle of enterprise AI exposure: analyzing undisclosed third-party AI risks from outside vendors for Meridian Financial, and engineering zero-leakage PII sanitization pipelines for Cadence Financial Group.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slide illustrates the dual-shield approach: Case Study 1 governs incoming risk from third-party partners who might process bank data through unvetted models. Case Study 2 governs outgoing data integrity by sanitizing enterprise artifacts before feeding them to internal AI agents.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entering Case Study 1. We were engaged by Meridian Financial to create a repeatable, defensible methodology to inspect their critical third-party vendors.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for the stakeholder: We operated under strict ethical and legal boundaries. We did not contact vendors directly or attempt unauthorized scraping. Everything is built on public OSINT, backed by exact cryptographic hashes so our findings withstand an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5 core steps answering the briefing slides. Step 1 establishes vendor criticality; Step 2 sets the depth; Step 3 weights OSINT sources; Step 4 executes the data extraction with Quote Guard; Step 5 surfaces the resulting risk to Meridian.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fulfills Expected Outcome 1. Notice the clean, decoupled modularity: M1 runs offline, M2 downloads and caches, M3 classifies and filters, M4 scores, and M5 exports. Everything is traceable to local hash-verified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architecture answering Expected Outcome 2. We use industry-standard libraries: Trafilatura for extraction, Groq LPU with Llama-3/GPT-OSS for classification, and openpyxl for Excel output. The Quote Guard ensures zero hallucination enters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3: Notice the rigor in our source strategy. We don't give the same weight to a marketing blog as we do to an official sub-processor list. And our Quote Guard discards any claim where the LLM paraphrased or hallucinated.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4: Our criticality engine is deterministic. If another analyst runs the vendor through config/rubric.yaml, they reach the exact same rating. Depth of investigation is driven by criticality, not by how much marketing material a vendor happens to publish.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scorecard for Meridian's 6 vendors. Notice the distribution: 2 Critical (Fiserv, TCH), 2 High (FSSI, BNY), 1 Medium (Terrapin), and 1 Low (AutomWorx). Each vendor received a calibrated depth of investigation matching their risk potential.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Crucial slide: We resolved previous ambiguities down to exactly ONE inconclusive vendor (Terrapin). Fiserv, BNY, and AutomWorx are confirmed 'Yes'; FSSI and The Clearing House are confirmed 'No' after auditing hundreds of pages. Terrapin is genuinely inconclusive due to bot blocks, showing we never guess without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risk surfacing required by the rubric. We translate the technical signals into actionable TPRM governance: 15-day questionnaires, sub-processor registry updates, contractual training restrictions, and a 30-day escalation path to the Risk Committee.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slide: The UI is currently live on localhost:8501 in presentation mode. We can switch over to the browser at any time to demonstrate the interactive evidence cards and download the audited workbook.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transition to Case Study 2: Text Analysis and PII Detection for Cadence Financial Group.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2 sets a very high bar: Financial institutions cannot send employee PII, client account numbers, or social security numbers to third-party LLMs. We had to build a local, highly accurate extraction and redaction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pillars map directly to Slide 8 of the Optiv prompt: File structure analysis, developing the solution, and surfacing the resulting exposure.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Outcomes 1 &amp; 2 for Case Study 2: This architecture blueprint shows how artifacts move from ingestion to redaction. Notice Module 4: The Token Vault maintains a secure, encrypted map so authorized auditors can re-identify entities if needed, while downstream LLMs see only sanitized tokens.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3: Handling real-world document messiness. PDF tables, PPTX org charts, and scanned Word documents require specialized extractors. Our noise repair engine resolves broken line-breaks before PII detection runs, ensuring names and numbers are not split.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detection core. Regex alone fails on names; NLP alone misses hyphenated phone numbers. By fusing deterministic regex with spaCy en_core_web_lg, we achieve industry-leading coverage across 11 distinct PII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Outcomes 4 &amp; 5: Notice that we replace PII with typed tokens like [PERSON_1] instead of deleting text. This is critical: the downstream LLM still understands that 'a person' approved the trade, but never learns their actual name or contact details.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Strategic synthesis slide: This slide unifies both case studies into a single compelling narrative for Optiv leadership. We demonstrate that we don't just solve isolated exercises—we architect an enterprise-wide AI governance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now open for stakeholder questions and deep-dives into any technical or governance component.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ED6B2D"/>
                </a:solidFill>
              </a:defRPr>
            </a:pPr>
            <a:r>
              <a:t>CONFIDENTIAL  |  OPTIV CONSULTING</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FFFFFF"/>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2011680"/>
            <a:ext cx="10515600" cy="2286000"/>
          </a:xfrm>
          <a:prstGeom prst="rect">
            <a:avLst/>
          </a:prstGeom>
          <a:noFill/>
        </p:spPr>
        <p:txBody>
          <a:bodyPr wrap="square">
            <a:spAutoFit/>
          </a:bodyPr>
          <a:lstStyle/>
          <a:p>
            <a:pPr>
              <a:defRPr sz="4000" b="1">
                <a:solidFill>
                  <a:srgbClr val="FFFFFF"/>
                </a:solidFill>
              </a:defRPr>
            </a:pPr>
            <a:r>
              <a:t>Enterprise AI Governance &amp; Cyber Strategy</a:t>
            </a:r>
          </a:p>
          <a:p>
            <a:pPr>
              <a:spcBef>
                <a:spcPts val="2000"/>
              </a:spcBef>
              <a:defRPr sz="2000">
                <a:solidFill>
                  <a:srgbClr val="E2E8F0"/>
                </a:solidFill>
              </a:defRPr>
            </a:pPr>
            <a:r>
              <a:t>Comprehensive Solutions for Case Study 1 (Meridian Financial) &amp; Case Study 2 (Cadence Financial Group)</a:t>
            </a:r>
          </a:p>
        </p:txBody>
      </p:sp>
      <p:sp>
        <p:nvSpPr>
          <p:cNvPr id="8" name="Rectangle 7"/>
          <p:cNvSpPr/>
          <p:nvPr/>
        </p:nvSpPr>
        <p:spPr>
          <a:xfrm>
            <a:off x="731520" y="3017520"/>
            <a:ext cx="2286000" cy="7315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297680"/>
            <a:ext cx="10698480" cy="1463040"/>
          </a:xfrm>
          <a:prstGeom prst="roundRect">
            <a:avLst/>
          </a:prstGeom>
          <a:solidFill>
            <a:srgbClr val="1122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434840"/>
            <a:ext cx="10149840" cy="1188720"/>
          </a:xfrm>
          <a:prstGeom prst="rect">
            <a:avLst/>
          </a:prstGeom>
          <a:noFill/>
        </p:spPr>
        <p:txBody>
          <a:bodyPr wrap="square">
            <a:spAutoFit/>
          </a:bodyPr>
          <a:lstStyle/>
          <a:p>
            <a:pPr>
              <a:defRPr sz="1300" b="1">
                <a:solidFill>
                  <a:srgbClr val="ED6B2D"/>
                </a:solidFill>
              </a:defRPr>
            </a:pPr>
            <a:r>
              <a:t>ENGAGEMENT OVERVIEW &amp; DELIVERABLES</a:t>
            </a:r>
          </a:p>
          <a:p>
            <a:pPr>
              <a:spcBef>
                <a:spcPts val="800"/>
              </a:spcBef>
              <a:defRPr sz="1300">
                <a:solidFill>
                  <a:srgbClr val="CBD5E1"/>
                </a:solidFill>
              </a:defRPr>
            </a:pPr>
            <a:r>
              <a:t>• Case Study 1: Open-Source Intelligence (OSINT) Vendor AI Footprint Profiling &amp; Security Risk Engine</a:t>
            </a:r>
            <a:br/>
            <a:r>
              <a:t>• Case Study 2: Local Privacy-Preserving Text Extraction, PII Detection &amp; Pixel-Level Redaction Pipeline</a:t>
            </a:r>
            <a:br/>
            <a:r>
              <a:t>• Walkthrough Deck: 10–15 Minute Executive Walkthrough  |  Optiv Strategy Practice  |  VIT Engagement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Executive Agenda &amp; Engagement Framework</a:t>
            </a:r>
          </a:p>
          <a:p>
            <a:pPr>
              <a:spcBef>
                <a:spcPts val="800"/>
              </a:spcBef>
              <a:defRPr sz="1300">
                <a:solidFill>
                  <a:srgbClr val="64748B"/>
                </a:solidFill>
              </a:defRPr>
            </a:pPr>
            <a:r>
              <a:t>Addressing Dual Enterprise AI Risk Dimensions: Inbound Vendor Risk vs Outbound PII Ingestion</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ED6B2D"/>
                </a:solidFill>
              </a:defRPr>
            </a:pPr>
            <a:r>
              <a:t>CASE STUDY 1: THIRD-PARTY AI RISK (MERIDIAN)</a:t>
            </a:r>
          </a:p>
        </p:txBody>
      </p:sp>
      <p:sp>
        <p:nvSpPr>
          <p:cNvPr id="12" name="TextBox 11"/>
          <p:cNvSpPr txBox="1"/>
          <p:nvPr/>
        </p:nvSpPr>
        <p:spPr>
          <a:xfrm>
            <a:off x="960120" y="2148840"/>
            <a:ext cx="4754880" cy="3749039"/>
          </a:xfrm>
          <a:prstGeom prst="rect">
            <a:avLst/>
          </a:prstGeom>
          <a:noFill/>
        </p:spPr>
        <p:txBody>
          <a:bodyPr wrap="square">
            <a:spAutoFit/>
          </a:bodyPr>
          <a:lstStyle/>
          <a:p>
            <a:pPr>
              <a:defRPr sz="1300" b="1">
                <a:solidFill>
                  <a:srgbClr val="142B4C"/>
                </a:solidFill>
              </a:defRPr>
            </a:pPr>
            <a:r>
              <a:t>Client: Meridian Financial (Global Banking Enterprise)</a:t>
            </a:r>
            <a:br/>
            <a:r>
              <a:t>Challenge: Undisclosed Vendor AI in Core Workloads</a:t>
            </a:r>
          </a:p>
          <a:p>
            <a:pPr>
              <a:spcBef>
                <a:spcPts val="800"/>
              </a:spcBef>
              <a:defRPr sz="1200">
                <a:solidFill>
                  <a:srgbClr val="0F172A"/>
                </a:solidFill>
              </a:defRPr>
            </a:pPr>
            <a:r>
              <a:t>▪  Problem: Vendors embed generative &amp; predictive AI into services without formal disclosure.</a:t>
            </a:r>
          </a:p>
          <a:p>
            <a:pPr>
              <a:spcBef>
                <a:spcPts val="800"/>
              </a:spcBef>
              <a:defRPr sz="1200">
                <a:solidFill>
                  <a:srgbClr val="0F172A"/>
                </a:solidFill>
              </a:defRPr>
            </a:pPr>
            <a:r>
              <a:t>▪  Methodology: 100% OSINT footprint analysis (zero contact, no paywall bypass).</a:t>
            </a:r>
          </a:p>
          <a:p>
            <a:pPr>
              <a:spcBef>
                <a:spcPts val="800"/>
              </a:spcBef>
              <a:defRPr sz="1200">
                <a:solidFill>
                  <a:srgbClr val="0F172A"/>
                </a:solidFill>
              </a:defRPr>
            </a:pPr>
            <a:r>
              <a:t>▪  Deterministic Criticality Engine: 5-metric rubric assigning Critical to Low tiers.</a:t>
            </a:r>
          </a:p>
          <a:p>
            <a:pPr>
              <a:spcBef>
                <a:spcPts val="800"/>
              </a:spcBef>
              <a:defRPr sz="1200">
                <a:solidFill>
                  <a:srgbClr val="0F172A"/>
                </a:solidFill>
              </a:defRPr>
            </a:pPr>
            <a:r>
              <a:t>▪  Quote Guard: Cryptographic substring verification to eliminate LLM hallucinations.</a:t>
            </a:r>
          </a:p>
          <a:p>
            <a:pPr>
              <a:spcBef>
                <a:spcPts val="800"/>
              </a:spcBef>
              <a:defRPr sz="1200">
                <a:solidFill>
                  <a:srgbClr val="0F172A"/>
                </a:solidFill>
              </a:defRPr>
            </a:pPr>
            <a:r>
              <a:t>▪  Outcome: Preserved client workbook, 132-entry Evidence Log, and instant Streamlit demo.</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142B4C"/>
                </a:solidFill>
              </a:defRPr>
            </a:pPr>
            <a:r>
              <a:t>CASE STUDY 2: DOCUMENT PII REDACTION (CADENCE)</a:t>
            </a:r>
          </a:p>
        </p:txBody>
      </p:sp>
      <p:sp>
        <p:nvSpPr>
          <p:cNvPr id="16" name="TextBox 15"/>
          <p:cNvSpPr txBox="1"/>
          <p:nvPr/>
        </p:nvSpPr>
        <p:spPr>
          <a:xfrm>
            <a:off x="6446520" y="2148840"/>
            <a:ext cx="4754880" cy="3749039"/>
          </a:xfrm>
          <a:prstGeom prst="rect">
            <a:avLst/>
          </a:prstGeom>
          <a:noFill/>
        </p:spPr>
        <p:txBody>
          <a:bodyPr wrap="square">
            <a:spAutoFit/>
          </a:bodyPr>
          <a:lstStyle/>
          <a:p>
            <a:pPr>
              <a:defRPr sz="1300" b="1">
                <a:solidFill>
                  <a:srgbClr val="142B4C"/>
                </a:solidFill>
              </a:defRPr>
            </a:pPr>
            <a:r>
              <a:t>Client: Cadence Financial Group (Investment Banking)</a:t>
            </a:r>
            <a:br/>
            <a:r>
              <a:t>Challenge: Preventing Sensitive PII from Reaching LLMs</a:t>
            </a:r>
          </a:p>
          <a:p>
            <a:pPr>
              <a:spcBef>
                <a:spcPts val="800"/>
              </a:spcBef>
              <a:defRPr sz="1200">
                <a:solidFill>
                  <a:srgbClr val="0F172A"/>
                </a:solidFill>
              </a:defRPr>
            </a:pPr>
            <a:r>
              <a:t>▪  Policy: Strict organizational mandate requiring all PII stripped prior to LLM analysis.</a:t>
            </a:r>
          </a:p>
          <a:p>
            <a:pPr>
              <a:spcBef>
                <a:spcPts val="800"/>
              </a:spcBef>
              <a:defRPr sz="1200">
                <a:solidFill>
                  <a:srgbClr val="0F172A"/>
                </a:solidFill>
              </a:defRPr>
            </a:pPr>
            <a:r>
              <a:t>▪  Multi-Format Extraction: Native PDF, DOCX, PPTX extraction retaining &gt;80% structure.</a:t>
            </a:r>
          </a:p>
          <a:p>
            <a:pPr>
              <a:spcBef>
                <a:spcPts val="800"/>
              </a:spcBef>
              <a:defRPr sz="1200">
                <a:solidFill>
                  <a:srgbClr val="0F172A"/>
                </a:solidFill>
              </a:defRPr>
            </a:pPr>
            <a:r>
              <a:t>▪  OCR &amp; Figure Pass: Tesseract fallback for scanned policy docs and embedded charts.</a:t>
            </a:r>
          </a:p>
          <a:p>
            <a:pPr>
              <a:spcBef>
                <a:spcPts val="800"/>
              </a:spcBef>
              <a:defRPr sz="1200">
                <a:solidFill>
                  <a:srgbClr val="0F172A"/>
                </a:solidFill>
              </a:defRPr>
            </a:pPr>
            <a:r>
              <a:t>▪  Hybrid PII Detector: Deterministic regex + spaCy NER (en_core_web_lg) targeting 11 entities.</a:t>
            </a:r>
          </a:p>
          <a:p>
            <a:pPr>
              <a:spcBef>
                <a:spcPts val="800"/>
              </a:spcBef>
              <a:defRPr sz="1200">
                <a:solidFill>
                  <a:srgbClr val="0F172A"/>
                </a:solidFill>
              </a:defRPr>
            </a:pPr>
            <a:r>
              <a:t>▪  Reversible Token Vault: Cryptographic token mapping (.vault.json) for auditability.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ED6B2D"/>
                </a:solidFill>
              </a:defRPr>
            </a:pPr>
            <a:r>
              <a:t>CASE STUDY 1  |  MERIDIAN FINANCIAL</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FFFFFF"/>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2011680"/>
            <a:ext cx="10698480" cy="2743200"/>
          </a:xfrm>
          <a:prstGeom prst="rect">
            <a:avLst/>
          </a:prstGeom>
          <a:noFill/>
        </p:spPr>
        <p:txBody>
          <a:bodyPr wrap="square">
            <a:spAutoFit/>
          </a:bodyPr>
          <a:lstStyle/>
          <a:p>
            <a:pPr>
              <a:defRPr sz="1800" b="1">
                <a:solidFill>
                  <a:srgbClr val="ED6B2D"/>
                </a:solidFill>
              </a:defRPr>
            </a:pPr>
            <a:r>
              <a:t>SECTION 01</a:t>
            </a:r>
          </a:p>
          <a:p>
            <a:pPr>
              <a:spcBef>
                <a:spcPts val="1000"/>
              </a:spcBef>
              <a:defRPr sz="3800" b="1">
                <a:solidFill>
                  <a:srgbClr val="FFFFFF"/>
                </a:solidFill>
              </a:defRPr>
            </a:pPr>
            <a:r>
              <a:t>Case Study 1: Vendor AI Usage Analysis</a:t>
            </a:r>
          </a:p>
          <a:p>
            <a:pPr>
              <a:spcBef>
                <a:spcPts val="1500"/>
              </a:spcBef>
              <a:defRPr sz="1800">
                <a:solidFill>
                  <a:srgbClr val="CBD5E1"/>
                </a:solidFill>
              </a:defRPr>
            </a:pPr>
            <a:r>
              <a:t>Designing an Evidence-Driven OSINT Methodology to Profile and Classify Third-Party AI Footprints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Case Study 1: Context, Problem &amp; Constraints</a:t>
            </a:r>
          </a:p>
          <a:p>
            <a:pPr>
              <a:spcBef>
                <a:spcPts val="800"/>
              </a:spcBef>
              <a:defRPr sz="1300">
                <a:solidFill>
                  <a:srgbClr val="64748B"/>
                </a:solidFill>
              </a:defRPr>
            </a:pPr>
            <a:r>
              <a:t>Meridian Financial Third-Party Risk Management Engagement</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THE BUSINESS CHALLENGE</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1000"/>
              </a:spcBef>
              <a:defRPr sz="1200">
                <a:solidFill>
                  <a:srgbClr val="0F172A"/>
                </a:solidFill>
              </a:defRPr>
            </a:pPr>
            <a:r>
              <a:t>▪  Client Profile: Meridian Financial is a global financial institution serving 1.4 million customers, processing billions in payment transactions annually.</a:t>
            </a:r>
          </a:p>
          <a:p>
            <a:pPr>
              <a:spcBef>
                <a:spcPts val="1000"/>
              </a:spcBef>
              <a:defRPr sz="1200">
                <a:solidFill>
                  <a:srgbClr val="0F172A"/>
                </a:solidFill>
              </a:defRPr>
            </a:pPr>
            <a:r>
              <a:t>▪  The Challenge: Vendors in cloud, managed services, and payments increasingly embed AI into core systems. Disclosures are vague, marketing buzz is rampant, and contract terms lag behind.</a:t>
            </a:r>
          </a:p>
          <a:p>
            <a:pPr>
              <a:spcBef>
                <a:spcPts val="1000"/>
              </a:spcBef>
              <a:defRPr sz="1200">
                <a:solidFill>
                  <a:srgbClr val="0F172A"/>
                </a:solidFill>
              </a:defRPr>
            </a:pPr>
            <a:r>
              <a:t>▪  Risk Posture: If a vendor feeds Meridian customer records or payment flows into commercial LLMs or undisclosed AI sub-processors, Meridian faces catastrophic regulatory and privacy liabilities.</a:t>
            </a:r>
          </a:p>
          <a:p>
            <a:pPr>
              <a:spcBef>
                <a:spcPts val="1000"/>
              </a:spcBef>
              <a:defRPr sz="1200">
                <a:solidFill>
                  <a:srgbClr val="0F172A"/>
                </a:solidFill>
              </a:defRPr>
            </a:pPr>
            <a:r>
              <a:t>▪  The Objective: Optiv was tasked to design an automated, evidence-driven tool to verify whether vendors genuinely use AI in the services provided to Meridian.</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HARD OPERATIONAL CONSTRAINTS</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1000"/>
              </a:spcBef>
              <a:defRPr sz="1200">
                <a:solidFill>
                  <a:srgbClr val="0F172A"/>
                </a:solidFill>
              </a:defRPr>
            </a:pPr>
            <a:r>
              <a:t>▪  100% OSINT Only: No vendor contact, no questionnaires during collection, no paywall bypass, and strictly respect robots.txt and a 1.2-second rate limit.</a:t>
            </a:r>
          </a:p>
          <a:p>
            <a:pPr>
              <a:spcBef>
                <a:spcPts val="1000"/>
              </a:spcBef>
              <a:defRPr sz="1200">
                <a:solidFill>
                  <a:srgbClr val="0F172A"/>
                </a:solidFill>
              </a:defRPr>
            </a:pPr>
            <a:r>
              <a:t>▪  Cryptographic Auditability: Every evidence claim must trace to a local snapshot with URL, retrieval timestamp, and SHA-256 content hash.</a:t>
            </a:r>
          </a:p>
          <a:p>
            <a:pPr>
              <a:spcBef>
                <a:spcPts val="1000"/>
              </a:spcBef>
              <a:defRPr sz="1200">
                <a:solidFill>
                  <a:srgbClr val="0F172A"/>
                </a:solidFill>
              </a:defRPr>
            </a:pPr>
            <a:r>
              <a:t>▪  Quote Guard Enforcement: LLM-extracted quotes must be exact verbatim substrings of cleaned HTML. Any hallucinated quote is discarded immediately.</a:t>
            </a:r>
          </a:p>
          <a:p>
            <a:pPr>
              <a:spcBef>
                <a:spcPts val="1000"/>
              </a:spcBef>
              <a:defRPr sz="1200">
                <a:solidFill>
                  <a:srgbClr val="0F172A"/>
                </a:solidFill>
              </a:defRPr>
            </a:pPr>
            <a:r>
              <a:t>▪  Coverage Gap Accounting: Unreachable pages or bot-blocked sites are recorded explicitly as Coverage Gaps—never reported as a false 'No'.</a:t>
            </a:r>
          </a:p>
          <a:p>
            <a:pPr>
              <a:spcBef>
                <a:spcPts val="1000"/>
              </a:spcBef>
              <a:defRPr sz="1200">
                <a:solidFill>
                  <a:srgbClr val="0F172A"/>
                </a:solidFill>
              </a:defRPr>
            </a:pPr>
            <a:r>
              <a:t>▪  Workbook Preservation: Columns B–K in Meridian's workbook are byte-for-byte immutable. Only columns L–V are populated.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Roles &amp; Responsibilities: 5-Pillar Architecture</a:t>
            </a:r>
          </a:p>
          <a:p>
            <a:pPr>
              <a:spcBef>
                <a:spcPts val="800"/>
              </a:spcBef>
              <a:defRPr sz="1300">
                <a:solidFill>
                  <a:srgbClr val="64748B"/>
                </a:solidFill>
              </a:defRPr>
            </a:pPr>
            <a:r>
              <a:t>The Analytical Journey from Raw Vendor Profiles to Defensible Risk Outputs</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20574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1783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1600200" cy="365760"/>
          </a:xfrm>
          <a:prstGeom prst="rect">
            <a:avLst/>
          </a:prstGeom>
          <a:noFill/>
        </p:spPr>
        <p:txBody>
          <a:bodyPr wrap="square">
            <a:spAutoFit/>
          </a:bodyPr>
          <a:lstStyle/>
          <a:p>
            <a:pPr>
              <a:defRPr sz="1500" b="1">
                <a:solidFill>
                  <a:srgbClr val="142B4C"/>
                </a:solidFill>
              </a:defRPr>
            </a:pPr>
            <a:r>
              <a:t>STEP 01</a:t>
            </a:r>
          </a:p>
        </p:txBody>
      </p:sp>
      <p:sp>
        <p:nvSpPr>
          <p:cNvPr id="12" name="TextBox 11"/>
          <p:cNvSpPr txBox="1"/>
          <p:nvPr/>
        </p:nvSpPr>
        <p:spPr>
          <a:xfrm>
            <a:off x="868680" y="2194560"/>
            <a:ext cx="1783080" cy="3749039"/>
          </a:xfrm>
          <a:prstGeom prst="rect">
            <a:avLst/>
          </a:prstGeom>
          <a:noFill/>
        </p:spPr>
        <p:txBody>
          <a:bodyPr wrap="square">
            <a:spAutoFit/>
          </a:bodyPr>
          <a:lstStyle/>
          <a:p>
            <a:pPr>
              <a:defRPr sz="1300" b="1">
                <a:solidFill>
                  <a:srgbClr val="142B4C"/>
                </a:solidFill>
              </a:defRPr>
            </a:pPr>
            <a:r>
              <a:t>DETERMINE CRITICALITY</a:t>
            </a:r>
          </a:p>
          <a:p>
            <a:pPr>
              <a:spcBef>
                <a:spcPts val="1200"/>
              </a:spcBef>
              <a:defRPr sz="1100">
                <a:solidFill>
                  <a:srgbClr val="0F172A"/>
                </a:solidFill>
              </a:defRPr>
            </a:pPr>
            <a:r>
              <a:t>Judge how critical each vendor is using anchored 0–3 scoring scales across 5 business dimensions so another analyst gets the exact same score.</a:t>
            </a:r>
          </a:p>
        </p:txBody>
      </p:sp>
      <p:sp>
        <p:nvSpPr>
          <p:cNvPr id="13" name="Rounded Rectangle 12"/>
          <p:cNvSpPr/>
          <p:nvPr/>
        </p:nvSpPr>
        <p:spPr>
          <a:xfrm>
            <a:off x="2926080" y="1645920"/>
            <a:ext cx="20574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63240" y="1645920"/>
            <a:ext cx="1783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1783080"/>
            <a:ext cx="1600200" cy="365760"/>
          </a:xfrm>
          <a:prstGeom prst="rect">
            <a:avLst/>
          </a:prstGeom>
          <a:noFill/>
        </p:spPr>
        <p:txBody>
          <a:bodyPr wrap="square">
            <a:spAutoFit/>
          </a:bodyPr>
          <a:lstStyle/>
          <a:p>
            <a:pPr>
              <a:defRPr sz="1500" b="1">
                <a:solidFill>
                  <a:srgbClr val="ED6B2D"/>
                </a:solidFill>
              </a:defRPr>
            </a:pPr>
            <a:r>
              <a:t>STEP 02</a:t>
            </a:r>
          </a:p>
        </p:txBody>
      </p:sp>
      <p:sp>
        <p:nvSpPr>
          <p:cNvPr id="16" name="TextBox 15"/>
          <p:cNvSpPr txBox="1"/>
          <p:nvPr/>
        </p:nvSpPr>
        <p:spPr>
          <a:xfrm>
            <a:off x="3063240" y="2194560"/>
            <a:ext cx="1783080" cy="3749039"/>
          </a:xfrm>
          <a:prstGeom prst="rect">
            <a:avLst/>
          </a:prstGeom>
          <a:noFill/>
        </p:spPr>
        <p:txBody>
          <a:bodyPr wrap="square">
            <a:spAutoFit/>
          </a:bodyPr>
          <a:lstStyle/>
          <a:p>
            <a:pPr>
              <a:defRPr sz="1300" b="1">
                <a:solidFill>
                  <a:srgbClr val="ED6B2D"/>
                </a:solidFill>
              </a:defRPr>
            </a:pPr>
            <a:r>
              <a:t>SET THE DEPTH</a:t>
            </a:r>
          </a:p>
          <a:p>
            <a:pPr>
              <a:spcBef>
                <a:spcPts val="1200"/>
              </a:spcBef>
              <a:defRPr sz="1100">
                <a:solidFill>
                  <a:srgbClr val="0F172A"/>
                </a:solidFill>
              </a:defRPr>
            </a:pPr>
            <a:r>
              <a:t>Establish tier-driven depth policies: Critical requires a full web/filings sweep, whereas Low warrants only a trust center/policy check.</a:t>
            </a:r>
          </a:p>
        </p:txBody>
      </p:sp>
      <p:sp>
        <p:nvSpPr>
          <p:cNvPr id="17" name="Rounded Rectangle 16"/>
          <p:cNvSpPr/>
          <p:nvPr/>
        </p:nvSpPr>
        <p:spPr>
          <a:xfrm>
            <a:off x="5120640" y="1645920"/>
            <a:ext cx="20574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57800" y="1645920"/>
            <a:ext cx="1783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1783080"/>
            <a:ext cx="1600200" cy="365760"/>
          </a:xfrm>
          <a:prstGeom prst="rect">
            <a:avLst/>
          </a:prstGeom>
          <a:noFill/>
        </p:spPr>
        <p:txBody>
          <a:bodyPr wrap="square">
            <a:spAutoFit/>
          </a:bodyPr>
          <a:lstStyle/>
          <a:p>
            <a:pPr>
              <a:defRPr sz="1500" b="1">
                <a:solidFill>
                  <a:srgbClr val="142B4C"/>
                </a:solidFill>
              </a:defRPr>
            </a:pPr>
            <a:r>
              <a:t>STEP 03</a:t>
            </a:r>
          </a:p>
        </p:txBody>
      </p:sp>
      <p:sp>
        <p:nvSpPr>
          <p:cNvPr id="20" name="TextBox 19"/>
          <p:cNvSpPr txBox="1"/>
          <p:nvPr/>
        </p:nvSpPr>
        <p:spPr>
          <a:xfrm>
            <a:off x="5257800" y="2194560"/>
            <a:ext cx="1783080" cy="3749039"/>
          </a:xfrm>
          <a:prstGeom prst="rect">
            <a:avLst/>
          </a:prstGeom>
          <a:noFill/>
        </p:spPr>
        <p:txBody>
          <a:bodyPr wrap="square">
            <a:spAutoFit/>
          </a:bodyPr>
          <a:lstStyle/>
          <a:p>
            <a:pPr>
              <a:defRPr sz="1300" b="1">
                <a:solidFill>
                  <a:srgbClr val="142B4C"/>
                </a:solidFill>
              </a:defRPr>
            </a:pPr>
            <a:r>
              <a:t>IDENTIFY SOURCES</a:t>
            </a:r>
          </a:p>
          <a:p>
            <a:pPr>
              <a:spcBef>
                <a:spcPts val="1200"/>
              </a:spcBef>
              <a:defRPr sz="1100">
                <a:solidFill>
                  <a:srgbClr val="0F172A"/>
                </a:solidFill>
              </a:defRPr>
            </a:pPr>
            <a:r>
              <a:t>Categorize OSINT footprint into 4 weighted reliability tiers (Tier A Direct down to Tier D Marketing Noise) and enforce service linkage.</a:t>
            </a:r>
          </a:p>
        </p:txBody>
      </p:sp>
      <p:sp>
        <p:nvSpPr>
          <p:cNvPr id="21" name="Rounded Rectangle 20"/>
          <p:cNvSpPr/>
          <p:nvPr/>
        </p:nvSpPr>
        <p:spPr>
          <a:xfrm>
            <a:off x="7315199" y="1645920"/>
            <a:ext cx="20574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52359" y="1645920"/>
            <a:ext cx="1783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43800" y="1783080"/>
            <a:ext cx="1600200" cy="365760"/>
          </a:xfrm>
          <a:prstGeom prst="rect">
            <a:avLst/>
          </a:prstGeom>
          <a:noFill/>
        </p:spPr>
        <p:txBody>
          <a:bodyPr wrap="square">
            <a:spAutoFit/>
          </a:bodyPr>
          <a:lstStyle/>
          <a:p>
            <a:pPr>
              <a:defRPr sz="1500" b="1">
                <a:solidFill>
                  <a:srgbClr val="ED6B2D"/>
                </a:solidFill>
              </a:defRPr>
            </a:pPr>
            <a:r>
              <a:t>STEP 04</a:t>
            </a:r>
          </a:p>
        </p:txBody>
      </p:sp>
      <p:sp>
        <p:nvSpPr>
          <p:cNvPr id="24" name="TextBox 23"/>
          <p:cNvSpPr txBox="1"/>
          <p:nvPr/>
        </p:nvSpPr>
        <p:spPr>
          <a:xfrm>
            <a:off x="7452359" y="2194560"/>
            <a:ext cx="1783080" cy="3749039"/>
          </a:xfrm>
          <a:prstGeom prst="rect">
            <a:avLst/>
          </a:prstGeom>
          <a:noFill/>
        </p:spPr>
        <p:txBody>
          <a:bodyPr wrap="square">
            <a:spAutoFit/>
          </a:bodyPr>
          <a:lstStyle/>
          <a:p>
            <a:pPr>
              <a:defRPr sz="1300" b="1">
                <a:solidFill>
                  <a:srgbClr val="ED6B2D"/>
                </a:solidFill>
              </a:defRPr>
            </a:pPr>
            <a:r>
              <a:t>BUILD CAPABILITY</a:t>
            </a:r>
          </a:p>
          <a:p>
            <a:pPr>
              <a:spcBef>
                <a:spcPts val="1200"/>
              </a:spcBef>
              <a:defRPr sz="1100">
                <a:solidFill>
                  <a:srgbClr val="0F172A"/>
                </a:solidFill>
              </a:defRPr>
            </a:pPr>
            <a:r>
              <a:t>Scrape, clean, and classify using a hybrid regex + LLM pipeline with substring Quote Guard and local caching for offline capability.</a:t>
            </a:r>
          </a:p>
        </p:txBody>
      </p:sp>
      <p:sp>
        <p:nvSpPr>
          <p:cNvPr id="25" name="Rounded Rectangle 24"/>
          <p:cNvSpPr/>
          <p:nvPr/>
        </p:nvSpPr>
        <p:spPr>
          <a:xfrm>
            <a:off x="9509760" y="1645920"/>
            <a:ext cx="20574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46920" y="1645920"/>
            <a:ext cx="1783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1783080"/>
            <a:ext cx="1600200" cy="365760"/>
          </a:xfrm>
          <a:prstGeom prst="rect">
            <a:avLst/>
          </a:prstGeom>
          <a:noFill/>
        </p:spPr>
        <p:txBody>
          <a:bodyPr wrap="square">
            <a:spAutoFit/>
          </a:bodyPr>
          <a:lstStyle/>
          <a:p>
            <a:pPr>
              <a:defRPr sz="1500" b="1">
                <a:solidFill>
                  <a:srgbClr val="142B4C"/>
                </a:solidFill>
              </a:defRPr>
            </a:pPr>
            <a:r>
              <a:t>STEP 05</a:t>
            </a:r>
          </a:p>
        </p:txBody>
      </p:sp>
      <p:sp>
        <p:nvSpPr>
          <p:cNvPr id="28" name="TextBox 27"/>
          <p:cNvSpPr txBox="1"/>
          <p:nvPr/>
        </p:nvSpPr>
        <p:spPr>
          <a:xfrm>
            <a:off x="9646920" y="2194560"/>
            <a:ext cx="1783080" cy="3749039"/>
          </a:xfrm>
          <a:prstGeom prst="rect">
            <a:avLst/>
          </a:prstGeom>
          <a:noFill/>
        </p:spPr>
        <p:txBody>
          <a:bodyPr wrap="square">
            <a:spAutoFit/>
          </a:bodyPr>
          <a:lstStyle/>
          <a:p>
            <a:pPr>
              <a:defRPr sz="1300" b="1">
                <a:solidFill>
                  <a:srgbClr val="142B4C"/>
                </a:solidFill>
              </a:defRPr>
            </a:pPr>
            <a:r>
              <a:t>SURFACE THE RISK</a:t>
            </a:r>
          </a:p>
          <a:p>
            <a:pPr>
              <a:spcBef>
                <a:spcPts val="1200"/>
              </a:spcBef>
              <a:defRPr sz="1100">
                <a:solidFill>
                  <a:srgbClr val="0F172A"/>
                </a:solidFill>
              </a:defRPr>
            </a:pPr>
            <a:r>
              <a:t>Map confirmed AI signals to Meridian's enterprise risk matrix (Critical/High/Medium/None) and draft 15-day actionable escalation playbooks.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1: Functional Design Diagram</a:t>
            </a:r>
          </a:p>
          <a:p>
            <a:pPr>
              <a:spcBef>
                <a:spcPts val="800"/>
              </a:spcBef>
              <a:defRPr sz="1300">
                <a:solidFill>
                  <a:srgbClr val="64748B"/>
                </a:solidFill>
              </a:defRPr>
            </a:pPr>
            <a:r>
              <a:t>End-to-End Pipeline Data Flow from OSINT Collection to Final Risk Workbook</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19"/>
            <a:ext cx="2057400" cy="365760"/>
          </a:xfrm>
          <a:prstGeom prst="rect">
            <a:avLst/>
          </a:prstGeom>
          <a:noFill/>
        </p:spPr>
        <p:txBody>
          <a:bodyPr wrap="none">
            <a:spAutoFit/>
          </a:bodyPr>
          <a:lstStyle/>
          <a:p>
            <a:pPr algn="ctr">
              <a:defRPr sz="1200" b="1">
                <a:solidFill>
                  <a:srgbClr val="FFFFFF"/>
                </a:solidFill>
              </a:defRPr>
            </a:pPr>
            <a:r>
              <a:t>Stage 1</a:t>
            </a:r>
          </a:p>
        </p:txBody>
      </p:sp>
      <p:sp>
        <p:nvSpPr>
          <p:cNvPr id="12" name="TextBox 11"/>
          <p:cNvSpPr txBox="1"/>
          <p:nvPr/>
        </p:nvSpPr>
        <p:spPr>
          <a:xfrm>
            <a:off x="822960" y="2377440"/>
            <a:ext cx="1874519" cy="2286000"/>
          </a:xfrm>
          <a:prstGeom prst="rect">
            <a:avLst/>
          </a:prstGeom>
          <a:noFill/>
        </p:spPr>
        <p:txBody>
          <a:bodyPr wrap="square">
            <a:spAutoFit/>
          </a:bodyPr>
          <a:lstStyle/>
          <a:p>
            <a:pPr>
              <a:defRPr sz="1300" b="1">
                <a:solidFill>
                  <a:srgbClr val="142B4C"/>
                </a:solidFill>
              </a:defRPr>
            </a:pPr>
            <a:r>
              <a:t>M1: Criticality Engine</a:t>
            </a:r>
          </a:p>
          <a:p>
            <a:pPr>
              <a:spcBef>
                <a:spcPts val="800"/>
              </a:spcBef>
              <a:defRPr sz="1100">
                <a:solidFill>
                  <a:srgbClr val="0F172A"/>
                </a:solidFill>
              </a:defRPr>
            </a:pPr>
            <a:r>
              <a:t>• Ingests cols B–K</a:t>
            </a:r>
            <a:br/>
            <a:r>
              <a:t>• Rubric scoring (0–3)</a:t>
            </a:r>
            <a:br/>
            <a:r>
              <a:t>• Modifier &amp; floor rules</a:t>
            </a:r>
            <a:br/>
            <a:r>
              <a:t>• Tier + Depth output</a:t>
            </a:r>
          </a:p>
        </p:txBody>
      </p:sp>
      <p:sp>
        <p:nvSpPr>
          <p:cNvPr id="13" name="Right Arrow 12"/>
          <p:cNvSpPr/>
          <p:nvPr/>
        </p:nvSpPr>
        <p:spPr>
          <a:xfrm>
            <a:off x="280720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1828800"/>
            <a:ext cx="2057400" cy="2926080"/>
          </a:xfrm>
          <a:prstGeom prst="roundRect">
            <a:avLst/>
          </a:prstGeom>
          <a:solidFill>
            <a:srgbClr val="FFFFFF"/>
          </a:solidFill>
          <a:ln w="2540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1828800"/>
            <a:ext cx="2057400" cy="45720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1874519"/>
            <a:ext cx="2057400" cy="365760"/>
          </a:xfrm>
          <a:prstGeom prst="rect">
            <a:avLst/>
          </a:prstGeom>
          <a:noFill/>
        </p:spPr>
        <p:txBody>
          <a:bodyPr wrap="none">
            <a:spAutoFit/>
          </a:bodyPr>
          <a:lstStyle/>
          <a:p>
            <a:pPr algn="ctr">
              <a:defRPr sz="1200" b="1">
                <a:solidFill>
                  <a:srgbClr val="FFFFFF"/>
                </a:solidFill>
              </a:defRPr>
            </a:pPr>
            <a:r>
              <a:t>Stage 2</a:t>
            </a:r>
          </a:p>
        </p:txBody>
      </p:sp>
      <p:sp>
        <p:nvSpPr>
          <p:cNvPr id="17" name="TextBox 16"/>
          <p:cNvSpPr txBox="1"/>
          <p:nvPr/>
        </p:nvSpPr>
        <p:spPr>
          <a:xfrm>
            <a:off x="3017520" y="2377440"/>
            <a:ext cx="1874519" cy="2286000"/>
          </a:xfrm>
          <a:prstGeom prst="rect">
            <a:avLst/>
          </a:prstGeom>
          <a:noFill/>
        </p:spPr>
        <p:txBody>
          <a:bodyPr wrap="square">
            <a:spAutoFit/>
          </a:bodyPr>
          <a:lstStyle/>
          <a:p>
            <a:pPr>
              <a:defRPr sz="1300" b="1">
                <a:solidFill>
                  <a:srgbClr val="ED6B2D"/>
                </a:solidFill>
              </a:defRPr>
            </a:pPr>
            <a:r>
              <a:t>M2: OSINT Collector</a:t>
            </a:r>
          </a:p>
          <a:p>
            <a:pPr>
              <a:spcBef>
                <a:spcPts val="800"/>
              </a:spcBef>
              <a:defRPr sz="1100">
                <a:solidFill>
                  <a:srgbClr val="0F172A"/>
                </a:solidFill>
              </a:defRPr>
            </a:pPr>
            <a:r>
              <a:t>• Robots.txt parsing</a:t>
            </a:r>
            <a:br/>
            <a:r>
              <a:t>• Trafilatura extraction</a:t>
            </a:r>
            <a:br/>
            <a:r>
              <a:t>• 1.2s rate limiter</a:t>
            </a:r>
            <a:br/>
            <a:r>
              <a:t>• Immutable snapshot cache</a:t>
            </a:r>
          </a:p>
        </p:txBody>
      </p:sp>
      <p:sp>
        <p:nvSpPr>
          <p:cNvPr id="18" name="Right Arrow 17"/>
          <p:cNvSpPr/>
          <p:nvPr/>
        </p:nvSpPr>
        <p:spPr>
          <a:xfrm>
            <a:off x="500176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74519"/>
            <a:ext cx="2057400" cy="365760"/>
          </a:xfrm>
          <a:prstGeom prst="rect">
            <a:avLst/>
          </a:prstGeom>
          <a:noFill/>
        </p:spPr>
        <p:txBody>
          <a:bodyPr wrap="none">
            <a:spAutoFit/>
          </a:bodyPr>
          <a:lstStyle/>
          <a:p>
            <a:pPr algn="ctr">
              <a:defRPr sz="1200" b="1">
                <a:solidFill>
                  <a:srgbClr val="FFFFFF"/>
                </a:solidFill>
              </a:defRPr>
            </a:pPr>
            <a:r>
              <a:t>Stage 3</a:t>
            </a:r>
          </a:p>
        </p:txBody>
      </p:sp>
      <p:sp>
        <p:nvSpPr>
          <p:cNvPr id="22" name="TextBox 21"/>
          <p:cNvSpPr txBox="1"/>
          <p:nvPr/>
        </p:nvSpPr>
        <p:spPr>
          <a:xfrm>
            <a:off x="5212079" y="2377440"/>
            <a:ext cx="1874519" cy="2286000"/>
          </a:xfrm>
          <a:prstGeom prst="rect">
            <a:avLst/>
          </a:prstGeom>
          <a:noFill/>
        </p:spPr>
        <p:txBody>
          <a:bodyPr wrap="square">
            <a:spAutoFit/>
          </a:bodyPr>
          <a:lstStyle/>
          <a:p>
            <a:pPr>
              <a:defRPr sz="1300" b="1">
                <a:solidFill>
                  <a:srgbClr val="142B4C"/>
                </a:solidFill>
              </a:defRPr>
            </a:pPr>
            <a:r>
              <a:t>M3: AI Classifier</a:t>
            </a:r>
          </a:p>
          <a:p>
            <a:pPr>
              <a:spcBef>
                <a:spcPts val="800"/>
              </a:spcBef>
              <a:defRPr sz="1100">
                <a:solidFill>
                  <a:srgbClr val="0F172A"/>
                </a:solidFill>
              </a:defRPr>
            </a:pPr>
            <a:r>
              <a:t>• 25+ regex pre-filters</a:t>
            </a:r>
            <a:br/>
            <a:r>
              <a:t>• Groq LPU inference</a:t>
            </a:r>
            <a:br/>
            <a:r>
              <a:t>• JSON schema output</a:t>
            </a:r>
            <a:br/>
            <a:r>
              <a:t>• Substring Quote Guard</a:t>
            </a:r>
          </a:p>
        </p:txBody>
      </p:sp>
      <p:sp>
        <p:nvSpPr>
          <p:cNvPr id="23" name="Right Arrow 22"/>
          <p:cNvSpPr/>
          <p:nvPr/>
        </p:nvSpPr>
        <p:spPr>
          <a:xfrm>
            <a:off x="7196327"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199" y="1828800"/>
            <a:ext cx="2057400" cy="2926080"/>
          </a:xfrm>
          <a:prstGeom prst="roundRect">
            <a:avLst/>
          </a:prstGeom>
          <a:solidFill>
            <a:srgbClr val="FFFFFF"/>
          </a:solidFill>
          <a:ln w="2540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199" y="1828800"/>
            <a:ext cx="2057400" cy="45720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199" y="1874519"/>
            <a:ext cx="2057400" cy="365760"/>
          </a:xfrm>
          <a:prstGeom prst="rect">
            <a:avLst/>
          </a:prstGeom>
          <a:noFill/>
        </p:spPr>
        <p:txBody>
          <a:bodyPr wrap="none">
            <a:spAutoFit/>
          </a:bodyPr>
          <a:lstStyle/>
          <a:p>
            <a:pPr algn="ctr">
              <a:defRPr sz="1200" b="1">
                <a:solidFill>
                  <a:srgbClr val="FFFFFF"/>
                </a:solidFill>
              </a:defRPr>
            </a:pPr>
            <a:r>
              <a:t>Stage 4</a:t>
            </a:r>
          </a:p>
        </p:txBody>
      </p:sp>
      <p:sp>
        <p:nvSpPr>
          <p:cNvPr id="27" name="TextBox 26"/>
          <p:cNvSpPr txBox="1"/>
          <p:nvPr/>
        </p:nvSpPr>
        <p:spPr>
          <a:xfrm>
            <a:off x="7406640" y="2377440"/>
            <a:ext cx="1874519" cy="2286000"/>
          </a:xfrm>
          <a:prstGeom prst="rect">
            <a:avLst/>
          </a:prstGeom>
          <a:noFill/>
        </p:spPr>
        <p:txBody>
          <a:bodyPr wrap="square">
            <a:spAutoFit/>
          </a:bodyPr>
          <a:lstStyle/>
          <a:p>
            <a:pPr>
              <a:defRPr sz="1300" b="1">
                <a:solidFill>
                  <a:srgbClr val="ED6B2D"/>
                </a:solidFill>
              </a:defRPr>
            </a:pPr>
            <a:r>
              <a:t>M4: Risk Engine</a:t>
            </a:r>
          </a:p>
          <a:p>
            <a:pPr>
              <a:spcBef>
                <a:spcPts val="800"/>
              </a:spcBef>
              <a:defRPr sz="1100">
                <a:solidFill>
                  <a:srgbClr val="0F172A"/>
                </a:solidFill>
              </a:defRPr>
            </a:pPr>
            <a:r>
              <a:t>• Multi-factor score</a:t>
            </a:r>
            <a:br/>
            <a:r>
              <a:t>• Recency decay (0.7x)</a:t>
            </a:r>
            <a:br/>
            <a:r>
              <a:t>• Coverage thresholding</a:t>
            </a:r>
            <a:br/>
            <a:r>
              <a:t>• Verdict &amp; risk mapping</a:t>
            </a:r>
          </a:p>
        </p:txBody>
      </p:sp>
      <p:sp>
        <p:nvSpPr>
          <p:cNvPr id="28" name="Right Arrow 27"/>
          <p:cNvSpPr/>
          <p:nvPr/>
        </p:nvSpPr>
        <p:spPr>
          <a:xfrm>
            <a:off x="939088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0976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976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1874519"/>
            <a:ext cx="2057400" cy="365760"/>
          </a:xfrm>
          <a:prstGeom prst="rect">
            <a:avLst/>
          </a:prstGeom>
          <a:noFill/>
        </p:spPr>
        <p:txBody>
          <a:bodyPr wrap="none">
            <a:spAutoFit/>
          </a:bodyPr>
          <a:lstStyle/>
          <a:p>
            <a:pPr algn="ctr">
              <a:defRPr sz="1200" b="1">
                <a:solidFill>
                  <a:srgbClr val="FFFFFF"/>
                </a:solidFill>
              </a:defRPr>
            </a:pPr>
            <a:r>
              <a:t>Stage 5</a:t>
            </a:r>
          </a:p>
        </p:txBody>
      </p:sp>
      <p:sp>
        <p:nvSpPr>
          <p:cNvPr id="32" name="TextBox 31"/>
          <p:cNvSpPr txBox="1"/>
          <p:nvPr/>
        </p:nvSpPr>
        <p:spPr>
          <a:xfrm>
            <a:off x="9601200" y="2377440"/>
            <a:ext cx="1874519" cy="2286000"/>
          </a:xfrm>
          <a:prstGeom prst="rect">
            <a:avLst/>
          </a:prstGeom>
          <a:noFill/>
        </p:spPr>
        <p:txBody>
          <a:bodyPr wrap="square">
            <a:spAutoFit/>
          </a:bodyPr>
          <a:lstStyle/>
          <a:p>
            <a:pPr>
              <a:defRPr sz="1300" b="1">
                <a:solidFill>
                  <a:srgbClr val="142B4C"/>
                </a:solidFill>
              </a:defRPr>
            </a:pPr>
            <a:r>
              <a:t>M5: Excel &amp; UI</a:t>
            </a:r>
          </a:p>
          <a:p>
            <a:pPr>
              <a:spcBef>
                <a:spcPts val="800"/>
              </a:spcBef>
              <a:defRPr sz="1100">
                <a:solidFill>
                  <a:srgbClr val="0F172A"/>
                </a:solidFill>
              </a:defRPr>
            </a:pPr>
            <a:r>
              <a:t>• Copy-first workbook</a:t>
            </a:r>
            <a:br/>
            <a:r>
              <a:t>• Fill cols L–V only</a:t>
            </a:r>
            <a:br/>
            <a:r>
              <a:t>• Evidence Log sheet</a:t>
            </a:r>
            <a:br/>
            <a:r>
              <a:t>• Streamlit presentation</a:t>
            </a:r>
          </a:p>
        </p:txBody>
      </p:sp>
      <p:sp>
        <p:nvSpPr>
          <p:cNvPr id="33" name="Rounded Rectangle 32"/>
          <p:cNvSpPr/>
          <p:nvPr/>
        </p:nvSpPr>
        <p:spPr>
          <a:xfrm>
            <a:off x="731520" y="493776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 y="4937760"/>
            <a:ext cx="10424159"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074920"/>
            <a:ext cx="10241280" cy="365760"/>
          </a:xfrm>
          <a:prstGeom prst="rect">
            <a:avLst/>
          </a:prstGeom>
          <a:noFill/>
        </p:spPr>
        <p:txBody>
          <a:bodyPr wrap="square">
            <a:spAutoFit/>
          </a:bodyPr>
          <a:lstStyle/>
          <a:p>
            <a:pPr>
              <a:defRPr sz="1500" b="1">
                <a:solidFill>
                  <a:srgbClr val="142B4C"/>
                </a:solidFill>
              </a:defRPr>
            </a:pPr>
            <a:r>
              <a:t>STATE &amp; ARTIFACT STORAGE ARCHITECTURE</a:t>
            </a:r>
          </a:p>
        </p:txBody>
      </p:sp>
      <p:sp>
        <p:nvSpPr>
          <p:cNvPr id="36" name="TextBox 35"/>
          <p:cNvSpPr txBox="1"/>
          <p:nvPr/>
        </p:nvSpPr>
        <p:spPr>
          <a:xfrm>
            <a:off x="960120" y="5349240"/>
            <a:ext cx="10241280" cy="731520"/>
          </a:xfrm>
          <a:prstGeom prst="rect">
            <a:avLst/>
          </a:prstGeom>
          <a:noFill/>
        </p:spPr>
        <p:txBody>
          <a:bodyPr wrap="square">
            <a:spAutoFit/>
          </a:bodyPr>
          <a:lstStyle/>
          <a:p>
            <a:pPr>
              <a:defRPr sz="1100">
                <a:solidFill>
                  <a:srgbClr val="0F172A"/>
                </a:solidFill>
              </a:defRPr>
            </a:pPr>
            <a:r>
              <a:t>• Input: data/Meridian_Vendor_Input.xlsx (Source of Truth, Immutable)  |  config/rubric.yaml  |  config/sources.yaml</a:t>
            </a:r>
            <a:br/>
            <a:r>
              <a:t>• Snapshot Store: cache/&lt;Vendor_ID&gt;/&lt;URL_Hash&gt;.json (Raw HTML, Cleaned Text, Retrieval Date, SHA-256 Content Hash)</a:t>
            </a:r>
            <a:br/>
            <a:r>
              <a:t>• Output Artifacts: data/Meridian_Vendor_Output.xlsx (Preserved B–K, Populated L–V, 132-row Evidence Log)  |  Streamlit UI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2: System Architecture Diagram</a:t>
            </a:r>
          </a:p>
          <a:p>
            <a:pPr>
              <a:spcBef>
                <a:spcPts val="800"/>
              </a:spcBef>
              <a:defRPr sz="1300">
                <a:solidFill>
                  <a:srgbClr val="64748B"/>
                </a:solidFill>
              </a:defRPr>
            </a:pPr>
            <a:r>
              <a:t>Technical Component Interactions, Libraries, and Data Flow Pathways</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2971800" cy="365760"/>
          </a:xfrm>
          <a:prstGeom prst="rect">
            <a:avLst/>
          </a:prstGeom>
          <a:noFill/>
        </p:spPr>
        <p:txBody>
          <a:bodyPr wrap="square">
            <a:spAutoFit/>
          </a:bodyPr>
          <a:lstStyle/>
          <a:p>
            <a:pPr>
              <a:defRPr sz="1500" b="1">
                <a:solidFill>
                  <a:srgbClr val="142B4C"/>
                </a:solidFill>
              </a:defRPr>
            </a:pPr>
            <a:r>
              <a:t>INGESTION &amp; SCRAPING ENGINE</a:t>
            </a:r>
          </a:p>
        </p:txBody>
      </p:sp>
      <p:sp>
        <p:nvSpPr>
          <p:cNvPr id="12" name="TextBox 11"/>
          <p:cNvSpPr txBox="1"/>
          <p:nvPr/>
        </p:nvSpPr>
        <p:spPr>
          <a:xfrm>
            <a:off x="914400" y="2194560"/>
            <a:ext cx="3063240" cy="3749039"/>
          </a:xfrm>
          <a:prstGeom prst="rect">
            <a:avLst/>
          </a:prstGeom>
          <a:noFill/>
        </p:spPr>
        <p:txBody>
          <a:bodyPr wrap="square">
            <a:spAutoFit/>
          </a:bodyPr>
          <a:lstStyle/>
          <a:p>
            <a:pPr>
              <a:spcBef>
                <a:spcPts val="800"/>
              </a:spcBef>
              <a:defRPr sz="1300" b="1">
                <a:solidFill>
                  <a:srgbClr val="142B4C"/>
                </a:solidFill>
              </a:defRPr>
            </a:pPr>
            <a:r>
              <a:t>⚙️ criticality.py</a:t>
            </a:r>
          </a:p>
          <a:p>
            <a:pPr>
              <a:spcBef>
                <a:spcPts val="300"/>
              </a:spcBef>
              <a:defRPr sz="1100">
                <a:solidFill>
                  <a:srgbClr val="0F172A"/>
                </a:solidFill>
              </a:defRPr>
            </a:pPr>
            <a:r>
              <a:t>Parses input via pandas, executes 5 anchored rubric scales, applies floor rules and privileged access modifiers (+1).</a:t>
            </a:r>
          </a:p>
          <a:p>
            <a:pPr>
              <a:spcBef>
                <a:spcPts val="800"/>
              </a:spcBef>
              <a:defRPr sz="1300" b="1">
                <a:solidFill>
                  <a:srgbClr val="142B4C"/>
                </a:solidFill>
              </a:defRPr>
            </a:pPr>
            <a:r>
              <a:t>⚙️ collectors.py</a:t>
            </a:r>
          </a:p>
          <a:p>
            <a:pPr>
              <a:spcBef>
                <a:spcPts val="300"/>
              </a:spcBef>
              <a:defRPr sz="1100">
                <a:solidFill>
                  <a:srgbClr val="0F172A"/>
                </a:solidFill>
              </a:defRPr>
            </a:pPr>
            <a:r>
              <a:t>Manages automated discovery (sitemap.xml / homepage), adheres to RFC 9309 robots.txt rules, enforces 1.2s rate limit.</a:t>
            </a:r>
          </a:p>
          <a:p>
            <a:pPr>
              <a:spcBef>
                <a:spcPts val="800"/>
              </a:spcBef>
              <a:defRPr sz="1300" b="1">
                <a:solidFill>
                  <a:srgbClr val="142B4C"/>
                </a:solidFill>
              </a:defRPr>
            </a:pPr>
            <a:r>
              <a:t>⚙️ trafilatura / bs4</a:t>
            </a:r>
          </a:p>
          <a:p>
            <a:pPr>
              <a:spcBef>
                <a:spcPts val="300"/>
              </a:spcBef>
              <a:defRPr sz="1100">
                <a:solidFill>
                  <a:srgbClr val="0F172A"/>
                </a:solidFill>
              </a:defRPr>
            </a:pPr>
            <a:r>
              <a:t>Strips scripts, styling, and navigation boilerplate. Generates standardized cleaned text for audit indexing.</a:t>
            </a:r>
          </a:p>
        </p:txBody>
      </p:sp>
      <p:sp>
        <p:nvSpPr>
          <p:cNvPr id="13" name="Rounded Rectangle 12"/>
          <p:cNvSpPr/>
          <p:nvPr/>
        </p:nvSpPr>
        <p:spPr>
          <a:xfrm>
            <a:off x="43891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783080"/>
            <a:ext cx="2971800" cy="365760"/>
          </a:xfrm>
          <a:prstGeom prst="rect">
            <a:avLst/>
          </a:prstGeom>
          <a:noFill/>
        </p:spPr>
        <p:txBody>
          <a:bodyPr wrap="square">
            <a:spAutoFit/>
          </a:bodyPr>
          <a:lstStyle/>
          <a:p>
            <a:pPr>
              <a:defRPr sz="1500" b="1">
                <a:solidFill>
                  <a:srgbClr val="ED6B2D"/>
                </a:solidFill>
              </a:defRPr>
            </a:pPr>
            <a:r>
              <a:t>AI CLASSIFIER &amp; QUOTE GUARD</a:t>
            </a:r>
          </a:p>
        </p:txBody>
      </p:sp>
      <p:sp>
        <p:nvSpPr>
          <p:cNvPr id="16" name="TextBox 15"/>
          <p:cNvSpPr txBox="1"/>
          <p:nvPr/>
        </p:nvSpPr>
        <p:spPr>
          <a:xfrm>
            <a:off x="4572000" y="2194560"/>
            <a:ext cx="3063240" cy="3749039"/>
          </a:xfrm>
          <a:prstGeom prst="rect">
            <a:avLst/>
          </a:prstGeom>
          <a:noFill/>
        </p:spPr>
        <p:txBody>
          <a:bodyPr wrap="square">
            <a:spAutoFit/>
          </a:bodyPr>
          <a:lstStyle/>
          <a:p>
            <a:pPr>
              <a:spcBef>
                <a:spcPts val="800"/>
              </a:spcBef>
              <a:defRPr sz="1300" b="1">
                <a:solidFill>
                  <a:srgbClr val="ED6B2D"/>
                </a:solidFill>
              </a:defRPr>
            </a:pPr>
            <a:r>
              <a:t>⚙️ classify.py</a:t>
            </a:r>
          </a:p>
          <a:p>
            <a:pPr>
              <a:spcBef>
                <a:spcPts val="300"/>
              </a:spcBef>
              <a:defRPr sz="1100">
                <a:solidFill>
                  <a:srgbClr val="0F172A"/>
                </a:solidFill>
              </a:defRPr>
            </a:pPr>
            <a:r>
              <a:t>Runs regex pre-filters with 25+ AI keywords to drop non-AI text and conserve computational resources.</a:t>
            </a:r>
          </a:p>
          <a:p>
            <a:pPr>
              <a:spcBef>
                <a:spcPts val="800"/>
              </a:spcBef>
              <a:defRPr sz="1300" b="1">
                <a:solidFill>
                  <a:srgbClr val="ED6B2D"/>
                </a:solidFill>
              </a:defRPr>
            </a:pPr>
            <a:r>
              <a:t>⚙️ Groq LPU API</a:t>
            </a:r>
          </a:p>
          <a:p>
            <a:pPr>
              <a:spcBef>
                <a:spcPts val="300"/>
              </a:spcBef>
              <a:defRPr sz="1100">
                <a:solidFill>
                  <a:srgbClr val="0F172A"/>
                </a:solidFill>
              </a:defRPr>
            </a:pPr>
            <a:r>
              <a:t>Leverages ultra-fast cloud inference (openai/gpt-oss-120b) with strict JSON schema response mode.</a:t>
            </a:r>
          </a:p>
          <a:p>
            <a:pPr>
              <a:spcBef>
                <a:spcPts val="800"/>
              </a:spcBef>
              <a:defRPr sz="1300" b="1">
                <a:solidFill>
                  <a:srgbClr val="ED6B2D"/>
                </a:solidFill>
              </a:defRPr>
            </a:pPr>
            <a:r>
              <a:t>⚙️ verify_quote()</a:t>
            </a:r>
          </a:p>
          <a:p>
            <a:pPr>
              <a:spcBef>
                <a:spcPts val="300"/>
              </a:spcBef>
              <a:defRPr sz="1100">
                <a:solidFill>
                  <a:srgbClr val="0F172A"/>
                </a:solidFill>
              </a:defRPr>
            </a:pPr>
            <a:r>
              <a:t>The Quote Guard: performs whitespace-normalized exact substring check. Any non-verbatim quote is discarded as INVALID_QUOTE.</a:t>
            </a:r>
          </a:p>
        </p:txBody>
      </p:sp>
      <p:sp>
        <p:nvSpPr>
          <p:cNvPr id="17" name="Rounded Rectangle 16"/>
          <p:cNvSpPr/>
          <p:nvPr/>
        </p:nvSpPr>
        <p:spPr>
          <a:xfrm>
            <a:off x="80467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783080"/>
            <a:ext cx="2971800" cy="365760"/>
          </a:xfrm>
          <a:prstGeom prst="rect">
            <a:avLst/>
          </a:prstGeom>
          <a:noFill/>
        </p:spPr>
        <p:txBody>
          <a:bodyPr wrap="square">
            <a:spAutoFit/>
          </a:bodyPr>
          <a:lstStyle/>
          <a:p>
            <a:pPr>
              <a:defRPr sz="1500" b="1">
                <a:solidFill>
                  <a:srgbClr val="142B4C"/>
                </a:solidFill>
              </a:defRPr>
            </a:pPr>
            <a:r>
              <a:t>AGGREGATION &amp; EXPORT ENGINE</a:t>
            </a:r>
          </a:p>
        </p:txBody>
      </p:sp>
      <p:sp>
        <p:nvSpPr>
          <p:cNvPr id="20" name="TextBox 19"/>
          <p:cNvSpPr txBox="1"/>
          <p:nvPr/>
        </p:nvSpPr>
        <p:spPr>
          <a:xfrm>
            <a:off x="8229600" y="2194560"/>
            <a:ext cx="3063240" cy="3749039"/>
          </a:xfrm>
          <a:prstGeom prst="rect">
            <a:avLst/>
          </a:prstGeom>
          <a:noFill/>
        </p:spPr>
        <p:txBody>
          <a:bodyPr wrap="square">
            <a:spAutoFit/>
          </a:bodyPr>
          <a:lstStyle/>
          <a:p>
            <a:pPr>
              <a:spcBef>
                <a:spcPts val="800"/>
              </a:spcBef>
              <a:defRPr sz="1300" b="1">
                <a:solidFill>
                  <a:srgbClr val="142B4C"/>
                </a:solidFill>
              </a:defRPr>
            </a:pPr>
            <a:r>
              <a:t>⚙️ risk_export.py</a:t>
            </a:r>
          </a:p>
          <a:p>
            <a:pPr>
              <a:spcBef>
                <a:spcPts val="300"/>
              </a:spcBef>
              <a:defRPr sz="1100">
                <a:solidFill>
                  <a:srgbClr val="0F172A"/>
                </a:solidFill>
              </a:defRPr>
            </a:pPr>
            <a:r>
              <a:t>Calculates weighted evidence scores, applies 180-day recency discount (0.7x), maps tier &amp; footprint to risk.</a:t>
            </a:r>
          </a:p>
          <a:p>
            <a:pPr>
              <a:spcBef>
                <a:spcPts val="800"/>
              </a:spcBef>
              <a:defRPr sz="1300" b="1">
                <a:solidFill>
                  <a:srgbClr val="142B4C"/>
                </a:solidFill>
              </a:defRPr>
            </a:pPr>
            <a:r>
              <a:t>⚙️ openpyxl writer</a:t>
            </a:r>
          </a:p>
          <a:p>
            <a:pPr>
              <a:spcBef>
                <a:spcPts val="300"/>
              </a:spcBef>
              <a:defRPr sz="1100">
                <a:solidFill>
                  <a:srgbClr val="0F172A"/>
                </a:solidFill>
              </a:defRPr>
            </a:pPr>
            <a:r>
              <a:t>Uses shutil.copy to preserve client workbook formatting; populates columns L–V; appends 132-entry Evidence Log.</a:t>
            </a:r>
          </a:p>
          <a:p>
            <a:pPr>
              <a:spcBef>
                <a:spcPts val="800"/>
              </a:spcBef>
              <a:defRPr sz="1300" b="1">
                <a:solidFill>
                  <a:srgbClr val="142B4C"/>
                </a:solidFill>
              </a:defRPr>
            </a:pPr>
            <a:r>
              <a:t>⚙️ Streamlit UI</a:t>
            </a:r>
          </a:p>
          <a:p>
            <a:pPr>
              <a:spcBef>
                <a:spcPts val="300"/>
              </a:spcBef>
              <a:defRPr sz="1100">
                <a:solidFill>
                  <a:srgbClr val="0F172A"/>
                </a:solidFill>
              </a:defRPr>
            </a:pPr>
            <a:r>
              <a:t>Provides instant Presentation Mode, pre-computed KPI cards, per-vendor deep-dive cards, and one-click download.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3: Source Strategy &amp; Evidentiary Logic</a:t>
            </a:r>
          </a:p>
          <a:p>
            <a:pPr>
              <a:spcBef>
                <a:spcPts val="800"/>
              </a:spcBef>
              <a:defRPr sz="1300">
                <a:solidFill>
                  <a:srgbClr val="64748B"/>
                </a:solidFill>
              </a:defRPr>
            </a:pPr>
            <a:r>
              <a:t>Tiered Reliability Hierarchy, Weighting Formula, and the Quote Guard Guarantee</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53949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5212080" cy="365760"/>
          </a:xfrm>
          <a:prstGeom prst="rect">
            <a:avLst/>
          </a:prstGeom>
          <a:noFill/>
        </p:spPr>
        <p:txBody>
          <a:bodyPr wrap="square">
            <a:spAutoFit/>
          </a:bodyPr>
          <a:lstStyle/>
          <a:p>
            <a:pPr>
              <a:defRPr sz="1500" b="1">
                <a:solidFill>
                  <a:srgbClr val="142B4C"/>
                </a:solidFill>
              </a:defRPr>
            </a:pPr>
            <a:r>
              <a:t>OSINT SOURCE RELIABILITY TIERS</a:t>
            </a:r>
          </a:p>
        </p:txBody>
      </p:sp>
      <p:graphicFrame>
        <p:nvGraphicFramePr>
          <p:cNvPr id="12" name="Table 11"/>
          <p:cNvGraphicFramePr>
            <a:graphicFrameLocks noGrp="1"/>
          </p:cNvGraphicFramePr>
          <p:nvPr/>
        </p:nvGraphicFramePr>
        <p:xfrm>
          <a:off x="914400" y="2194560"/>
          <a:ext cx="5303520" cy="3657600"/>
        </p:xfrm>
        <a:graphic>
          <a:graphicData uri="http://schemas.openxmlformats.org/drawingml/2006/table">
            <a:tbl>
              <a:tblPr firstRow="1" bandRow="1">
                <a:tableStyleId>{5C22544A-7EE6-4342-B048-85BDC9FD1C3A}</a:tableStyleId>
              </a:tblPr>
              <a:tblGrid>
                <a:gridCol w="1005840"/>
                <a:gridCol w="3291840"/>
                <a:gridCol w="1005840"/>
              </a:tblGrid>
              <a:tr h="731520">
                <a:tc>
                  <a:txBody>
                    <a:bodyPr/>
                    <a:lstStyle/>
                    <a:p>
                      <a:pPr>
                        <a:defRPr b="1" sz="1100">
                          <a:solidFill>
                            <a:srgbClr val="FFFFFF"/>
                          </a:solidFill>
                        </a:defRPr>
                      </a:pPr>
                      <a:r>
                        <a:t>Tier</a:t>
                      </a:r>
                    </a:p>
                  </a:txBody>
                  <a:tcPr>
                    <a:solidFill>
                      <a:srgbClr val="142B4C"/>
                    </a:solidFill>
                  </a:tcPr>
                </a:tc>
                <a:tc>
                  <a:txBody>
                    <a:bodyPr/>
                    <a:lstStyle/>
                    <a:p>
                      <a:pPr>
                        <a:defRPr b="1" sz="1100">
                          <a:solidFill>
                            <a:srgbClr val="FFFFFF"/>
                          </a:solidFill>
                        </a:defRPr>
                      </a:pPr>
                      <a:r>
                        <a:t>Source Type &amp; Footprint</a:t>
                      </a:r>
                    </a:p>
                  </a:txBody>
                  <a:tcPr>
                    <a:solidFill>
                      <a:srgbClr val="142B4C"/>
                    </a:solidFill>
                  </a:tcPr>
                </a:tc>
                <a:tc>
                  <a:txBody>
                    <a:bodyPr/>
                    <a:lstStyle/>
                    <a:p>
                      <a:pPr>
                        <a:defRPr b="1" sz="1100">
                          <a:solidFill>
                            <a:srgbClr val="FFFFFF"/>
                          </a:solidFill>
                        </a:defRPr>
                      </a:pPr>
                      <a:r>
                        <a:t>Weight</a:t>
                      </a:r>
                    </a:p>
                  </a:txBody>
                  <a:tcPr>
                    <a:solidFill>
                      <a:srgbClr val="142B4C"/>
                    </a:solidFill>
                  </a:tcPr>
                </a:tc>
              </a:tr>
              <a:tr h="731520">
                <a:tc>
                  <a:txBody>
                    <a:bodyPr/>
                    <a:lstStyle/>
                    <a:p>
                      <a:pPr>
                        <a:defRPr sz="1000">
                          <a:solidFill>
                            <a:srgbClr val="0F172A"/>
                          </a:solidFill>
                        </a:defRPr>
                      </a:pPr>
                      <a:r>
                        <a:t>Tier A</a:t>
                      </a:r>
                    </a:p>
                    <a:p>
                      <a:r>
                        <a:t>(Direct)</a:t>
                      </a:r>
                    </a:p>
                  </a:txBody>
                  <a:tcPr>
                    <a:solidFill>
                      <a:srgbClr val="FFFFFF"/>
                    </a:solidFill>
                  </a:tcPr>
                </a:tc>
                <a:tc>
                  <a:txBody>
                    <a:bodyPr/>
                    <a:lstStyle/>
                    <a:p>
                      <a:pPr>
                        <a:defRPr sz="1000">
                          <a:solidFill>
                            <a:srgbClr val="0F172A"/>
                          </a:solidFill>
                        </a:defRPr>
                      </a:pPr>
                      <a:r>
                        <a:t>Product docs, sub-processor lists, AI policies, official regulatory filings.</a:t>
                      </a:r>
                    </a:p>
                  </a:txBody>
                  <a:tcPr>
                    <a:solidFill>
                      <a:srgbClr val="FFFFFF"/>
                    </a:solidFill>
                  </a:tcPr>
                </a:tc>
                <a:tc>
                  <a:txBody>
                    <a:bodyPr/>
                    <a:lstStyle/>
                    <a:p>
                      <a:pPr>
                        <a:defRPr sz="1000">
                          <a:solidFill>
                            <a:srgbClr val="0F172A"/>
                          </a:solidFill>
                        </a:defRPr>
                      </a:pPr>
                      <a:r>
                        <a:t>4.0x</a:t>
                      </a:r>
                    </a:p>
                    <a:p>
                      <a:r>
                        <a:t>(Highest)</a:t>
                      </a:r>
                    </a:p>
                  </a:txBody>
                  <a:tcPr>
                    <a:solidFill>
                      <a:srgbClr val="FFFFFF"/>
                    </a:solidFill>
                  </a:tcPr>
                </a:tc>
              </a:tr>
              <a:tr h="731520">
                <a:tc>
                  <a:txBody>
                    <a:bodyPr/>
                    <a:lstStyle/>
                    <a:p>
                      <a:pPr>
                        <a:defRPr sz="1000">
                          <a:solidFill>
                            <a:srgbClr val="0F172A"/>
                          </a:solidFill>
                        </a:defRPr>
                      </a:pPr>
                      <a:r>
                        <a:t>Tier B</a:t>
                      </a:r>
                    </a:p>
                    <a:p>
                      <a:r>
                        <a:t>(Corroborating)</a:t>
                      </a:r>
                    </a:p>
                  </a:txBody>
                  <a:tcPr>
                    <a:solidFill>
                      <a:srgbClr val="F1F5F9"/>
                    </a:solidFill>
                  </a:tcPr>
                </a:tc>
                <a:tc>
                  <a:txBody>
                    <a:bodyPr/>
                    <a:lstStyle/>
                    <a:p>
                      <a:pPr>
                        <a:defRPr sz="1000">
                          <a:solidFill>
                            <a:srgbClr val="0F172A"/>
                          </a:solidFill>
                        </a:defRPr>
                      </a:pPr>
                      <a:r>
                        <a:t>Technical job postings, engineering blogs, GitHub repos, developer SDKs.</a:t>
                      </a:r>
                    </a:p>
                  </a:txBody>
                  <a:tcPr>
                    <a:solidFill>
                      <a:srgbClr val="F1F5F9"/>
                    </a:solidFill>
                  </a:tcPr>
                </a:tc>
                <a:tc>
                  <a:txBody>
                    <a:bodyPr/>
                    <a:lstStyle/>
                    <a:p>
                      <a:pPr>
                        <a:defRPr sz="1000">
                          <a:solidFill>
                            <a:srgbClr val="0F172A"/>
                          </a:solidFill>
                        </a:defRPr>
                      </a:pPr>
                      <a:r>
                        <a:t>3.0x</a:t>
                      </a:r>
                    </a:p>
                    <a:p>
                      <a:r>
                        <a:t>(Strong)</a:t>
                      </a:r>
                    </a:p>
                  </a:txBody>
                  <a:tcPr>
                    <a:solidFill>
                      <a:srgbClr val="F1F5F9"/>
                    </a:solidFill>
                  </a:tcPr>
                </a:tc>
              </a:tr>
              <a:tr h="731520">
                <a:tc>
                  <a:txBody>
                    <a:bodyPr/>
                    <a:lstStyle/>
                    <a:p>
                      <a:pPr>
                        <a:defRPr sz="1000">
                          <a:solidFill>
                            <a:srgbClr val="0F172A"/>
                          </a:solidFill>
                        </a:defRPr>
                      </a:pPr>
                      <a:r>
                        <a:t>Tier C</a:t>
                      </a:r>
                    </a:p>
                    <a:p>
                      <a:r>
                        <a:t>(Contextual)</a:t>
                      </a:r>
                    </a:p>
                  </a:txBody>
                  <a:tcPr>
                    <a:solidFill>
                      <a:srgbClr val="FFFFFF"/>
                    </a:solidFill>
                  </a:tcPr>
                </a:tc>
                <a:tc>
                  <a:txBody>
                    <a:bodyPr/>
                    <a:lstStyle/>
                    <a:p>
                      <a:pPr>
                        <a:defRPr sz="1000">
                          <a:solidFill>
                            <a:srgbClr val="0F172A"/>
                          </a:solidFill>
                        </a:defRPr>
                      </a:pPr>
                      <a:r>
                        <a:t>Executive interviews, press releases, partnership announcements.</a:t>
                      </a:r>
                    </a:p>
                  </a:txBody>
                  <a:tcPr>
                    <a:solidFill>
                      <a:srgbClr val="FFFFFF"/>
                    </a:solidFill>
                  </a:tcPr>
                </a:tc>
                <a:tc>
                  <a:txBody>
                    <a:bodyPr/>
                    <a:lstStyle/>
                    <a:p>
                      <a:pPr>
                        <a:defRPr sz="1000">
                          <a:solidFill>
                            <a:srgbClr val="0F172A"/>
                          </a:solidFill>
                        </a:defRPr>
                      </a:pPr>
                      <a:r>
                        <a:t>2.0x</a:t>
                      </a:r>
                    </a:p>
                    <a:p>
                      <a:r>
                        <a:t>(Moderate)</a:t>
                      </a:r>
                    </a:p>
                  </a:txBody>
                  <a:tcPr>
                    <a:solidFill>
                      <a:srgbClr val="FFFFFF"/>
                    </a:solidFill>
                  </a:tcPr>
                </a:tc>
              </a:tr>
              <a:tr h="731520">
                <a:tc>
                  <a:txBody>
                    <a:bodyPr/>
                    <a:lstStyle/>
                    <a:p>
                      <a:pPr>
                        <a:defRPr sz="1000">
                          <a:solidFill>
                            <a:srgbClr val="0F172A"/>
                          </a:solidFill>
                        </a:defRPr>
                      </a:pPr>
                      <a:r>
                        <a:t>Tier D</a:t>
                      </a:r>
                    </a:p>
                    <a:p>
                      <a:r>
                        <a:t>(Noise)</a:t>
                      </a:r>
                    </a:p>
                  </a:txBody>
                  <a:tcPr>
                    <a:solidFill>
                      <a:srgbClr val="F1F5F9"/>
                    </a:solidFill>
                  </a:tcPr>
                </a:tc>
                <a:tc>
                  <a:txBody>
                    <a:bodyPr/>
                    <a:lstStyle/>
                    <a:p>
                      <a:pPr>
                        <a:defRPr sz="1000">
                          <a:solidFill>
                            <a:srgbClr val="0F172A"/>
                          </a:solidFill>
                        </a:defRPr>
                      </a:pPr>
                      <a:r>
                        <a:t>Generic marketing blogs, buzzwords, speculative thought pieces.</a:t>
                      </a:r>
                    </a:p>
                  </a:txBody>
                  <a:tcPr>
                    <a:solidFill>
                      <a:srgbClr val="F1F5F9"/>
                    </a:solidFill>
                  </a:tcPr>
                </a:tc>
                <a:tc>
                  <a:txBody>
                    <a:bodyPr/>
                    <a:lstStyle/>
                    <a:p>
                      <a:pPr>
                        <a:defRPr sz="1000">
                          <a:solidFill>
                            <a:srgbClr val="0F172A"/>
                          </a:solidFill>
                        </a:defRPr>
                      </a:pPr>
                      <a:r>
                        <a:t>1.0x</a:t>
                      </a:r>
                    </a:p>
                    <a:p>
                      <a:r>
                        <a:t>(Filtered)</a:t>
                      </a:r>
                    </a:p>
                  </a:txBody>
                  <a:tcPr>
                    <a:solidFill>
                      <a:srgbClr val="F1F5F9"/>
                    </a:solidFill>
                  </a:tcPr>
                </a:tc>
              </a:tr>
            </a:tbl>
          </a:graphicData>
        </a:graphic>
      </p:graphicFrame>
      <p:sp>
        <p:nvSpPr>
          <p:cNvPr id="13" name="Rounded Rectangle 12"/>
          <p:cNvSpPr/>
          <p:nvPr/>
        </p:nvSpPr>
        <p:spPr>
          <a:xfrm>
            <a:off x="66751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12280" y="1645920"/>
            <a:ext cx="44805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1783080"/>
            <a:ext cx="4297680" cy="365760"/>
          </a:xfrm>
          <a:prstGeom prst="rect">
            <a:avLst/>
          </a:prstGeom>
          <a:noFill/>
        </p:spPr>
        <p:txBody>
          <a:bodyPr wrap="square">
            <a:spAutoFit/>
          </a:bodyPr>
          <a:lstStyle/>
          <a:p>
            <a:pPr>
              <a:defRPr sz="1500" b="1">
                <a:solidFill>
                  <a:srgbClr val="ED6B2D"/>
                </a:solidFill>
              </a:defRPr>
            </a:pPr>
            <a:r>
              <a:t>MATHEMATICAL WEIGHTING &amp; QUOTE GUARD</a:t>
            </a:r>
          </a:p>
        </p:txBody>
      </p:sp>
      <p:sp>
        <p:nvSpPr>
          <p:cNvPr id="16" name="TextBox 15"/>
          <p:cNvSpPr txBox="1"/>
          <p:nvPr/>
        </p:nvSpPr>
        <p:spPr>
          <a:xfrm>
            <a:off x="6903720" y="2148840"/>
            <a:ext cx="4297680" cy="3749039"/>
          </a:xfrm>
          <a:prstGeom prst="rect">
            <a:avLst/>
          </a:prstGeom>
          <a:noFill/>
        </p:spPr>
        <p:txBody>
          <a:bodyPr wrap="square">
            <a:spAutoFit/>
          </a:bodyPr>
          <a:lstStyle/>
          <a:p>
            <a:pPr>
              <a:defRPr sz="1300" b="1">
                <a:solidFill>
                  <a:srgbClr val="ED6B2D"/>
                </a:solidFill>
              </a:defRPr>
            </a:pPr>
            <a:r>
              <a:t>📐 Multi-Factor Weighting Formula:</a:t>
            </a:r>
          </a:p>
          <a:p>
            <a:pPr>
              <a:spcBef>
                <a:spcPts val="600"/>
              </a:spcBef>
              <a:defRPr sz="1100">
                <a:solidFill>
                  <a:srgbClr val="0F172A"/>
                </a:solidFill>
              </a:defRPr>
            </a:pPr>
            <a:r>
              <a:t>Signal Score = Base × Tier × Conf × Linkage × Recency</a:t>
            </a:r>
            <a:br/>
            <a:r>
              <a:t>• Base: CONFIRMED (5) | CORROBORATED (3) | INDICATIVE (2) | MARKETING (0.5)</a:t>
            </a:r>
            <a:br/>
            <a:r>
              <a:t>• Service Linkage: 1.5x if tied to Meridian's product; 0.5x if general</a:t>
            </a:r>
            <a:br/>
            <a:r>
              <a:t>• Recency Discount: 0.7x penalty for signals &gt; 180 days old</a:t>
            </a:r>
          </a:p>
          <a:p>
            <a:pPr>
              <a:spcBef>
                <a:spcPts val="1400"/>
              </a:spcBef>
              <a:defRPr sz="1300" b="1">
                <a:solidFill>
                  <a:srgbClr val="142B4C"/>
                </a:solidFill>
              </a:defRPr>
            </a:pPr>
            <a:r>
              <a:t>🛡️ The Cryptographic Quote Guard:</a:t>
            </a:r>
          </a:p>
          <a:p>
            <a:pPr>
              <a:spcBef>
                <a:spcPts val="600"/>
              </a:spcBef>
              <a:defRPr sz="1100">
                <a:solidFill>
                  <a:srgbClr val="0F172A"/>
                </a:solidFill>
              </a:defRPr>
            </a:pPr>
            <a:r>
              <a:t>1. LLM extracts candidate verbatim quote &amp; claims.</a:t>
            </a:r>
            <a:br/>
            <a:r>
              <a:t>2. Python executes exact substring check against stored snapshot.</a:t>
            </a:r>
            <a:br/>
            <a:r>
              <a:t>3. Whitespace &amp; character encoding normalized.</a:t>
            </a:r>
            <a:br/>
            <a:r>
              <a:t>4. If candidate quote is NOT a 100% exact substring, the claim is rejected as INVALID_QUOTE. Zero hallucinations permitted.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4: Criticality Scoring Rubric</a:t>
            </a:r>
          </a:p>
          <a:p>
            <a:pPr>
              <a:spcBef>
                <a:spcPts val="800"/>
              </a:spcBef>
              <a:defRPr sz="1300">
                <a:solidFill>
                  <a:srgbClr val="64748B"/>
                </a:solidFill>
              </a:defRPr>
            </a:pPr>
            <a:r>
              <a:t>Deterministic 0–3 Scoring Rubric, Floor Rules, and Tier-Driven Depth Policy</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RUBRIC EVALUATION DIMENSIONS (0–3 SCALE)</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800"/>
              </a:spcBef>
              <a:defRPr sz="1100">
                <a:solidFill>
                  <a:srgbClr val="0F172A"/>
                </a:solidFill>
              </a:defRPr>
            </a:pPr>
            <a:r>
              <a:t>▪ Data Sensitivity (0–3): 0 = No data | 1 = Internal business data | 2 = Confidential records | 3 = Full customer master records</a:t>
            </a:r>
          </a:p>
          <a:p>
            <a:pPr>
              <a:spcBef>
                <a:spcPts val="800"/>
              </a:spcBef>
              <a:defRPr sz="1100">
                <a:solidFill>
                  <a:srgbClr val="0F172A"/>
                </a:solidFill>
              </a:defRPr>
            </a:pPr>
            <a:r>
              <a:t>▪ Payment-Flow (0–3): 0 = No involvement | 1 = Reporting/indirect | 2 = Payment file transmission | 3 = Core clearing and settlement rail</a:t>
            </a:r>
          </a:p>
          <a:p>
            <a:pPr>
              <a:spcBef>
                <a:spcPts val="800"/>
              </a:spcBef>
              <a:defRPr sz="1100">
                <a:solidFill>
                  <a:srgbClr val="0F172A"/>
                </a:solidFill>
              </a:defRPr>
            </a:pPr>
            <a:r>
              <a:t>▪ Regulatory Exposure (0–3): 0 = Standard services | 1 = Reporting | 2 = Regulated banking | 3 = Systemically critical payment utility</a:t>
            </a:r>
          </a:p>
          <a:p>
            <a:pPr>
              <a:spcBef>
                <a:spcPts val="800"/>
              </a:spcBef>
              <a:defRPr sz="1100">
                <a:solidFill>
                  <a:srgbClr val="0F172A"/>
                </a:solidFill>
              </a:defRPr>
            </a:pPr>
            <a:r>
              <a:t>▪ Operational Dependency (0–3): 0 = Low | 1 = Moderate | 2 = High | 3 = Critical / Total operational dependence</a:t>
            </a:r>
          </a:p>
          <a:p>
            <a:pPr>
              <a:spcBef>
                <a:spcPts val="800"/>
              </a:spcBef>
              <a:defRPr sz="1100">
                <a:solidFill>
                  <a:srgbClr val="0F172A"/>
                </a:solidFill>
              </a:defRPr>
            </a:pPr>
            <a:r>
              <a:t>▪ Data Volume (0–3): 0 = Not applicable | 1 = &lt; 100k records | 2 = 100k – 5M records | 3 = &gt; 5M records / messages</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FLOOR RULES &amp; TIER-DRIVEN DEPTH POLICY</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800"/>
              </a:spcBef>
              <a:defRPr sz="1100">
                <a:solidFill>
                  <a:srgbClr val="0F172A"/>
                </a:solidFill>
              </a:defRPr>
            </a:pPr>
            <a:r>
              <a:t>▪ Privileged-Access Modifier (+1): If vendor holds production credentials or job scheduling authority without direct customer data (e.g. AutomWorx), apply +1 score modifier.</a:t>
            </a:r>
          </a:p>
          <a:p>
            <a:pPr>
              <a:spcBef>
                <a:spcPts val="800"/>
              </a:spcBef>
              <a:defRPr sz="1100">
                <a:solidFill>
                  <a:srgbClr val="0F172A"/>
                </a:solidFill>
              </a:defRPr>
            </a:pPr>
            <a:r>
              <a:t>▪ Customer Master Floor Rule: Any vendor accessing full customer master data is guaranteed at least a High or Critical rating.</a:t>
            </a:r>
          </a:p>
          <a:p>
            <a:pPr>
              <a:spcBef>
                <a:spcPts val="800"/>
              </a:spcBef>
              <a:defRPr sz="1100">
                <a:solidFill>
                  <a:srgbClr val="0F172A"/>
                </a:solidFill>
              </a:defRPr>
            </a:pPr>
            <a:r>
              <a:t>▪ Critical Depth Policy: Full sweep: product docs, trust center, sub-processor list, AI policy, DPA pages, technical job postings, engineering blog, GitHub, filings.</a:t>
            </a:r>
          </a:p>
          <a:p>
            <a:pPr>
              <a:spcBef>
                <a:spcPts val="800"/>
              </a:spcBef>
              <a:defRPr sz="1100">
                <a:solidFill>
                  <a:srgbClr val="0F172A"/>
                </a:solidFill>
              </a:defRPr>
            </a:pPr>
            <a:r>
              <a:t>▪ High Depth Policy: Product docs, trust center, technical job postings, and regulatory filings.</a:t>
            </a:r>
          </a:p>
          <a:p>
            <a:pPr>
              <a:spcBef>
                <a:spcPts val="800"/>
              </a:spcBef>
              <a:defRPr sz="1100">
                <a:solidFill>
                  <a:srgbClr val="0F172A"/>
                </a:solidFill>
              </a:defRPr>
            </a:pPr>
            <a:r>
              <a:t>▪ Medium Depth Policy: Public website, standard product documentation, and general job listings.</a:t>
            </a:r>
          </a:p>
          <a:p>
            <a:pPr>
              <a:spcBef>
                <a:spcPts val="800"/>
              </a:spcBef>
              <a:defRPr sz="1100">
                <a:solidFill>
                  <a:srgbClr val="0F172A"/>
                </a:solidFill>
              </a:defRPr>
            </a:pPr>
            <a:r>
              <a:t>▪ Low Depth Policy: Trust center and AI-policy check only (efficient resource allocation).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4 (Cont.): Vendor Criticality Scores</a:t>
            </a:r>
          </a:p>
          <a:p>
            <a:pPr>
              <a:spcBef>
                <a:spcPts val="800"/>
              </a:spcBef>
              <a:defRPr sz="1300">
                <a:solidFill>
                  <a:srgbClr val="64748B"/>
                </a:solidFill>
              </a:defRPr>
            </a:pPr>
            <a:r>
              <a:t>Deterministic Scoring Breakdown Across Meridian's 6 Third-Party Vendors</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1005840"/>
                <a:gridCol w="2560320"/>
                <a:gridCol w="1097280"/>
                <a:gridCol w="1280160"/>
                <a:gridCol w="1371600"/>
                <a:gridCol w="3383280"/>
              </a:tblGrid>
              <a:tr h="653142">
                <a:tc>
                  <a:txBody>
                    <a:bodyPr/>
                    <a:lstStyle/>
                    <a:p>
                      <a:pPr>
                        <a:defRPr b="1" sz="1100">
                          <a:solidFill>
                            <a:srgbClr val="FFFFFF"/>
                          </a:solidFill>
                        </a:defRPr>
                      </a:pPr>
                      <a:r>
                        <a:t>Vendor ID</a:t>
                      </a:r>
                    </a:p>
                  </a:txBody>
                  <a:tcPr>
                    <a:solidFill>
                      <a:srgbClr val="142B4C"/>
                    </a:solidFill>
                  </a:tcPr>
                </a:tc>
                <a:tc>
                  <a:txBody>
                    <a:bodyPr/>
                    <a:lstStyle/>
                    <a:p>
                      <a:pPr>
                        <a:defRPr b="1" sz="1100">
                          <a:solidFill>
                            <a:srgbClr val="FFFFFF"/>
                          </a:solidFill>
                        </a:defRPr>
                      </a:pPr>
                      <a:r>
                        <a:t>Vendor Name</a:t>
                      </a:r>
                    </a:p>
                  </a:txBody>
                  <a:tcPr>
                    <a:solidFill>
                      <a:srgbClr val="142B4C"/>
                    </a:solidFill>
                  </a:tcPr>
                </a:tc>
                <a:tc>
                  <a:txBody>
                    <a:bodyPr/>
                    <a:lstStyle/>
                    <a:p>
                      <a:pPr>
                        <a:defRPr b="1" sz="1100">
                          <a:solidFill>
                            <a:srgbClr val="FFFFFF"/>
                          </a:solidFill>
                        </a:defRPr>
                      </a:pPr>
                      <a:r>
                        <a:t>Score</a:t>
                      </a:r>
                    </a:p>
                  </a:txBody>
                  <a:tcPr>
                    <a:solidFill>
                      <a:srgbClr val="142B4C"/>
                    </a:solidFill>
                  </a:tcPr>
                </a:tc>
                <a:tc>
                  <a:txBody>
                    <a:bodyPr/>
                    <a:lstStyle/>
                    <a:p>
                      <a:pPr>
                        <a:defRPr b="1" sz="1100">
                          <a:solidFill>
                            <a:srgbClr val="FFFFFF"/>
                          </a:solidFill>
                        </a:defRPr>
                      </a:pPr>
                      <a:r>
                        <a:t>Assigned Tier</a:t>
                      </a:r>
                    </a:p>
                  </a:txBody>
                  <a:tcPr>
                    <a:solidFill>
                      <a:srgbClr val="142B4C"/>
                    </a:solidFill>
                  </a:tcPr>
                </a:tc>
                <a:tc>
                  <a:txBody>
                    <a:bodyPr/>
                    <a:lstStyle/>
                    <a:p>
                      <a:pPr>
                        <a:defRPr b="1" sz="1100">
                          <a:solidFill>
                            <a:srgbClr val="FFFFFF"/>
                          </a:solidFill>
                        </a:defRPr>
                      </a:pPr>
                      <a:r>
                        <a:t>Dependency</a:t>
                      </a:r>
                    </a:p>
                  </a:txBody>
                  <a:tcPr>
                    <a:solidFill>
                      <a:srgbClr val="142B4C"/>
                    </a:solidFill>
                  </a:tcPr>
                </a:tc>
                <a:tc>
                  <a:txBody>
                    <a:bodyPr/>
                    <a:lstStyle/>
                    <a:p>
                      <a:pPr>
                        <a:defRPr b="1" sz="1100">
                          <a:solidFill>
                            <a:srgbClr val="FFFFFF"/>
                          </a:solidFill>
                        </a:defRPr>
                      </a:pPr>
                      <a:r>
                        <a:t>Criticality Rationale &amp; Applied Depth</a:t>
                      </a:r>
                    </a:p>
                  </a:txBody>
                  <a:tcPr>
                    <a:solidFill>
                      <a:srgbClr val="142B4C"/>
                    </a:solidFill>
                  </a:tcPr>
                </a:tc>
              </a:tr>
              <a:tr h="653142">
                <a:tc>
                  <a:txBody>
                    <a:bodyPr/>
                    <a:lstStyle/>
                    <a:p>
                      <a:pPr>
                        <a:defRPr sz="1000">
                          <a:solidFill>
                            <a:srgbClr val="0F172A"/>
                          </a:solidFill>
                        </a:defRPr>
                      </a:pPr>
                      <a:r>
                        <a:t>V-001</a:t>
                      </a:r>
                    </a:p>
                  </a:txBody>
                  <a:tcPr>
                    <a:solidFill>
                      <a:srgbClr val="FFFFFF"/>
                    </a:solidFill>
                  </a:tcPr>
                </a:tc>
                <a:tc>
                  <a:txBody>
                    <a:bodyPr/>
                    <a:lstStyle/>
                    <a:p>
                      <a:pPr>
                        <a:defRPr sz="1000">
                          <a:solidFill>
                            <a:srgbClr val="0F172A"/>
                          </a:solidFill>
                        </a:defRPr>
                      </a:pPr>
                      <a:r>
                        <a:t>AutomWorx</a:t>
                      </a:r>
                    </a:p>
                  </a:txBody>
                  <a:tcPr>
                    <a:solidFill>
                      <a:srgbClr val="FFFFFF"/>
                    </a:solidFill>
                  </a:tcPr>
                </a:tc>
                <a:tc>
                  <a:txBody>
                    <a:bodyPr/>
                    <a:lstStyle/>
                    <a:p>
                      <a:pPr>
                        <a:defRPr sz="1000">
                          <a:solidFill>
                            <a:srgbClr val="0F172A"/>
                          </a:solidFill>
                        </a:defRPr>
                      </a:pPr>
                      <a:r>
                        <a:t>3</a:t>
                      </a:r>
                    </a:p>
                  </a:txBody>
                  <a:tcPr>
                    <a:solidFill>
                      <a:srgbClr val="FFFFFF"/>
                    </a:solidFill>
                  </a:tcPr>
                </a:tc>
                <a:tc>
                  <a:txBody>
                    <a:bodyPr/>
                    <a:lstStyle/>
                    <a:p>
                      <a:pPr>
                        <a:defRPr sz="1000" b="1">
                          <a:solidFill>
                            <a:srgbClr val="10B981"/>
                          </a:solidFill>
                        </a:defRPr>
                      </a:pPr>
                      <a:r>
                        <a:t>Low</a:t>
                      </a:r>
                    </a:p>
                  </a:txBody>
                  <a:tcPr>
                    <a:solidFill>
                      <a:srgbClr val="FFFFFF"/>
                    </a:solidFill>
                  </a:tcPr>
                </a:tc>
                <a:tc>
                  <a:txBody>
                    <a:bodyPr/>
                    <a:lstStyle/>
                    <a:p>
                      <a:pPr>
                        <a:defRPr sz="1000">
                          <a:solidFill>
                            <a:srgbClr val="0F172A"/>
                          </a:solidFill>
                        </a:defRPr>
                      </a:pPr>
                      <a:r>
                        <a:t>High</a:t>
                      </a:r>
                    </a:p>
                  </a:txBody>
                  <a:tcPr>
                    <a:solidFill>
                      <a:srgbClr val="FFFFFF"/>
                    </a:solidFill>
                  </a:tcPr>
                </a:tc>
                <a:tc>
                  <a:txBody>
                    <a:bodyPr/>
                    <a:lstStyle/>
                    <a:p>
                      <a:pPr>
                        <a:defRPr sz="1000">
                          <a:solidFill>
                            <a:srgbClr val="0F172A"/>
                          </a:solidFill>
                        </a:defRPr>
                      </a:pPr>
                      <a:r>
                        <a:t>Holds production credentials (+1 privileged modifier) but no direct customer data. Depth: Trust center/AI policy only.</a:t>
                      </a:r>
                    </a:p>
                  </a:txBody>
                  <a:tcPr>
                    <a:solidFill>
                      <a:srgbClr val="FFFFFF"/>
                    </a:solidFill>
                  </a:tcPr>
                </a:tc>
              </a:tr>
              <a:tr h="653142">
                <a:tc>
                  <a:txBody>
                    <a:bodyPr/>
                    <a:lstStyle/>
                    <a:p>
                      <a:pPr>
                        <a:defRPr sz="1000">
                          <a:solidFill>
                            <a:srgbClr val="0F172A"/>
                          </a:solidFill>
                        </a:defRPr>
                      </a:pPr>
                      <a:r>
                        <a:t>V-002</a:t>
                      </a:r>
                    </a:p>
                  </a:txBody>
                  <a:tcPr>
                    <a:solidFill>
                      <a:srgbClr val="F1F5F9"/>
                    </a:solidFill>
                  </a:tcPr>
                </a:tc>
                <a:tc>
                  <a:txBody>
                    <a:bodyPr/>
                    <a:lstStyle/>
                    <a:p>
                      <a:pPr>
                        <a:defRPr sz="1000">
                          <a:solidFill>
                            <a:srgbClr val="0F172A"/>
                          </a:solidFill>
                        </a:defRPr>
                      </a:pPr>
                      <a:r>
                        <a:t>Fiserv, Inc.</a:t>
                      </a:r>
                    </a:p>
                  </a:txBody>
                  <a:tcPr>
                    <a:solidFill>
                      <a:srgbClr val="F1F5F9"/>
                    </a:solidFill>
                  </a:tcPr>
                </a:tc>
                <a:tc>
                  <a:txBody>
                    <a:bodyPr/>
                    <a:lstStyle/>
                    <a:p>
                      <a:pPr>
                        <a:defRPr sz="1000">
                          <a:solidFill>
                            <a:srgbClr val="0F172A"/>
                          </a:solidFill>
                        </a:defRPr>
                      </a:pPr>
                      <a:r>
                        <a:t>15</a:t>
                      </a:r>
                    </a:p>
                  </a:txBody>
                  <a:tcPr>
                    <a:solidFill>
                      <a:srgbClr val="F1F5F9"/>
                    </a:solidFill>
                  </a:tcPr>
                </a:tc>
                <a:tc>
                  <a:txBody>
                    <a:bodyPr/>
                    <a:lstStyle/>
                    <a:p>
                      <a:pPr>
                        <a:defRPr sz="1000" b="1">
                          <a:solidFill>
                            <a:srgbClr val="EF4444"/>
                          </a:solidFill>
                        </a:defRPr>
                      </a:pPr>
                      <a:r>
                        <a:t>Critical</a:t>
                      </a:r>
                    </a:p>
                  </a:txBody>
                  <a:tcPr>
                    <a:solidFill>
                      <a:srgbClr val="F1F5F9"/>
                    </a:solidFill>
                  </a:tcPr>
                </a:tc>
                <a:tc>
                  <a:txBody>
                    <a:bodyPr/>
                    <a:lstStyle/>
                    <a:p>
                      <a:pPr>
                        <a:defRPr sz="1000">
                          <a:solidFill>
                            <a:srgbClr val="0F172A"/>
                          </a:solidFill>
                        </a:defRPr>
                      </a:pPr>
                      <a:r>
                        <a:t>Critical</a:t>
                      </a:r>
                    </a:p>
                  </a:txBody>
                  <a:tcPr>
                    <a:solidFill>
                      <a:srgbClr val="F1F5F9"/>
                    </a:solidFill>
                  </a:tcPr>
                </a:tc>
                <a:tc>
                  <a:txBody>
                    <a:bodyPr/>
                    <a:lstStyle/>
                    <a:p>
                      <a:pPr>
                        <a:defRPr sz="1000">
                          <a:solidFill>
                            <a:srgbClr val="0F172A"/>
                          </a:solidFill>
                        </a:defRPr>
                      </a:pPr>
                      <a:r>
                        <a:t>Core banking (DNA) &amp; card platform accessing 1.4M customer master records. Depth: Full sweep (docs, trust, jobs, filings).</a:t>
                      </a:r>
                    </a:p>
                  </a:txBody>
                  <a:tcPr>
                    <a:solidFill>
                      <a:srgbClr val="F1F5F9"/>
                    </a:solidFill>
                  </a:tcPr>
                </a:tc>
              </a:tr>
              <a:tr h="653142">
                <a:tc>
                  <a:txBody>
                    <a:bodyPr/>
                    <a:lstStyle/>
                    <a:p>
                      <a:pPr>
                        <a:defRPr sz="1000">
                          <a:solidFill>
                            <a:srgbClr val="0F172A"/>
                          </a:solidFill>
                        </a:defRPr>
                      </a:pPr>
                      <a:r>
                        <a:t>V-003</a:t>
                      </a:r>
                    </a:p>
                  </a:txBody>
                  <a:tcPr>
                    <a:solidFill>
                      <a:srgbClr val="FFFFFF"/>
                    </a:solidFill>
                  </a:tcPr>
                </a:tc>
                <a:tc>
                  <a:txBody>
                    <a:bodyPr/>
                    <a:lstStyle/>
                    <a:p>
                      <a:pPr>
                        <a:defRPr sz="1000">
                          <a:solidFill>
                            <a:srgbClr val="0F172A"/>
                          </a:solidFill>
                        </a:defRPr>
                      </a:pPr>
                      <a:r>
                        <a:t>FSSI</a:t>
                      </a:r>
                    </a:p>
                  </a:txBody>
                  <a:tcPr>
                    <a:solidFill>
                      <a:srgbClr val="FFFFFF"/>
                    </a:solidFill>
                  </a:tcPr>
                </a:tc>
                <a:tc>
                  <a:txBody>
                    <a:bodyPr/>
                    <a:lstStyle/>
                    <a:p>
                      <a:pPr>
                        <a:defRPr sz="1000">
                          <a:solidFill>
                            <a:srgbClr val="0F172A"/>
                          </a:solidFill>
                        </a:defRPr>
                      </a:pPr>
                      <a:r>
                        <a:t>9</a:t>
                      </a:r>
                    </a:p>
                  </a:txBody>
                  <a:tcPr>
                    <a:solidFill>
                      <a:srgbClr val="FFFFFF"/>
                    </a:solidFill>
                  </a:tcPr>
                </a:tc>
                <a:tc>
                  <a:txBody>
                    <a:bodyPr/>
                    <a:lstStyle/>
                    <a:p>
                      <a:pPr>
                        <a:defRPr sz="1000" b="1">
                          <a:solidFill>
                            <a:srgbClr val="F59E0B"/>
                          </a:solidFill>
                        </a:defRPr>
                      </a:pPr>
                      <a:r>
                        <a:t>High</a:t>
                      </a:r>
                    </a:p>
                  </a:txBody>
                  <a:tcPr>
                    <a:solidFill>
                      <a:srgbClr val="FFFFFF"/>
                    </a:solidFill>
                  </a:tcPr>
                </a:tc>
                <a:tc>
                  <a:txBody>
                    <a:bodyPr/>
                    <a:lstStyle/>
                    <a:p>
                      <a:pPr>
                        <a:defRPr sz="1000">
                          <a:solidFill>
                            <a:srgbClr val="0F172A"/>
                          </a:solidFill>
                        </a:defRPr>
                      </a:pPr>
                      <a:r>
                        <a:t>High</a:t>
                      </a:r>
                    </a:p>
                  </a:txBody>
                  <a:tcPr>
                    <a:solidFill>
                      <a:srgbClr val="FFFFFF"/>
                    </a:solidFill>
                  </a:tcPr>
                </a:tc>
                <a:tc>
                  <a:txBody>
                    <a:bodyPr/>
                    <a:lstStyle/>
                    <a:p>
                      <a:pPr>
                        <a:defRPr sz="1000">
                          <a:solidFill>
                            <a:srgbClr val="0F172A"/>
                          </a:solidFill>
                        </a:defRPr>
                      </a:pPr>
                      <a:r>
                        <a:t>Statement print &amp; e-delivery processing for 850k customer accounts. Depth: Product docs, trust center, jobs, filings.</a:t>
                      </a:r>
                    </a:p>
                  </a:txBody>
                  <a:tcPr>
                    <a:solidFill>
                      <a:srgbClr val="FFFFFF"/>
                    </a:solidFill>
                  </a:tcPr>
                </a:tc>
              </a:tr>
              <a:tr h="653142">
                <a:tc>
                  <a:txBody>
                    <a:bodyPr/>
                    <a:lstStyle/>
                    <a:p>
                      <a:pPr>
                        <a:defRPr sz="1000">
                          <a:solidFill>
                            <a:srgbClr val="0F172A"/>
                          </a:solidFill>
                        </a:defRPr>
                      </a:pPr>
                      <a:r>
                        <a:t>V-004</a:t>
                      </a:r>
                    </a:p>
                  </a:txBody>
                  <a:tcPr>
                    <a:solidFill>
                      <a:srgbClr val="F1F5F9"/>
                    </a:solidFill>
                  </a:tcPr>
                </a:tc>
                <a:tc>
                  <a:txBody>
                    <a:bodyPr/>
                    <a:lstStyle/>
                    <a:p>
                      <a:pPr>
                        <a:defRPr sz="1000">
                          <a:solidFill>
                            <a:srgbClr val="0F172A"/>
                          </a:solidFill>
                        </a:defRPr>
                      </a:pPr>
                      <a:r>
                        <a:t>Terrapin Technologies</a:t>
                      </a:r>
                    </a:p>
                  </a:txBody>
                  <a:tcPr>
                    <a:solidFill>
                      <a:srgbClr val="F1F5F9"/>
                    </a:solidFill>
                  </a:tcPr>
                </a:tc>
                <a:tc>
                  <a:txBody>
                    <a:bodyPr/>
                    <a:lstStyle/>
                    <a:p>
                      <a:pPr>
                        <a:defRPr sz="1000">
                          <a:solidFill>
                            <a:srgbClr val="0F172A"/>
                          </a:solidFill>
                        </a:defRPr>
                      </a:pPr>
                      <a:r>
                        <a:t>6</a:t>
                      </a:r>
                    </a:p>
                  </a:txBody>
                  <a:tcPr>
                    <a:solidFill>
                      <a:srgbClr val="F1F5F9"/>
                    </a:solidFill>
                  </a:tcPr>
                </a:tc>
                <a:tc>
                  <a:txBody>
                    <a:bodyPr/>
                    <a:lstStyle/>
                    <a:p>
                      <a:pPr>
                        <a:defRPr sz="1000" b="1">
                          <a:solidFill>
                            <a:srgbClr val="3B82F6"/>
                          </a:solidFill>
                        </a:defRPr>
                      </a:pPr>
                      <a:r>
                        <a:t>Medium</a:t>
                      </a:r>
                    </a:p>
                  </a:txBody>
                  <a:tcPr>
                    <a:solidFill>
                      <a:srgbClr val="F1F5F9"/>
                    </a:solidFill>
                  </a:tcPr>
                </a:tc>
                <a:tc>
                  <a:txBody>
                    <a:bodyPr/>
                    <a:lstStyle/>
                    <a:p>
                      <a:pPr>
                        <a:defRPr sz="1000">
                          <a:solidFill>
                            <a:srgbClr val="0F172A"/>
                          </a:solidFill>
                        </a:defRPr>
                      </a:pPr>
                      <a:r>
                        <a:t>Moderate</a:t>
                      </a:r>
                    </a:p>
                  </a:txBody>
                  <a:tcPr>
                    <a:solidFill>
                      <a:srgbClr val="F1F5F9"/>
                    </a:solidFill>
                  </a:tcPr>
                </a:tc>
                <a:tc>
                  <a:txBody>
                    <a:bodyPr/>
                    <a:lstStyle/>
                    <a:p>
                      <a:pPr>
                        <a:defRPr sz="1000">
                          <a:solidFill>
                            <a:srgbClr val="0F172A"/>
                          </a:solidFill>
                        </a:defRPr>
                      </a:pPr>
                      <a:r>
                        <a:t>Wealth data solution consolidating 38k advisor accounts &amp; commissions. Depth: Website, docs, and job listings.</a:t>
                      </a:r>
                    </a:p>
                  </a:txBody>
                  <a:tcPr>
                    <a:solidFill>
                      <a:srgbClr val="F1F5F9"/>
                    </a:solidFill>
                  </a:tcPr>
                </a:tc>
              </a:tr>
              <a:tr h="653142">
                <a:tc>
                  <a:txBody>
                    <a:bodyPr/>
                    <a:lstStyle/>
                    <a:p>
                      <a:pPr>
                        <a:defRPr sz="1000">
                          <a:solidFill>
                            <a:srgbClr val="0F172A"/>
                          </a:solidFill>
                        </a:defRPr>
                      </a:pPr>
                      <a:r>
                        <a:t>V-005</a:t>
                      </a:r>
                    </a:p>
                  </a:txBody>
                  <a:tcPr>
                    <a:solidFill>
                      <a:srgbClr val="FFFFFF"/>
                    </a:solidFill>
                  </a:tcPr>
                </a:tc>
                <a:tc>
                  <a:txBody>
                    <a:bodyPr/>
                    <a:lstStyle/>
                    <a:p>
                      <a:pPr>
                        <a:defRPr sz="1000">
                          <a:solidFill>
                            <a:srgbClr val="0F172A"/>
                          </a:solidFill>
                        </a:defRPr>
                      </a:pPr>
                      <a:r>
                        <a:t>BNY</a:t>
                      </a:r>
                    </a:p>
                  </a:txBody>
                  <a:tcPr>
                    <a:solidFill>
                      <a:srgbClr val="FFFFFF"/>
                    </a:solidFill>
                  </a:tcPr>
                </a:tc>
                <a:tc>
                  <a:txBody>
                    <a:bodyPr/>
                    <a:lstStyle/>
                    <a:p>
                      <a:pPr>
                        <a:defRPr sz="1000">
                          <a:solidFill>
                            <a:srgbClr val="0F172A"/>
                          </a:solidFill>
                        </a:defRPr>
                      </a:pPr>
                      <a:r>
                        <a:t>9</a:t>
                      </a:r>
                    </a:p>
                  </a:txBody>
                  <a:tcPr>
                    <a:solidFill>
                      <a:srgbClr val="FFFFFF"/>
                    </a:solidFill>
                  </a:tcPr>
                </a:tc>
                <a:tc>
                  <a:txBody>
                    <a:bodyPr/>
                    <a:lstStyle/>
                    <a:p>
                      <a:pPr>
                        <a:defRPr sz="1000" b="1">
                          <a:solidFill>
                            <a:srgbClr val="F59E0B"/>
                          </a:solidFill>
                        </a:defRPr>
                      </a:pPr>
                      <a:r>
                        <a:t>High</a:t>
                      </a:r>
                    </a:p>
                  </a:txBody>
                  <a:tcPr>
                    <a:solidFill>
                      <a:srgbClr val="FFFFFF"/>
                    </a:solidFill>
                  </a:tcPr>
                </a:tc>
                <a:tc>
                  <a:txBody>
                    <a:bodyPr/>
                    <a:lstStyle/>
                    <a:p>
                      <a:pPr>
                        <a:defRPr sz="1000">
                          <a:solidFill>
                            <a:srgbClr val="0F172A"/>
                          </a:solidFill>
                        </a:defRPr>
                      </a:pPr>
                      <a:r>
                        <a:t>High</a:t>
                      </a:r>
                    </a:p>
                  </a:txBody>
                  <a:tcPr>
                    <a:solidFill>
                      <a:srgbClr val="FFFFFF"/>
                    </a:solidFill>
                  </a:tcPr>
                </a:tc>
                <a:tc>
                  <a:txBody>
                    <a:bodyPr/>
                    <a:lstStyle/>
                    <a:p>
                      <a:pPr>
                        <a:defRPr sz="1000">
                          <a:solidFill>
                            <a:srgbClr val="0F172A"/>
                          </a:solidFill>
                        </a:defRPr>
                      </a:pPr>
                      <a:r>
                        <a:t>RTP transmission services processing 2.1M payment messages. Depth: Product docs, trust center, jobs, filings.</a:t>
                      </a:r>
                    </a:p>
                  </a:txBody>
                  <a:tcPr>
                    <a:solidFill>
                      <a:srgbClr val="FFFFFF"/>
                    </a:solidFill>
                  </a:tcPr>
                </a:tc>
              </a:tr>
              <a:tr h="653148">
                <a:tc>
                  <a:txBody>
                    <a:bodyPr/>
                    <a:lstStyle/>
                    <a:p>
                      <a:pPr>
                        <a:defRPr sz="1000">
                          <a:solidFill>
                            <a:srgbClr val="0F172A"/>
                          </a:solidFill>
                        </a:defRPr>
                      </a:pPr>
                      <a:r>
                        <a:t>V-006</a:t>
                      </a:r>
                    </a:p>
                  </a:txBody>
                  <a:tcPr>
                    <a:solidFill>
                      <a:srgbClr val="F1F5F9"/>
                    </a:solidFill>
                  </a:tcPr>
                </a:tc>
                <a:tc>
                  <a:txBody>
                    <a:bodyPr/>
                    <a:lstStyle/>
                    <a:p>
                      <a:pPr>
                        <a:defRPr sz="1000">
                          <a:solidFill>
                            <a:srgbClr val="0F172A"/>
                          </a:solidFill>
                        </a:defRPr>
                      </a:pPr>
                      <a:r>
                        <a:t>The Clearing House</a:t>
                      </a:r>
                    </a:p>
                  </a:txBody>
                  <a:tcPr>
                    <a:solidFill>
                      <a:srgbClr val="F1F5F9"/>
                    </a:solidFill>
                  </a:tcPr>
                </a:tc>
                <a:tc>
                  <a:txBody>
                    <a:bodyPr/>
                    <a:lstStyle/>
                    <a:p>
                      <a:pPr>
                        <a:defRPr sz="1000">
                          <a:solidFill>
                            <a:srgbClr val="0F172A"/>
                          </a:solidFill>
                        </a:defRPr>
                      </a:pPr>
                      <a:r>
                        <a:t>12</a:t>
                      </a:r>
                    </a:p>
                  </a:txBody>
                  <a:tcPr>
                    <a:solidFill>
                      <a:srgbClr val="F1F5F9"/>
                    </a:solidFill>
                  </a:tcPr>
                </a:tc>
                <a:tc>
                  <a:txBody>
                    <a:bodyPr/>
                    <a:lstStyle/>
                    <a:p>
                      <a:pPr>
                        <a:defRPr sz="1000" b="1">
                          <a:solidFill>
                            <a:srgbClr val="EF4444"/>
                          </a:solidFill>
                        </a:defRPr>
                      </a:pPr>
                      <a:r>
                        <a:t>Critical</a:t>
                      </a:r>
                    </a:p>
                  </a:txBody>
                  <a:tcPr>
                    <a:solidFill>
                      <a:srgbClr val="F1F5F9"/>
                    </a:solidFill>
                  </a:tcPr>
                </a:tc>
                <a:tc>
                  <a:txBody>
                    <a:bodyPr/>
                    <a:lstStyle/>
                    <a:p>
                      <a:pPr>
                        <a:defRPr sz="1000">
                          <a:solidFill>
                            <a:srgbClr val="0F172A"/>
                          </a:solidFill>
                        </a:defRPr>
                      </a:pPr>
                      <a:r>
                        <a:t>Critical</a:t>
                      </a:r>
                    </a:p>
                  </a:txBody>
                  <a:tcPr>
                    <a:solidFill>
                      <a:srgbClr val="F1F5F9"/>
                    </a:solidFill>
                  </a:tcPr>
                </a:tc>
                <a:tc>
                  <a:txBody>
                    <a:bodyPr/>
                    <a:lstStyle/>
                    <a:p>
                      <a:pPr>
                        <a:defRPr sz="1000">
                          <a:solidFill>
                            <a:srgbClr val="0F172A"/>
                          </a:solidFill>
                        </a:defRPr>
                      </a:pPr>
                      <a:r>
                        <a:t>National ACH &amp; RTP settlement clearing 14M payment messages. Depth: Full sweep (operating rules, specs, filings).</a:t>
                      </a:r>
                    </a:p>
                  </a:txBody>
                  <a:tcP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5: Vendor Assessment Findings</a:t>
            </a:r>
          </a:p>
          <a:p>
            <a:pPr>
              <a:spcBef>
                <a:spcPts val="800"/>
              </a:spcBef>
              <a:defRPr sz="1300">
                <a:solidFill>
                  <a:srgbClr val="64748B"/>
                </a:solidFill>
              </a:defRPr>
            </a:pPr>
            <a:r>
              <a:t>Definitive Findings Matrix: Exactly 1 Inconclusive Reflects Methodological Rigor</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914400"/>
                <a:gridCol w="2103120"/>
                <a:gridCol w="1097280"/>
                <a:gridCol w="1097280"/>
                <a:gridCol w="1188720"/>
                <a:gridCol w="4297680"/>
              </a:tblGrid>
              <a:tr h="653142">
                <a:tc>
                  <a:txBody>
                    <a:bodyPr/>
                    <a:lstStyle/>
                    <a:p>
                      <a:pPr>
                        <a:defRPr b="1" sz="1100">
                          <a:solidFill>
                            <a:srgbClr val="FFFFFF"/>
                          </a:solidFill>
                        </a:defRPr>
                      </a:pPr>
                      <a:r>
                        <a:t>VID</a:t>
                      </a:r>
                    </a:p>
                  </a:txBody>
                  <a:tcPr>
                    <a:solidFill>
                      <a:srgbClr val="142B4C"/>
                    </a:solidFill>
                  </a:tcPr>
                </a:tc>
                <a:tc>
                  <a:txBody>
                    <a:bodyPr/>
                    <a:lstStyle/>
                    <a:p>
                      <a:pPr>
                        <a:defRPr b="1" sz="1100">
                          <a:solidFill>
                            <a:srgbClr val="FFFFFF"/>
                          </a:solidFill>
                        </a:defRPr>
                      </a:pPr>
                      <a:r>
                        <a:t>Vendor Name</a:t>
                      </a:r>
                    </a:p>
                  </a:txBody>
                  <a:tcPr>
                    <a:solidFill>
                      <a:srgbClr val="142B4C"/>
                    </a:solidFill>
                  </a:tcPr>
                </a:tc>
                <a:tc>
                  <a:txBody>
                    <a:bodyPr/>
                    <a:lstStyle/>
                    <a:p>
                      <a:pPr>
                        <a:defRPr b="1" sz="1100">
                          <a:solidFill>
                            <a:srgbClr val="FFFFFF"/>
                          </a:solidFill>
                        </a:defRPr>
                      </a:pPr>
                      <a:r>
                        <a:t>Criticality</a:t>
                      </a:r>
                    </a:p>
                  </a:txBody>
                  <a:tcPr>
                    <a:solidFill>
                      <a:srgbClr val="142B4C"/>
                    </a:solidFill>
                  </a:tcPr>
                </a:tc>
                <a:tc>
                  <a:txBody>
                    <a:bodyPr/>
                    <a:lstStyle/>
                    <a:p>
                      <a:pPr>
                        <a:defRPr b="1" sz="1100">
                          <a:solidFill>
                            <a:srgbClr val="FFFFFF"/>
                          </a:solidFill>
                        </a:defRPr>
                      </a:pPr>
                      <a:r>
                        <a:t>AI Usage</a:t>
                      </a:r>
                    </a:p>
                  </a:txBody>
                  <a:tcPr>
                    <a:solidFill>
                      <a:srgbClr val="142B4C"/>
                    </a:solidFill>
                  </a:tcPr>
                </a:tc>
                <a:tc>
                  <a:txBody>
                    <a:bodyPr/>
                    <a:lstStyle/>
                    <a:p>
                      <a:pPr>
                        <a:defRPr b="1" sz="1100">
                          <a:solidFill>
                            <a:srgbClr val="FFFFFF"/>
                          </a:solidFill>
                        </a:defRPr>
                      </a:pPr>
                      <a:r>
                        <a:t>Risk Rating</a:t>
                      </a:r>
                    </a:p>
                  </a:txBody>
                  <a:tcPr>
                    <a:solidFill>
                      <a:srgbClr val="142B4C"/>
                    </a:solidFill>
                  </a:tcPr>
                </a:tc>
                <a:tc>
                  <a:txBody>
                    <a:bodyPr/>
                    <a:lstStyle/>
                    <a:p>
                      <a:pPr>
                        <a:defRPr b="1" sz="1100">
                          <a:solidFill>
                            <a:srgbClr val="FFFFFF"/>
                          </a:solidFill>
                        </a:defRPr>
                      </a:pPr>
                      <a:r>
                        <a:t>Identified Providers &amp; Verified Footprint</a:t>
                      </a:r>
                    </a:p>
                  </a:txBody>
                  <a:tcPr>
                    <a:solidFill>
                      <a:srgbClr val="142B4C"/>
                    </a:solidFill>
                  </a:tcPr>
                </a:tc>
              </a:tr>
              <a:tr h="653142">
                <a:tc>
                  <a:txBody>
                    <a:bodyPr/>
                    <a:lstStyle/>
                    <a:p>
                      <a:pPr>
                        <a:defRPr sz="1000">
                          <a:solidFill>
                            <a:srgbClr val="0F172A"/>
                          </a:solidFill>
                        </a:defRPr>
                      </a:pPr>
                      <a:r>
                        <a:t>V-001</a:t>
                      </a:r>
                    </a:p>
                  </a:txBody>
                  <a:tcPr>
                    <a:solidFill>
                      <a:srgbClr val="FFFFFF"/>
                    </a:solidFill>
                  </a:tcPr>
                </a:tc>
                <a:tc>
                  <a:txBody>
                    <a:bodyPr/>
                    <a:lstStyle/>
                    <a:p>
                      <a:pPr>
                        <a:defRPr sz="1000">
                          <a:solidFill>
                            <a:srgbClr val="0F172A"/>
                          </a:solidFill>
                        </a:defRPr>
                      </a:pPr>
                      <a:r>
                        <a:t>AutomWorx</a:t>
                      </a:r>
                    </a:p>
                  </a:txBody>
                  <a:tcPr>
                    <a:solidFill>
                      <a:srgbClr val="FFFFFF"/>
                    </a:solidFill>
                  </a:tcPr>
                </a:tc>
                <a:tc>
                  <a:txBody>
                    <a:bodyPr/>
                    <a:lstStyle/>
                    <a:p>
                      <a:pPr>
                        <a:defRPr sz="1000">
                          <a:solidFill>
                            <a:srgbClr val="0F172A"/>
                          </a:solidFill>
                        </a:defRPr>
                      </a:pPr>
                      <a:r>
                        <a:t>Low</a:t>
                      </a:r>
                    </a:p>
                  </a:txBody>
                  <a:tcPr>
                    <a:solidFill>
                      <a:srgbClr val="FFFFFF"/>
                    </a:solidFill>
                  </a:tcPr>
                </a:tc>
                <a:tc>
                  <a:txBody>
                    <a:bodyPr/>
                    <a:lstStyle/>
                    <a:p>
                      <a:pPr>
                        <a:defRPr sz="1000" b="1">
                          <a:solidFill>
                            <a:srgbClr val="EF4444"/>
                          </a:solidFill>
                        </a:defRPr>
                      </a:pPr>
                      <a:r>
                        <a:t>Yes</a:t>
                      </a:r>
                    </a:p>
                  </a:txBody>
                  <a:tcPr>
                    <a:solidFill>
                      <a:srgbClr val="FFFFFF"/>
                    </a:solidFill>
                  </a:tcPr>
                </a:tc>
                <a:tc>
                  <a:txBody>
                    <a:bodyPr/>
                    <a:lstStyle/>
                    <a:p>
                      <a:pPr>
                        <a:defRPr sz="1000" b="1">
                          <a:solidFill>
                            <a:srgbClr val="3B82F6"/>
                          </a:solidFill>
                        </a:defRPr>
                      </a:pPr>
                      <a:r>
                        <a:t>Medium</a:t>
                      </a:r>
                    </a:p>
                  </a:txBody>
                  <a:tcPr>
                    <a:solidFill>
                      <a:srgbClr val="FFFFFF"/>
                    </a:solidFill>
                  </a:tcPr>
                </a:tc>
                <a:tc>
                  <a:txBody>
                    <a:bodyPr/>
                    <a:lstStyle/>
                    <a:p>
                      <a:pPr>
                        <a:defRPr sz="1000">
                          <a:solidFill>
                            <a:srgbClr val="0F172A"/>
                          </a:solidFill>
                        </a:defRPr>
                      </a:pPr>
                      <a:r>
                        <a:t>Google (Gemini), OpenAI (ChatGPT). AI policy confirms consultants use commercial LLMs for scripting/work completion.</a:t>
                      </a:r>
                    </a:p>
                  </a:txBody>
                  <a:tcPr>
                    <a:solidFill>
                      <a:srgbClr val="FFFFFF"/>
                    </a:solidFill>
                  </a:tcPr>
                </a:tc>
              </a:tr>
              <a:tr h="653142">
                <a:tc>
                  <a:txBody>
                    <a:bodyPr/>
                    <a:lstStyle/>
                    <a:p>
                      <a:pPr>
                        <a:defRPr sz="1000">
                          <a:solidFill>
                            <a:srgbClr val="0F172A"/>
                          </a:solidFill>
                        </a:defRPr>
                      </a:pPr>
                      <a:r>
                        <a:t>V-002</a:t>
                      </a:r>
                    </a:p>
                  </a:txBody>
                  <a:tcPr>
                    <a:solidFill>
                      <a:srgbClr val="F1F5F9"/>
                    </a:solidFill>
                  </a:tcPr>
                </a:tc>
                <a:tc>
                  <a:txBody>
                    <a:bodyPr/>
                    <a:lstStyle/>
                    <a:p>
                      <a:pPr>
                        <a:defRPr sz="1000">
                          <a:solidFill>
                            <a:srgbClr val="0F172A"/>
                          </a:solidFill>
                        </a:defRPr>
                      </a:pPr>
                      <a:r>
                        <a:t>Fiserv, Inc.</a:t>
                      </a:r>
                    </a:p>
                  </a:txBody>
                  <a:tcPr>
                    <a:solidFill>
                      <a:srgbClr val="F1F5F9"/>
                    </a:solidFill>
                  </a:tcPr>
                </a:tc>
                <a:tc>
                  <a:txBody>
                    <a:bodyPr/>
                    <a:lstStyle/>
                    <a:p>
                      <a:pPr>
                        <a:defRPr sz="1000">
                          <a:solidFill>
                            <a:srgbClr val="0F172A"/>
                          </a:solidFill>
                        </a:defRPr>
                      </a:pPr>
                      <a:r>
                        <a:t>Critical</a:t>
                      </a:r>
                    </a:p>
                  </a:txBody>
                  <a:tcPr>
                    <a:solidFill>
                      <a:srgbClr val="F1F5F9"/>
                    </a:solidFill>
                  </a:tcPr>
                </a:tc>
                <a:tc>
                  <a:txBody>
                    <a:bodyPr/>
                    <a:lstStyle/>
                    <a:p>
                      <a:pPr>
                        <a:defRPr sz="1000" b="1">
                          <a:solidFill>
                            <a:srgbClr val="EF4444"/>
                          </a:solidFill>
                        </a:defRPr>
                      </a:pPr>
                      <a:r>
                        <a:t>Yes</a:t>
                      </a:r>
                    </a:p>
                  </a:txBody>
                  <a:tcPr>
                    <a:solidFill>
                      <a:srgbClr val="F1F5F9"/>
                    </a:solidFill>
                  </a:tcPr>
                </a:tc>
                <a:tc>
                  <a:txBody>
                    <a:bodyPr/>
                    <a:lstStyle/>
                    <a:p>
                      <a:pPr>
                        <a:defRPr sz="1000" b="1">
                          <a:solidFill>
                            <a:srgbClr val="EF4444"/>
                          </a:solidFill>
                        </a:defRPr>
                      </a:pPr>
                      <a:r>
                        <a:t>Critical</a:t>
                      </a:r>
                    </a:p>
                  </a:txBody>
                  <a:tcPr>
                    <a:solidFill>
                      <a:srgbClr val="F1F5F9"/>
                    </a:solidFill>
                  </a:tcPr>
                </a:tc>
                <a:tc>
                  <a:txBody>
                    <a:bodyPr/>
                    <a:lstStyle/>
                    <a:p>
                      <a:pPr>
                        <a:defRPr sz="1000">
                          <a:solidFill>
                            <a:srgbClr val="0F172A"/>
                          </a:solidFill>
                        </a:defRPr>
                      </a:pPr>
                      <a:r>
                        <a:t>Azure OpenAI, Apple (Siri), Amazon (Alexa), Fiserv. 124 signals across AML Risk Manager, predictive analytics, agentic AI.</a:t>
                      </a:r>
                    </a:p>
                  </a:txBody>
                  <a:tcPr>
                    <a:solidFill>
                      <a:srgbClr val="F1F5F9"/>
                    </a:solidFill>
                  </a:tcPr>
                </a:tc>
              </a:tr>
              <a:tr h="653142">
                <a:tc>
                  <a:txBody>
                    <a:bodyPr/>
                    <a:lstStyle/>
                    <a:p>
                      <a:pPr>
                        <a:defRPr sz="1000">
                          <a:solidFill>
                            <a:srgbClr val="0F172A"/>
                          </a:solidFill>
                        </a:defRPr>
                      </a:pPr>
                      <a:r>
                        <a:t>V-003</a:t>
                      </a:r>
                    </a:p>
                  </a:txBody>
                  <a:tcPr>
                    <a:solidFill>
                      <a:srgbClr val="FFFFFF"/>
                    </a:solidFill>
                  </a:tcPr>
                </a:tc>
                <a:tc>
                  <a:txBody>
                    <a:bodyPr/>
                    <a:lstStyle/>
                    <a:p>
                      <a:pPr>
                        <a:defRPr sz="1000">
                          <a:solidFill>
                            <a:srgbClr val="0F172A"/>
                          </a:solidFill>
                        </a:defRPr>
                      </a:pPr>
                      <a:r>
                        <a:t>FSSI</a:t>
                      </a:r>
                    </a:p>
                  </a:txBody>
                  <a:tcPr>
                    <a:solidFill>
                      <a:srgbClr val="FFFFFF"/>
                    </a:solidFill>
                  </a:tcPr>
                </a:tc>
                <a:tc>
                  <a:txBody>
                    <a:bodyPr/>
                    <a:lstStyle/>
                    <a:p>
                      <a:pPr>
                        <a:defRPr sz="1000">
                          <a:solidFill>
                            <a:srgbClr val="0F172A"/>
                          </a:solidFill>
                        </a:defRPr>
                      </a:pPr>
                      <a:r>
                        <a:t>High</a:t>
                      </a:r>
                    </a:p>
                  </a:txBody>
                  <a:tcPr>
                    <a:solidFill>
                      <a:srgbClr val="FFFFFF"/>
                    </a:solidFill>
                  </a:tcPr>
                </a:tc>
                <a:tc>
                  <a:txBody>
                    <a:bodyPr/>
                    <a:lstStyle/>
                    <a:p>
                      <a:pPr>
                        <a:defRPr sz="1000" b="1">
                          <a:solidFill>
                            <a:srgbClr val="10B981"/>
                          </a:solidFill>
                        </a:defRPr>
                      </a:pPr>
                      <a:r>
                        <a:t>No</a:t>
                      </a:r>
                    </a:p>
                  </a:txBody>
                  <a:tcPr>
                    <a:solidFill>
                      <a:srgbClr val="FFFFFF"/>
                    </a:solidFill>
                  </a:tcPr>
                </a:tc>
                <a:tc>
                  <a:txBody>
                    <a:bodyPr/>
                    <a:lstStyle/>
                    <a:p>
                      <a:pPr>
                        <a:defRPr sz="1000" b="1">
                          <a:solidFill>
                            <a:srgbClr val="10B981"/>
                          </a:solidFill>
                        </a:defRPr>
                      </a:pPr>
                      <a:r>
                        <a:t>None ident.</a:t>
                      </a:r>
                    </a:p>
                  </a:txBody>
                  <a:tcPr>
                    <a:solidFill>
                      <a:srgbClr val="FFFFFF"/>
                    </a:solidFill>
                  </a:tcPr>
                </a:tc>
                <a:tc>
                  <a:txBody>
                    <a:bodyPr/>
                    <a:lstStyle/>
                    <a:p>
                      <a:pPr>
                        <a:defRPr sz="1000">
                          <a:solidFill>
                            <a:srgbClr val="0F172A"/>
                          </a:solidFill>
                        </a:defRPr>
                      </a:pPr>
                      <a:r>
                        <a:t>N/A. Thorough OSINT sweep of 14 Tier A/B pages (SOC 2, trust center, print operations). Zero AI claims detected.</a:t>
                      </a:r>
                    </a:p>
                  </a:txBody>
                  <a:tcPr>
                    <a:solidFill>
                      <a:srgbClr val="FFFFFF"/>
                    </a:solidFill>
                  </a:tcPr>
                </a:tc>
              </a:tr>
              <a:tr h="653142">
                <a:tc>
                  <a:txBody>
                    <a:bodyPr/>
                    <a:lstStyle/>
                    <a:p>
                      <a:pPr>
                        <a:defRPr sz="1000">
                          <a:solidFill>
                            <a:srgbClr val="0F172A"/>
                          </a:solidFill>
                        </a:defRPr>
                      </a:pPr>
                      <a:r>
                        <a:t>V-004</a:t>
                      </a:r>
                    </a:p>
                  </a:txBody>
                  <a:tcPr>
                    <a:solidFill>
                      <a:srgbClr val="F1F5F9"/>
                    </a:solidFill>
                  </a:tcPr>
                </a:tc>
                <a:tc>
                  <a:txBody>
                    <a:bodyPr/>
                    <a:lstStyle/>
                    <a:p>
                      <a:pPr>
                        <a:defRPr sz="1000">
                          <a:solidFill>
                            <a:srgbClr val="0F172A"/>
                          </a:solidFill>
                        </a:defRPr>
                      </a:pPr>
                      <a:r>
                        <a:t>Terrapin Tech.</a:t>
                      </a:r>
                    </a:p>
                  </a:txBody>
                  <a:tcPr>
                    <a:solidFill>
                      <a:srgbClr val="F1F5F9"/>
                    </a:solidFill>
                  </a:tcPr>
                </a:tc>
                <a:tc>
                  <a:txBody>
                    <a:bodyPr/>
                    <a:lstStyle/>
                    <a:p>
                      <a:pPr>
                        <a:defRPr sz="1000">
                          <a:solidFill>
                            <a:srgbClr val="0F172A"/>
                          </a:solidFill>
                        </a:defRPr>
                      </a:pPr>
                      <a:r>
                        <a:t>Medium</a:t>
                      </a:r>
                    </a:p>
                  </a:txBody>
                  <a:tcPr>
                    <a:solidFill>
                      <a:srgbClr val="F1F5F9"/>
                    </a:solidFill>
                  </a:tcPr>
                </a:tc>
                <a:tc>
                  <a:txBody>
                    <a:bodyPr/>
                    <a:lstStyle/>
                    <a:p>
                      <a:pPr>
                        <a:defRPr sz="1000" b="1">
                          <a:solidFill>
                            <a:srgbClr val="F59E0B"/>
                          </a:solidFill>
                        </a:defRPr>
                      </a:pPr>
                      <a:r>
                        <a:t>Inconclusive</a:t>
                      </a:r>
                    </a:p>
                  </a:txBody>
                  <a:tcPr>
                    <a:solidFill>
                      <a:srgbClr val="F1F5F9"/>
                    </a:solidFill>
                  </a:tcPr>
                </a:tc>
                <a:tc>
                  <a:txBody>
                    <a:bodyPr/>
                    <a:lstStyle/>
                    <a:p>
                      <a:pPr>
                        <a:defRPr sz="1000" b="1">
                          <a:solidFill>
                            <a:srgbClr val="3B82F6"/>
                          </a:solidFill>
                        </a:defRPr>
                      </a:pPr>
                      <a:r>
                        <a:t>Medium</a:t>
                      </a:r>
                    </a:p>
                  </a:txBody>
                  <a:tcPr>
                    <a:solidFill>
                      <a:srgbClr val="F1F5F9"/>
                    </a:solidFill>
                  </a:tcPr>
                </a:tc>
                <a:tc>
                  <a:txBody>
                    <a:bodyPr/>
                    <a:lstStyle/>
                    <a:p>
                      <a:pPr>
                        <a:defRPr sz="1000">
                          <a:solidFill>
                            <a:srgbClr val="0F172A"/>
                          </a:solidFill>
                        </a:defRPr>
                      </a:pPr>
                      <a:r>
                        <a:t>None named. Minimal web footprint (1 page reachable; API/docs 404). Honest inconclusive requiring targeted questionnaire.</a:t>
                      </a:r>
                    </a:p>
                  </a:txBody>
                  <a:tcPr>
                    <a:solidFill>
                      <a:srgbClr val="F1F5F9"/>
                    </a:solidFill>
                  </a:tcPr>
                </a:tc>
              </a:tr>
              <a:tr h="653142">
                <a:tc>
                  <a:txBody>
                    <a:bodyPr/>
                    <a:lstStyle/>
                    <a:p>
                      <a:pPr>
                        <a:defRPr sz="1000">
                          <a:solidFill>
                            <a:srgbClr val="0F172A"/>
                          </a:solidFill>
                        </a:defRPr>
                      </a:pPr>
                      <a:r>
                        <a:t>V-005</a:t>
                      </a:r>
                    </a:p>
                  </a:txBody>
                  <a:tcPr>
                    <a:solidFill>
                      <a:srgbClr val="FFFFFF"/>
                    </a:solidFill>
                  </a:tcPr>
                </a:tc>
                <a:tc>
                  <a:txBody>
                    <a:bodyPr/>
                    <a:lstStyle/>
                    <a:p>
                      <a:pPr>
                        <a:defRPr sz="1000">
                          <a:solidFill>
                            <a:srgbClr val="0F172A"/>
                          </a:solidFill>
                        </a:defRPr>
                      </a:pPr>
                      <a:r>
                        <a:t>BNY</a:t>
                      </a:r>
                    </a:p>
                  </a:txBody>
                  <a:tcPr>
                    <a:solidFill>
                      <a:srgbClr val="FFFFFF"/>
                    </a:solidFill>
                  </a:tcPr>
                </a:tc>
                <a:tc>
                  <a:txBody>
                    <a:bodyPr/>
                    <a:lstStyle/>
                    <a:p>
                      <a:pPr>
                        <a:defRPr sz="1000">
                          <a:solidFill>
                            <a:srgbClr val="0F172A"/>
                          </a:solidFill>
                        </a:defRPr>
                      </a:pPr>
                      <a:r>
                        <a:t>High</a:t>
                      </a:r>
                    </a:p>
                  </a:txBody>
                  <a:tcPr>
                    <a:solidFill>
                      <a:srgbClr val="FFFFFF"/>
                    </a:solidFill>
                  </a:tcPr>
                </a:tc>
                <a:tc>
                  <a:txBody>
                    <a:bodyPr/>
                    <a:lstStyle/>
                    <a:p>
                      <a:pPr>
                        <a:defRPr sz="1000" b="1">
                          <a:solidFill>
                            <a:srgbClr val="EF4444"/>
                          </a:solidFill>
                        </a:defRPr>
                      </a:pPr>
                      <a:r>
                        <a:t>Yes</a:t>
                      </a:r>
                    </a:p>
                  </a:txBody>
                  <a:tcPr>
                    <a:solidFill>
                      <a:srgbClr val="FFFFFF"/>
                    </a:solidFill>
                  </a:tcPr>
                </a:tc>
                <a:tc>
                  <a:txBody>
                    <a:bodyPr/>
                    <a:lstStyle/>
                    <a:p>
                      <a:pPr>
                        <a:defRPr sz="1000" b="1">
                          <a:solidFill>
                            <a:srgbClr val="F59E0B"/>
                          </a:solidFill>
                        </a:defRPr>
                      </a:pPr>
                      <a:r>
                        <a:t>High</a:t>
                      </a:r>
                    </a:p>
                  </a:txBody>
                  <a:tcPr>
                    <a:solidFill>
                      <a:srgbClr val="FFFFFF"/>
                    </a:solidFill>
                  </a:tcPr>
                </a:tc>
                <a:tc>
                  <a:txBody>
                    <a:bodyPr/>
                    <a:lstStyle/>
                    <a:p>
                      <a:pPr>
                        <a:defRPr sz="1000">
                          <a:solidFill>
                            <a:srgbClr val="0F172A"/>
                          </a:solidFill>
                        </a:defRPr>
                      </a:pPr>
                      <a:r>
                        <a:t>Microsoft, OpenAI, BNY AI Hub. Confirmed AI-powered document processing and workflow optimization in corporate platforms.</a:t>
                      </a:r>
                    </a:p>
                  </a:txBody>
                  <a:tcPr>
                    <a:solidFill>
                      <a:srgbClr val="FFFFFF"/>
                    </a:solidFill>
                  </a:tcPr>
                </a:tc>
              </a:tr>
              <a:tr h="653148">
                <a:tc>
                  <a:txBody>
                    <a:bodyPr/>
                    <a:lstStyle/>
                    <a:p>
                      <a:pPr>
                        <a:defRPr sz="1000">
                          <a:solidFill>
                            <a:srgbClr val="0F172A"/>
                          </a:solidFill>
                        </a:defRPr>
                      </a:pPr>
                      <a:r>
                        <a:t>V-006</a:t>
                      </a:r>
                    </a:p>
                  </a:txBody>
                  <a:tcPr>
                    <a:solidFill>
                      <a:srgbClr val="F1F5F9"/>
                    </a:solidFill>
                  </a:tcPr>
                </a:tc>
                <a:tc>
                  <a:txBody>
                    <a:bodyPr/>
                    <a:lstStyle/>
                    <a:p>
                      <a:pPr>
                        <a:defRPr sz="1000">
                          <a:solidFill>
                            <a:srgbClr val="0F172A"/>
                          </a:solidFill>
                        </a:defRPr>
                      </a:pPr>
                      <a:r>
                        <a:t>The Clearing House</a:t>
                      </a:r>
                    </a:p>
                  </a:txBody>
                  <a:tcPr>
                    <a:solidFill>
                      <a:srgbClr val="F1F5F9"/>
                    </a:solidFill>
                  </a:tcPr>
                </a:tc>
                <a:tc>
                  <a:txBody>
                    <a:bodyPr/>
                    <a:lstStyle/>
                    <a:p>
                      <a:pPr>
                        <a:defRPr sz="1000">
                          <a:solidFill>
                            <a:srgbClr val="0F172A"/>
                          </a:solidFill>
                        </a:defRPr>
                      </a:pPr>
                      <a:r>
                        <a:t>Critical</a:t>
                      </a:r>
                    </a:p>
                  </a:txBody>
                  <a:tcPr>
                    <a:solidFill>
                      <a:srgbClr val="F1F5F9"/>
                    </a:solidFill>
                  </a:tcPr>
                </a:tc>
                <a:tc>
                  <a:txBody>
                    <a:bodyPr/>
                    <a:lstStyle/>
                    <a:p>
                      <a:pPr>
                        <a:defRPr sz="1000" b="1">
                          <a:solidFill>
                            <a:srgbClr val="10B981"/>
                          </a:solidFill>
                        </a:defRPr>
                      </a:pPr>
                      <a:r>
                        <a:t>No</a:t>
                      </a:r>
                    </a:p>
                  </a:txBody>
                  <a:tcPr>
                    <a:solidFill>
                      <a:srgbClr val="F1F5F9"/>
                    </a:solidFill>
                  </a:tcPr>
                </a:tc>
                <a:tc>
                  <a:txBody>
                    <a:bodyPr/>
                    <a:lstStyle/>
                    <a:p>
                      <a:pPr>
                        <a:defRPr sz="1000" b="1">
                          <a:solidFill>
                            <a:srgbClr val="10B981"/>
                          </a:solidFill>
                        </a:defRPr>
                      </a:pPr>
                      <a:r>
                        <a:t>None ident.</a:t>
                      </a:r>
                    </a:p>
                  </a:txBody>
                  <a:tcPr>
                    <a:solidFill>
                      <a:srgbClr val="F1F5F9"/>
                    </a:solidFill>
                  </a:tcPr>
                </a:tc>
                <a:tc>
                  <a:txBody>
                    <a:bodyPr/>
                    <a:lstStyle/>
                    <a:p>
                      <a:pPr>
                        <a:defRPr sz="1000">
                          <a:solidFill>
                            <a:srgbClr val="0F172A"/>
                          </a:solidFill>
                        </a:defRPr>
                      </a:pPr>
                      <a:r>
                        <a:t>N/A. Extensive audit of 1,016 pages of network rules &amp; specs. Core ACH/RTP clearing rail operates deterministically without AI.</a:t>
                      </a:r>
                    </a:p>
                  </a:txBody>
                  <a:tcPr>
                    <a:solidFill>
                      <a:srgbClr val="F1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Surfacing Enterprise Risk &amp; Governance Playbook</a:t>
            </a:r>
          </a:p>
          <a:p>
            <a:pPr>
              <a:spcBef>
                <a:spcPts val="800"/>
              </a:spcBef>
              <a:defRPr sz="1300">
                <a:solidFill>
                  <a:srgbClr val="64748B"/>
                </a:solidFill>
              </a:defRPr>
            </a:pPr>
            <a:r>
              <a:t>Mapping Public AI Footprints to Meridian's Risk Framework &amp; 15/30-Day Action Plans</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FOUR CORE ENTERPRISE AI RISKS</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800"/>
              </a:spcBef>
              <a:defRPr sz="1100">
                <a:solidFill>
                  <a:srgbClr val="0F172A"/>
                </a:solidFill>
              </a:defRPr>
            </a:pPr>
            <a:r>
              <a:t>🚨 1. Sensitive Data Exposure:</a:t>
            </a:r>
            <a:br/>
            <a:r>
              <a:t>Commercial LLMs or unvetted AI pipelines ingesting Meridian customer master data (Fiserv: 1.4M records) or payment instructions (BNY: 2.1M messages).</a:t>
            </a:r>
          </a:p>
          <a:p>
            <a:pPr>
              <a:spcBef>
                <a:spcPts val="800"/>
              </a:spcBef>
              <a:defRPr sz="1100">
                <a:solidFill>
                  <a:srgbClr val="0F172A"/>
                </a:solidFill>
              </a:defRPr>
            </a:pPr>
            <a:r>
              <a:t>🚨 2. Shadow AI Sub-processors:</a:t>
            </a:r>
            <a:br/>
            <a:r>
              <a:t>Reliance on third-party cloud AI vendors (OpenAI, Microsoft Azure) without formal DPA inclusion or sub-processor registry listing.</a:t>
            </a:r>
          </a:p>
          <a:p>
            <a:pPr>
              <a:spcBef>
                <a:spcPts val="800"/>
              </a:spcBef>
              <a:defRPr sz="1100">
                <a:solidFill>
                  <a:srgbClr val="0F172A"/>
                </a:solidFill>
              </a:defRPr>
            </a:pPr>
            <a:r>
              <a:t>🚨 3. Script &amp; Credential Leakage:</a:t>
            </a:r>
            <a:br/>
            <a:r>
              <a:t>Consulting staff (AutomWorx) pasting proprietary job scheduling scripts or production system credentials into public LLMs (ChatGPT, Gemini).</a:t>
            </a:r>
          </a:p>
          <a:p>
            <a:pPr>
              <a:spcBef>
                <a:spcPts val="800"/>
              </a:spcBef>
              <a:defRPr sz="1100">
                <a:solidFill>
                  <a:srgbClr val="0F172A"/>
                </a:solidFill>
              </a:defRPr>
            </a:pPr>
            <a:r>
              <a:t>🚨 4. Contractual &amp; Audit Voids:</a:t>
            </a:r>
            <a:br/>
            <a:r>
              <a:t>Absence of contractual guarantees prohibiting vendor AI models from training on Meridian proprietary data or guaranteeing rights to audit.</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RECOMMENDED GOVERNANCE PLAYBOOK</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800"/>
              </a:spcBef>
              <a:defRPr sz="1100">
                <a:solidFill>
                  <a:srgbClr val="0F172A"/>
                </a:solidFill>
              </a:defRPr>
            </a:pPr>
            <a:r>
              <a:t>✅ Immediate 15-Day Targeted Questionnaires:</a:t>
            </a:r>
            <a:br/>
            <a:r>
              <a:t>Issue specific questionnaires to Fiserv, BNY, and AutomWorx covering: model providers, hosting region, data retention, and training restrictions.</a:t>
            </a:r>
          </a:p>
          <a:p>
            <a:pPr>
              <a:spcBef>
                <a:spcPts val="800"/>
              </a:spcBef>
              <a:defRPr sz="1100">
                <a:solidFill>
                  <a:srgbClr val="0F172A"/>
                </a:solidFill>
              </a:defRPr>
            </a:pPr>
            <a:r>
              <a:t>✅ AI Sub-Processor Inventory Registration:</a:t>
            </a:r>
            <a:br/>
            <a:r>
              <a:t>Formally register named providers (Microsoft, OpenAI, Google) with an unresolved-provider flag pending written confirmation.</a:t>
            </a:r>
          </a:p>
          <a:p>
            <a:pPr>
              <a:spcBef>
                <a:spcPts val="800"/>
              </a:spcBef>
              <a:defRPr sz="1100">
                <a:solidFill>
                  <a:srgbClr val="0F172A"/>
                </a:solidFill>
              </a:defRPr>
            </a:pPr>
            <a:r>
              <a:t>✅ Contractual Remediation Clauses:</a:t>
            </a:r>
            <a:br/>
            <a:r>
              <a:t>Add mandatory clauses at contract review: strict training prohibitions, mandatory 30-day sub-processor change notices, and AI audit rights.</a:t>
            </a:r>
          </a:p>
          <a:p>
            <a:pPr>
              <a:spcBef>
                <a:spcPts val="800"/>
              </a:spcBef>
              <a:defRPr sz="1100">
                <a:solidFill>
                  <a:srgbClr val="0F172A"/>
                </a:solidFill>
              </a:defRPr>
            </a:pPr>
            <a:r>
              <a:t>✅ 30-Day TPRC Escalation Path:</a:t>
            </a:r>
            <a:br/>
            <a:r>
              <a:t>If vendor confirmations are not received within 30 days, escalate to Meridian Third-Party Risk Committee for operational containment.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Working Demonstration &amp; Deliverables Summary</a:t>
            </a:r>
          </a:p>
          <a:p>
            <a:pPr>
              <a:spcBef>
                <a:spcPts val="800"/>
              </a:spcBef>
              <a:defRPr sz="1300">
                <a:solidFill>
                  <a:srgbClr val="64748B"/>
                </a:solidFill>
              </a:defRPr>
            </a:pPr>
            <a:r>
              <a:t>Live Web Demonstration (Instant Presentation Mode) and Completed Audit Deliverables</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ED6B2D"/>
                </a:solidFill>
              </a:defRPr>
            </a:pPr>
            <a:r>
              <a:t>STREAMLIT DEMO: INSTANT PRESENTATION MODE</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800"/>
              </a:spcBef>
              <a:defRPr sz="1100">
                <a:solidFill>
                  <a:srgbClr val="0F172A"/>
                </a:solidFill>
              </a:defRPr>
            </a:pPr>
            <a:r>
              <a:t>💻 Zero Live Latency: Automatically loads pre-computed, cryptographically verified results upon page load (http://localhost:8501). No waiting for web crawls during meetings.</a:t>
            </a:r>
          </a:p>
          <a:p>
            <a:pPr>
              <a:spcBef>
                <a:spcPts val="800"/>
              </a:spcBef>
              <a:defRPr sz="1100">
                <a:solidFill>
                  <a:srgbClr val="0F172A"/>
                </a:solidFill>
              </a:defRPr>
            </a:pPr>
            <a:r>
              <a:t>💻 Executive KPI Banner: Surfaces top metrics at a glance: 6 Assessed, 3 Confirmed AI, 2 Ruled Out, 1 Inconclusive, 1 Critical Risk.</a:t>
            </a:r>
          </a:p>
          <a:p>
            <a:pPr>
              <a:spcBef>
                <a:spcPts val="800"/>
              </a:spcBef>
              <a:defRPr sz="1100">
                <a:solidFill>
                  <a:srgbClr val="0F172A"/>
                </a:solidFill>
              </a:defRPr>
            </a:pPr>
            <a:r>
              <a:t>💻 Per-Vendor Evidence Cards: Expandable deep-dive cards showing exact verbatim quotes, source URLs, retrieval dates, and named model providers.</a:t>
            </a:r>
          </a:p>
          <a:p>
            <a:pPr>
              <a:spcBef>
                <a:spcPts val="800"/>
              </a:spcBef>
              <a:defRPr sz="1100">
                <a:solidFill>
                  <a:srgbClr val="0F172A"/>
                </a:solidFill>
              </a:defRPr>
            </a:pPr>
            <a:r>
              <a:t>💻 Live Execution Drawer: An optional expander allows live crawling and real-time Groq LPU inference on custom uploaded workbooks if requested.</a:t>
            </a:r>
          </a:p>
          <a:p>
            <a:pPr>
              <a:spcBef>
                <a:spcPts val="800"/>
              </a:spcBef>
              <a:defRPr sz="1100">
                <a:solidFill>
                  <a:srgbClr val="0F172A"/>
                </a:solidFill>
              </a:defRPr>
            </a:pPr>
            <a:r>
              <a:t>💻 One-Click Download: Direct download button for the completed Meridian_Vendor_Output.xlsx.</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142B4C"/>
                </a:solidFill>
              </a:defRPr>
            </a:pPr>
            <a:r>
              <a:t>COMPLETED EXCEL WORKBOOK DELIVERABLE</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800"/>
              </a:spcBef>
              <a:defRPr sz="1100">
                <a:solidFill>
                  <a:srgbClr val="0F172A"/>
                </a:solidFill>
              </a:defRPr>
            </a:pPr>
            <a:r>
              <a:t>📑 Columns B–K Integrity: 100% byte-for-byte identical to client input. Verified by automated round-trip tests.</a:t>
            </a:r>
          </a:p>
          <a:p>
            <a:pPr>
              <a:spcBef>
                <a:spcPts val="800"/>
              </a:spcBef>
              <a:defRPr sz="1100">
                <a:solidFill>
                  <a:srgbClr val="0F172A"/>
                </a:solidFill>
              </a:defRPr>
            </a:pPr>
            <a:r>
              <a:t>📑 Example Row (V-000): Retained verbatim as requested in specification. Formats and styling preserved.</a:t>
            </a:r>
          </a:p>
          <a:p>
            <a:pPr>
              <a:spcBef>
                <a:spcPts val="800"/>
              </a:spcBef>
              <a:defRPr sz="1100">
                <a:solidFill>
                  <a:srgbClr val="0F172A"/>
                </a:solidFill>
              </a:defRPr>
            </a:pPr>
            <a:r>
              <a:t>📑 Columns L–V Populated: Criticality Tier, Rationale, Depth, AI Usage, Evidence, How Using, Providers, Risk, Risk Rationale, Recommended Action, Assessed By.</a:t>
            </a:r>
          </a:p>
          <a:p>
            <a:pPr>
              <a:spcBef>
                <a:spcPts val="800"/>
              </a:spcBef>
              <a:defRPr sz="1100">
                <a:solidFill>
                  <a:srgbClr val="0F172A"/>
                </a:solidFill>
              </a:defRPr>
            </a:pPr>
            <a:r>
              <a:t>📑 132-Entry Evidence Log Sheet: New audited sheet detailing Vendor ID, Source Tier, URL, Retrieval Date, Verbatim Excerpt, Signal Tag, and SHA-256 Snapshot Hash.</a:t>
            </a:r>
          </a:p>
          <a:p>
            <a:pPr>
              <a:spcBef>
                <a:spcPts val="800"/>
              </a:spcBef>
              <a:defRPr sz="1100">
                <a:solidFill>
                  <a:srgbClr val="0F172A"/>
                </a:solidFill>
              </a:defRPr>
            </a:pPr>
            <a:r>
              <a:t>📑 Automated Test Suite: 18 unit tests (pytest) verifying criticality determinism, quote guard, weighting logic, and column B–K round-trip integrity.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ED6B2D"/>
                </a:solidFill>
              </a:defRPr>
            </a:pPr>
            <a:r>
              <a:t>CASE STUDY 2  |  CADENCE FINANCIAL GROUP</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FFFFFF"/>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2011680"/>
            <a:ext cx="10698480" cy="2743200"/>
          </a:xfrm>
          <a:prstGeom prst="rect">
            <a:avLst/>
          </a:prstGeom>
          <a:noFill/>
        </p:spPr>
        <p:txBody>
          <a:bodyPr wrap="square">
            <a:spAutoFit/>
          </a:bodyPr>
          <a:lstStyle/>
          <a:p>
            <a:pPr>
              <a:defRPr sz="1800" b="1">
                <a:solidFill>
                  <a:srgbClr val="ED6B2D"/>
                </a:solidFill>
              </a:defRPr>
            </a:pPr>
            <a:r>
              <a:t>SECTION 02</a:t>
            </a:r>
          </a:p>
          <a:p>
            <a:pPr>
              <a:spcBef>
                <a:spcPts val="1000"/>
              </a:spcBef>
              <a:defRPr sz="3800" b="1">
                <a:solidFill>
                  <a:srgbClr val="FFFFFF"/>
                </a:solidFill>
              </a:defRPr>
            </a:pPr>
            <a:r>
              <a:t>Case Study 2: Text Analysis &amp; PII Detection</a:t>
            </a:r>
          </a:p>
          <a:p>
            <a:pPr>
              <a:spcBef>
                <a:spcPts val="1500"/>
              </a:spcBef>
              <a:defRPr sz="1800">
                <a:solidFill>
                  <a:srgbClr val="CBD5E1"/>
                </a:solidFill>
              </a:defRPr>
            </a:pPr>
            <a:r>
              <a:t>Engineering a Privacy-Preserving Pipeline to Extract Text, Classify PII, and Redact Artifacts Pre-LLM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Case Study 2: Context, Policy &amp; Problem Statement</a:t>
            </a:r>
          </a:p>
          <a:p>
            <a:pPr>
              <a:spcBef>
                <a:spcPts val="800"/>
              </a:spcBef>
              <a:defRPr sz="1300">
                <a:solidFill>
                  <a:srgbClr val="64748B"/>
                </a:solidFill>
              </a:defRPr>
            </a:pPr>
            <a:r>
              <a:t>Cadence Financial Group Pre-LLM Data Sanitization Mandate</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CADENCE FINANCIAL PROFILE &amp; MANDATE</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1000"/>
              </a:spcBef>
              <a:defRPr sz="1200">
                <a:solidFill>
                  <a:srgbClr val="0F172A"/>
                </a:solidFill>
              </a:defRPr>
            </a:pPr>
            <a:r>
              <a:t>▪ Client Profile: Cadence Financial Group is a premier global financial institution (investment banking, wealth management, commercial banking) headquartered in New York.</a:t>
            </a:r>
          </a:p>
          <a:p>
            <a:pPr>
              <a:spcBef>
                <a:spcPts val="1000"/>
              </a:spcBef>
              <a:defRPr sz="1200">
                <a:solidFill>
                  <a:srgbClr val="0F172A"/>
                </a:solidFill>
              </a:defRPr>
            </a:pPr>
            <a:r>
              <a:t>▪ The Document Agent: Cadence employees deploy an LLM-powered document analysis agent to interpret operational policy manuals, organizational decks, and risk evidence.</a:t>
            </a:r>
          </a:p>
          <a:p>
            <a:pPr>
              <a:spcBef>
                <a:spcPts val="1000"/>
              </a:spcBef>
              <a:defRPr sz="1200">
                <a:solidFill>
                  <a:srgbClr val="0F172A"/>
                </a:solidFill>
              </a:defRPr>
            </a:pPr>
            <a:r>
              <a:t>▪ Strict Organizational Policy: Under internal compliance policies, Personally Identifiable Information (PII) is strictly restricted from entering AI models.</a:t>
            </a:r>
          </a:p>
          <a:p>
            <a:pPr>
              <a:spcBef>
                <a:spcPts val="1000"/>
              </a:spcBef>
              <a:defRPr sz="1200">
                <a:solidFill>
                  <a:srgbClr val="0F172A"/>
                </a:solidFill>
              </a:defRPr>
            </a:pPr>
            <a:r>
              <a:t>▪ The Operational Need: All submitted documents must be automatically and reliably sanitized of PII prior to passing text to downstream LLM inference.</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TECHNICAL CHALLENGES &amp; EXPECTATIONS</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1000"/>
              </a:spcBef>
              <a:defRPr sz="1200">
                <a:solidFill>
                  <a:srgbClr val="0F172A"/>
                </a:solidFill>
              </a:defRPr>
            </a:pPr>
            <a:r>
              <a:t>▪ Heterogeneous Artifact Formats: Evidence artifacts arrive as scanned PDFs (policy manuals), organizational PowerPoint slides (org charts), and Word documents (training packs).</a:t>
            </a:r>
          </a:p>
          <a:p>
            <a:pPr>
              <a:spcBef>
                <a:spcPts val="1000"/>
              </a:spcBef>
              <a:defRPr sz="1200">
                <a:solidFill>
                  <a:srgbClr val="0F172A"/>
                </a:solidFill>
              </a:defRPr>
            </a:pPr>
            <a:r>
              <a:t>▪ OCR &amp; Image Artifacts: Names, phone numbers, and IDs are frequently trapped inside scanned pages, tables, and rasterized diagram figures.</a:t>
            </a:r>
          </a:p>
          <a:p>
            <a:pPr>
              <a:spcBef>
                <a:spcPts val="1000"/>
              </a:spcBef>
              <a:defRPr sz="1200">
                <a:solidFill>
                  <a:srgbClr val="0F172A"/>
                </a:solidFill>
              </a:defRPr>
            </a:pPr>
            <a:r>
              <a:t>▪ Structural Preservation (&gt;80%): Extracted text must preserve paragraph flow, tables, and preceding/succeeding context so the downstream LLM understands the document.</a:t>
            </a:r>
          </a:p>
          <a:p>
            <a:pPr>
              <a:spcBef>
                <a:spcPts val="1000"/>
              </a:spcBef>
              <a:defRPr sz="1200">
                <a:solidFill>
                  <a:srgbClr val="0F172A"/>
                </a:solidFill>
              </a:defRPr>
            </a:pPr>
            <a:r>
              <a:t>▪ Near-100% PII Coverage: Zero leakage tolerance: PII detection must approach 100% recall while keeping false positives minimal.</a:t>
            </a:r>
          </a:p>
          <a:p>
            <a:pPr>
              <a:spcBef>
                <a:spcPts val="1000"/>
              </a:spcBef>
              <a:defRPr sz="1200">
                <a:solidFill>
                  <a:srgbClr val="0F172A"/>
                </a:solidFill>
              </a:defRPr>
            </a:pPr>
            <a:r>
              <a:t>▪ 100% Local Execution: Pipeline must run entirely locally (Tesseract, spaCy, PyMuPDF) — zero document text can be dispatched to external cloud APIs.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Roles &amp; Responsibilities Framework (Case Study 2)</a:t>
            </a:r>
          </a:p>
          <a:p>
            <a:pPr>
              <a:spcBef>
                <a:spcPts val="800"/>
              </a:spcBef>
              <a:defRPr sz="1300">
                <a:solidFill>
                  <a:srgbClr val="64748B"/>
                </a:solidFill>
              </a:defRPr>
            </a:pPr>
            <a:r>
              <a:t>Three Strategic Pillars: File Structure Analysis, Solution Development &amp; Exposure Surfacing</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2971800" cy="365760"/>
          </a:xfrm>
          <a:prstGeom prst="rect">
            <a:avLst/>
          </a:prstGeom>
          <a:noFill/>
        </p:spPr>
        <p:txBody>
          <a:bodyPr wrap="square">
            <a:spAutoFit/>
          </a:bodyPr>
          <a:lstStyle/>
          <a:p>
            <a:pPr>
              <a:defRPr sz="1500" b="1">
                <a:solidFill>
                  <a:srgbClr val="142B4C"/>
                </a:solidFill>
              </a:defRPr>
            </a:pPr>
            <a:r>
              <a:t>PILLAR 01</a:t>
            </a:r>
          </a:p>
        </p:txBody>
      </p:sp>
      <p:sp>
        <p:nvSpPr>
          <p:cNvPr id="12" name="TextBox 11"/>
          <p:cNvSpPr txBox="1"/>
          <p:nvPr/>
        </p:nvSpPr>
        <p:spPr>
          <a:xfrm>
            <a:off x="914400" y="2194560"/>
            <a:ext cx="3063240" cy="3749039"/>
          </a:xfrm>
          <a:prstGeom prst="rect">
            <a:avLst/>
          </a:prstGeom>
          <a:noFill/>
        </p:spPr>
        <p:txBody>
          <a:bodyPr wrap="square">
            <a:spAutoFit/>
          </a:bodyPr>
          <a:lstStyle/>
          <a:p>
            <a:pPr>
              <a:defRPr sz="1400" b="1">
                <a:solidFill>
                  <a:srgbClr val="142B4C"/>
                </a:solidFill>
              </a:defRPr>
            </a:pPr>
            <a:r>
              <a:t>FILE STRUCTURE ANALYSIS</a:t>
            </a:r>
          </a:p>
          <a:p>
            <a:pPr>
              <a:spcBef>
                <a:spcPts val="1400"/>
              </a:spcBef>
              <a:defRPr sz="1200">
                <a:solidFill>
                  <a:srgbClr val="0F172A"/>
                </a:solidFill>
              </a:defRPr>
            </a:pPr>
            <a:r>
              <a:t>Analyze the structural complexity of Cadence evidence artifacts (PDF, DOCX, PPTX). Determine format-specific parsing strategies, table extractors, and OCR fallback requirements for scanned figures.</a:t>
            </a:r>
          </a:p>
        </p:txBody>
      </p:sp>
      <p:sp>
        <p:nvSpPr>
          <p:cNvPr id="13" name="Rounded Rectangle 12"/>
          <p:cNvSpPr/>
          <p:nvPr/>
        </p:nvSpPr>
        <p:spPr>
          <a:xfrm>
            <a:off x="43891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783080"/>
            <a:ext cx="2971800" cy="365760"/>
          </a:xfrm>
          <a:prstGeom prst="rect">
            <a:avLst/>
          </a:prstGeom>
          <a:noFill/>
        </p:spPr>
        <p:txBody>
          <a:bodyPr wrap="square">
            <a:spAutoFit/>
          </a:bodyPr>
          <a:lstStyle/>
          <a:p>
            <a:pPr>
              <a:defRPr sz="1500" b="1">
                <a:solidFill>
                  <a:srgbClr val="ED6B2D"/>
                </a:solidFill>
              </a:defRPr>
            </a:pPr>
            <a:r>
              <a:t>PILLAR 02</a:t>
            </a:r>
          </a:p>
        </p:txBody>
      </p:sp>
      <p:sp>
        <p:nvSpPr>
          <p:cNvPr id="16" name="TextBox 15"/>
          <p:cNvSpPr txBox="1"/>
          <p:nvPr/>
        </p:nvSpPr>
        <p:spPr>
          <a:xfrm>
            <a:off x="4572000" y="2194560"/>
            <a:ext cx="3063240" cy="3749039"/>
          </a:xfrm>
          <a:prstGeom prst="rect">
            <a:avLst/>
          </a:prstGeom>
          <a:noFill/>
        </p:spPr>
        <p:txBody>
          <a:bodyPr wrap="square">
            <a:spAutoFit/>
          </a:bodyPr>
          <a:lstStyle/>
          <a:p>
            <a:pPr>
              <a:defRPr sz="1400" b="1">
                <a:solidFill>
                  <a:srgbClr val="ED6B2D"/>
                </a:solidFill>
              </a:defRPr>
            </a:pPr>
            <a:r>
              <a:t>DEVELOP DETECTION SOLUTION</a:t>
            </a:r>
          </a:p>
          <a:p>
            <a:pPr>
              <a:spcBef>
                <a:spcPts val="1400"/>
              </a:spcBef>
              <a:defRPr sz="1200">
                <a:solidFill>
                  <a:srgbClr val="0F172A"/>
                </a:solidFill>
              </a:defRPr>
            </a:pPr>
            <a:r>
              <a:t>Build a privacy-preserving extraction and detection pipeline. Combine high-precision regex detectors with contextual spaCy NER (en_core_web_lg), noise repair, and pixel-level document redaction.</a:t>
            </a:r>
          </a:p>
        </p:txBody>
      </p:sp>
      <p:sp>
        <p:nvSpPr>
          <p:cNvPr id="17" name="Rounded Rectangle 16"/>
          <p:cNvSpPr/>
          <p:nvPr/>
        </p:nvSpPr>
        <p:spPr>
          <a:xfrm>
            <a:off x="80467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783080"/>
            <a:ext cx="2971800" cy="365760"/>
          </a:xfrm>
          <a:prstGeom prst="rect">
            <a:avLst/>
          </a:prstGeom>
          <a:noFill/>
        </p:spPr>
        <p:txBody>
          <a:bodyPr wrap="square">
            <a:spAutoFit/>
          </a:bodyPr>
          <a:lstStyle/>
          <a:p>
            <a:pPr>
              <a:defRPr sz="1500" b="1">
                <a:solidFill>
                  <a:srgbClr val="142B4C"/>
                </a:solidFill>
              </a:defRPr>
            </a:pPr>
            <a:r>
              <a:t>PILLAR 03</a:t>
            </a:r>
          </a:p>
        </p:txBody>
      </p:sp>
      <p:sp>
        <p:nvSpPr>
          <p:cNvPr id="20" name="TextBox 19"/>
          <p:cNvSpPr txBox="1"/>
          <p:nvPr/>
        </p:nvSpPr>
        <p:spPr>
          <a:xfrm>
            <a:off x="8229600" y="2194560"/>
            <a:ext cx="3063240" cy="3749039"/>
          </a:xfrm>
          <a:prstGeom prst="rect">
            <a:avLst/>
          </a:prstGeom>
          <a:noFill/>
        </p:spPr>
        <p:txBody>
          <a:bodyPr wrap="square">
            <a:spAutoFit/>
          </a:bodyPr>
          <a:lstStyle/>
          <a:p>
            <a:pPr>
              <a:defRPr sz="1400" b="1">
                <a:solidFill>
                  <a:srgbClr val="142B4C"/>
                </a:solidFill>
              </a:defRPr>
            </a:pPr>
            <a:r>
              <a:t>SURFACE PII EXPOSURE</a:t>
            </a:r>
          </a:p>
          <a:p>
            <a:pPr>
              <a:spcBef>
                <a:spcPts val="1400"/>
              </a:spcBef>
              <a:defRPr sz="1200">
                <a:solidFill>
                  <a:srgbClr val="0F172A"/>
                </a:solidFill>
              </a:defRPr>
            </a:pPr>
            <a:r>
              <a:t>Quantify and classify personal data exposure (employee names, direct phone lines, emails, government IDs, bank details). Generate reversible audit token vaults and structured sanitization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Outcomes 1 &amp; 2: Solution Architecture</a:t>
            </a:r>
          </a:p>
          <a:p>
            <a:pPr>
              <a:spcBef>
                <a:spcPts val="800"/>
              </a:spcBef>
              <a:defRPr sz="1300">
                <a:solidFill>
                  <a:srgbClr val="64748B"/>
                </a:solidFill>
              </a:defRPr>
            </a:pPr>
            <a:r>
              <a:t>Local Pipeline Data Flow: Ingestion → Multi-Format Extraction → Hybrid NLP → Token Vault → Redaction</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19"/>
            <a:ext cx="2057400" cy="365760"/>
          </a:xfrm>
          <a:prstGeom prst="rect">
            <a:avLst/>
          </a:prstGeom>
          <a:noFill/>
        </p:spPr>
        <p:txBody>
          <a:bodyPr wrap="none">
            <a:spAutoFit/>
          </a:bodyPr>
          <a:lstStyle/>
          <a:p>
            <a:pPr algn="ctr">
              <a:defRPr sz="1200" b="1">
                <a:solidFill>
                  <a:srgbClr val="FFFFFF"/>
                </a:solidFill>
              </a:defRPr>
            </a:pPr>
            <a:r>
              <a:t>Module 1</a:t>
            </a:r>
          </a:p>
        </p:txBody>
      </p:sp>
      <p:sp>
        <p:nvSpPr>
          <p:cNvPr id="12" name="TextBox 11"/>
          <p:cNvSpPr txBox="1"/>
          <p:nvPr/>
        </p:nvSpPr>
        <p:spPr>
          <a:xfrm>
            <a:off x="822960" y="2377440"/>
            <a:ext cx="1874519" cy="2286000"/>
          </a:xfrm>
          <a:prstGeom prst="rect">
            <a:avLst/>
          </a:prstGeom>
          <a:noFill/>
        </p:spPr>
        <p:txBody>
          <a:bodyPr wrap="square">
            <a:spAutoFit/>
          </a:bodyPr>
          <a:lstStyle/>
          <a:p>
            <a:pPr>
              <a:defRPr sz="1300" b="1">
                <a:solidFill>
                  <a:srgbClr val="142B4C"/>
                </a:solidFill>
              </a:defRPr>
            </a:pPr>
            <a:r>
              <a:t>Stage 1: File Ingestion</a:t>
            </a:r>
          </a:p>
          <a:p>
            <a:pPr>
              <a:spcBef>
                <a:spcPts val="800"/>
              </a:spcBef>
              <a:defRPr sz="1100">
                <a:solidFill>
                  <a:srgbClr val="0F172A"/>
                </a:solidFill>
              </a:defRPr>
            </a:pPr>
            <a:r>
              <a:t>• PDF, DOCX, PPTX artifacts</a:t>
            </a:r>
            <a:br/>
            <a:r>
              <a:t>• MIME-type verification</a:t>
            </a:r>
            <a:br/>
            <a:r>
              <a:t>• Metadata extraction</a:t>
            </a:r>
            <a:br/>
            <a:r>
              <a:t>• Structural layout analysis</a:t>
            </a:r>
          </a:p>
        </p:txBody>
      </p:sp>
      <p:sp>
        <p:nvSpPr>
          <p:cNvPr id="13" name="Right Arrow 12"/>
          <p:cNvSpPr/>
          <p:nvPr/>
        </p:nvSpPr>
        <p:spPr>
          <a:xfrm>
            <a:off x="280720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1828800"/>
            <a:ext cx="2057400" cy="2926080"/>
          </a:xfrm>
          <a:prstGeom prst="roundRect">
            <a:avLst/>
          </a:prstGeom>
          <a:solidFill>
            <a:srgbClr val="FFFFFF"/>
          </a:solidFill>
          <a:ln w="2540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1828800"/>
            <a:ext cx="2057400" cy="45720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1874519"/>
            <a:ext cx="2057400" cy="365760"/>
          </a:xfrm>
          <a:prstGeom prst="rect">
            <a:avLst/>
          </a:prstGeom>
          <a:noFill/>
        </p:spPr>
        <p:txBody>
          <a:bodyPr wrap="none">
            <a:spAutoFit/>
          </a:bodyPr>
          <a:lstStyle/>
          <a:p>
            <a:pPr algn="ctr">
              <a:defRPr sz="1200" b="1">
                <a:solidFill>
                  <a:srgbClr val="FFFFFF"/>
                </a:solidFill>
              </a:defRPr>
            </a:pPr>
            <a:r>
              <a:t>Module 2</a:t>
            </a:r>
          </a:p>
        </p:txBody>
      </p:sp>
      <p:sp>
        <p:nvSpPr>
          <p:cNvPr id="17" name="TextBox 16"/>
          <p:cNvSpPr txBox="1"/>
          <p:nvPr/>
        </p:nvSpPr>
        <p:spPr>
          <a:xfrm>
            <a:off x="3017520" y="2377440"/>
            <a:ext cx="1874519" cy="2286000"/>
          </a:xfrm>
          <a:prstGeom prst="rect">
            <a:avLst/>
          </a:prstGeom>
          <a:noFill/>
        </p:spPr>
        <p:txBody>
          <a:bodyPr wrap="square">
            <a:spAutoFit/>
          </a:bodyPr>
          <a:lstStyle/>
          <a:p>
            <a:pPr>
              <a:defRPr sz="1300" b="1">
                <a:solidFill>
                  <a:srgbClr val="ED6B2D"/>
                </a:solidFill>
              </a:defRPr>
            </a:pPr>
            <a:r>
              <a:t>Stage 2: Multi-Extract</a:t>
            </a:r>
          </a:p>
          <a:p>
            <a:pPr>
              <a:spcBef>
                <a:spcPts val="800"/>
              </a:spcBef>
              <a:defRPr sz="1100">
                <a:solidFill>
                  <a:srgbClr val="0F172A"/>
                </a:solidFill>
              </a:defRPr>
            </a:pPr>
            <a:r>
              <a:t>• PyMuPDF / pdfplumber</a:t>
            </a:r>
            <a:br/>
            <a:r>
              <a:t>• python-docx &amp; python-pptx</a:t>
            </a:r>
            <a:br/>
            <a:r>
              <a:t>• Tesseract OCR engine</a:t>
            </a:r>
            <a:br/>
            <a:r>
              <a:t>• Bounding box tracking</a:t>
            </a:r>
          </a:p>
        </p:txBody>
      </p:sp>
      <p:sp>
        <p:nvSpPr>
          <p:cNvPr id="18" name="Right Arrow 17"/>
          <p:cNvSpPr/>
          <p:nvPr/>
        </p:nvSpPr>
        <p:spPr>
          <a:xfrm>
            <a:off x="500176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74519"/>
            <a:ext cx="2057400" cy="365760"/>
          </a:xfrm>
          <a:prstGeom prst="rect">
            <a:avLst/>
          </a:prstGeom>
          <a:noFill/>
        </p:spPr>
        <p:txBody>
          <a:bodyPr wrap="none">
            <a:spAutoFit/>
          </a:bodyPr>
          <a:lstStyle/>
          <a:p>
            <a:pPr algn="ctr">
              <a:defRPr sz="1200" b="1">
                <a:solidFill>
                  <a:srgbClr val="FFFFFF"/>
                </a:solidFill>
              </a:defRPr>
            </a:pPr>
            <a:r>
              <a:t>Module 3</a:t>
            </a:r>
          </a:p>
        </p:txBody>
      </p:sp>
      <p:sp>
        <p:nvSpPr>
          <p:cNvPr id="22" name="TextBox 21"/>
          <p:cNvSpPr txBox="1"/>
          <p:nvPr/>
        </p:nvSpPr>
        <p:spPr>
          <a:xfrm>
            <a:off x="5212079" y="2377440"/>
            <a:ext cx="1874519" cy="2286000"/>
          </a:xfrm>
          <a:prstGeom prst="rect">
            <a:avLst/>
          </a:prstGeom>
          <a:noFill/>
        </p:spPr>
        <p:txBody>
          <a:bodyPr wrap="square">
            <a:spAutoFit/>
          </a:bodyPr>
          <a:lstStyle/>
          <a:p>
            <a:pPr>
              <a:defRPr sz="1300" b="1">
                <a:solidFill>
                  <a:srgbClr val="142B4C"/>
                </a:solidFill>
              </a:defRPr>
            </a:pPr>
            <a:r>
              <a:t>Stage 3: Hybrid NLP</a:t>
            </a:r>
          </a:p>
          <a:p>
            <a:pPr>
              <a:spcBef>
                <a:spcPts val="800"/>
              </a:spcBef>
              <a:defRPr sz="1100">
                <a:solidFill>
                  <a:srgbClr val="0F172A"/>
                </a:solidFill>
              </a:defRPr>
            </a:pPr>
            <a:r>
              <a:t>• Deterministic regex</a:t>
            </a:r>
            <a:br/>
            <a:r>
              <a:t>• spaCy NER (en_core_web_lg)</a:t>
            </a:r>
            <a:br/>
            <a:r>
              <a:t>• Financial gazetteers</a:t>
            </a:r>
            <a:br/>
            <a:r>
              <a:t>• Noise &amp; hyphen repair</a:t>
            </a:r>
          </a:p>
        </p:txBody>
      </p:sp>
      <p:sp>
        <p:nvSpPr>
          <p:cNvPr id="23" name="Right Arrow 22"/>
          <p:cNvSpPr/>
          <p:nvPr/>
        </p:nvSpPr>
        <p:spPr>
          <a:xfrm>
            <a:off x="7196327"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199" y="1828800"/>
            <a:ext cx="2057400" cy="2926080"/>
          </a:xfrm>
          <a:prstGeom prst="roundRect">
            <a:avLst/>
          </a:prstGeom>
          <a:solidFill>
            <a:srgbClr val="FFFFFF"/>
          </a:solidFill>
          <a:ln w="2540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199" y="1828800"/>
            <a:ext cx="2057400" cy="45720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199" y="1874519"/>
            <a:ext cx="2057400" cy="365760"/>
          </a:xfrm>
          <a:prstGeom prst="rect">
            <a:avLst/>
          </a:prstGeom>
          <a:noFill/>
        </p:spPr>
        <p:txBody>
          <a:bodyPr wrap="none">
            <a:spAutoFit/>
          </a:bodyPr>
          <a:lstStyle/>
          <a:p>
            <a:pPr algn="ctr">
              <a:defRPr sz="1200" b="1">
                <a:solidFill>
                  <a:srgbClr val="FFFFFF"/>
                </a:solidFill>
              </a:defRPr>
            </a:pPr>
            <a:r>
              <a:t>Module 4</a:t>
            </a:r>
          </a:p>
        </p:txBody>
      </p:sp>
      <p:sp>
        <p:nvSpPr>
          <p:cNvPr id="27" name="TextBox 26"/>
          <p:cNvSpPr txBox="1"/>
          <p:nvPr/>
        </p:nvSpPr>
        <p:spPr>
          <a:xfrm>
            <a:off x="7406640" y="2377440"/>
            <a:ext cx="1874519" cy="2286000"/>
          </a:xfrm>
          <a:prstGeom prst="rect">
            <a:avLst/>
          </a:prstGeom>
          <a:noFill/>
        </p:spPr>
        <p:txBody>
          <a:bodyPr wrap="square">
            <a:spAutoFit/>
          </a:bodyPr>
          <a:lstStyle/>
          <a:p>
            <a:pPr>
              <a:defRPr sz="1300" b="1">
                <a:solidFill>
                  <a:srgbClr val="ED6B2D"/>
                </a:solidFill>
              </a:defRPr>
            </a:pPr>
            <a:r>
              <a:t>Stage 4: Token Vault</a:t>
            </a:r>
          </a:p>
          <a:p>
            <a:pPr>
              <a:spcBef>
                <a:spcPts val="800"/>
              </a:spcBef>
              <a:defRPr sz="1100">
                <a:solidFill>
                  <a:srgbClr val="0F172A"/>
                </a:solidFill>
              </a:defRPr>
            </a:pPr>
            <a:r>
              <a:t>• Reversible tokenization</a:t>
            </a:r>
            <a:br/>
            <a:r>
              <a:t>• Encrypted .vault.json</a:t>
            </a:r>
            <a:br/>
            <a:r>
              <a:t>• Span offset tracking</a:t>
            </a:r>
            <a:br/>
            <a:r>
              <a:t>• ORG_CONTACT policy</a:t>
            </a:r>
          </a:p>
        </p:txBody>
      </p:sp>
      <p:sp>
        <p:nvSpPr>
          <p:cNvPr id="28" name="Right Arrow 27"/>
          <p:cNvSpPr/>
          <p:nvPr/>
        </p:nvSpPr>
        <p:spPr>
          <a:xfrm>
            <a:off x="9390888" y="3017520"/>
            <a:ext cx="109728" cy="182880"/>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09760" y="1828800"/>
            <a:ext cx="2057400" cy="292608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9760" y="1828800"/>
            <a:ext cx="2057400" cy="4572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1874519"/>
            <a:ext cx="2057400" cy="365760"/>
          </a:xfrm>
          <a:prstGeom prst="rect">
            <a:avLst/>
          </a:prstGeom>
          <a:noFill/>
        </p:spPr>
        <p:txBody>
          <a:bodyPr wrap="none">
            <a:spAutoFit/>
          </a:bodyPr>
          <a:lstStyle/>
          <a:p>
            <a:pPr algn="ctr">
              <a:defRPr sz="1200" b="1">
                <a:solidFill>
                  <a:srgbClr val="FFFFFF"/>
                </a:solidFill>
              </a:defRPr>
            </a:pPr>
            <a:r>
              <a:t>Module 5</a:t>
            </a:r>
          </a:p>
        </p:txBody>
      </p:sp>
      <p:sp>
        <p:nvSpPr>
          <p:cNvPr id="32" name="TextBox 31"/>
          <p:cNvSpPr txBox="1"/>
          <p:nvPr/>
        </p:nvSpPr>
        <p:spPr>
          <a:xfrm>
            <a:off x="9601200" y="2377440"/>
            <a:ext cx="1874519" cy="2286000"/>
          </a:xfrm>
          <a:prstGeom prst="rect">
            <a:avLst/>
          </a:prstGeom>
          <a:noFill/>
        </p:spPr>
        <p:txBody>
          <a:bodyPr wrap="square">
            <a:spAutoFit/>
          </a:bodyPr>
          <a:lstStyle/>
          <a:p>
            <a:pPr>
              <a:defRPr sz="1300" b="1">
                <a:solidFill>
                  <a:srgbClr val="142B4C"/>
                </a:solidFill>
              </a:defRPr>
            </a:pPr>
            <a:r>
              <a:t>Stage 5: Redaction</a:t>
            </a:r>
          </a:p>
          <a:p>
            <a:pPr>
              <a:spcBef>
                <a:spcPts val="800"/>
              </a:spcBef>
              <a:defRPr sz="1100">
                <a:solidFill>
                  <a:srgbClr val="0F172A"/>
                </a:solidFill>
              </a:defRPr>
            </a:pPr>
            <a:r>
              <a:t>• Pixel-level PDF redaction</a:t>
            </a:r>
            <a:br/>
            <a:r>
              <a:t>• Text masking [TYPE_ID]</a:t>
            </a:r>
            <a:br/>
            <a:r>
              <a:t>• Structure preservation &gt;80%</a:t>
            </a:r>
            <a:br/>
            <a:r>
              <a:t>• Sanitized LLM payload</a:t>
            </a:r>
          </a:p>
        </p:txBody>
      </p:sp>
      <p:sp>
        <p:nvSpPr>
          <p:cNvPr id="33" name="Rounded Rectangle 32"/>
          <p:cNvSpPr/>
          <p:nvPr/>
        </p:nvSpPr>
        <p:spPr>
          <a:xfrm>
            <a:off x="731520" y="493776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 y="4937760"/>
            <a:ext cx="10424159"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074920"/>
            <a:ext cx="10241280" cy="365760"/>
          </a:xfrm>
          <a:prstGeom prst="rect">
            <a:avLst/>
          </a:prstGeom>
          <a:noFill/>
        </p:spPr>
        <p:txBody>
          <a:bodyPr wrap="square">
            <a:spAutoFit/>
          </a:bodyPr>
          <a:lstStyle/>
          <a:p>
            <a:pPr>
              <a:defRPr sz="1500" b="1">
                <a:solidFill>
                  <a:srgbClr val="142B4C"/>
                </a:solidFill>
              </a:defRPr>
            </a:pPr>
            <a:r>
              <a:t>CRITICAL SECURITY ARCHITECTURE HIGHLIGHTS</a:t>
            </a:r>
          </a:p>
        </p:txBody>
      </p:sp>
      <p:sp>
        <p:nvSpPr>
          <p:cNvPr id="36" name="TextBox 35"/>
          <p:cNvSpPr txBox="1"/>
          <p:nvPr/>
        </p:nvSpPr>
        <p:spPr>
          <a:xfrm>
            <a:off x="960120" y="5349240"/>
            <a:ext cx="10241280" cy="731520"/>
          </a:xfrm>
          <a:prstGeom prst="rect">
            <a:avLst/>
          </a:prstGeom>
          <a:noFill/>
        </p:spPr>
        <p:txBody>
          <a:bodyPr wrap="square">
            <a:spAutoFit/>
          </a:bodyPr>
          <a:lstStyle/>
          <a:p>
            <a:pPr>
              <a:defRPr sz="1100">
                <a:solidFill>
                  <a:srgbClr val="0F172A"/>
                </a:solidFill>
              </a:defRPr>
            </a:pPr>
            <a:r>
              <a:t>🔒 100% Air-Gapped Local Operation: Zero external API calls. All NLP, OCR, and redactions occur entirely inside Cadence's secure boundary.</a:t>
            </a:r>
            <a:br/>
            <a:r>
              <a:t>🔒 True Pixel-Level Redaction: PyMuPDF draws black redaction rectangles and permanently purges underlying text stream bytes—preventing copy-paste discovery.</a:t>
            </a:r>
            <a:br/>
            <a:r>
              <a:t>🔒 Structural Fidelity Guarantee: Retains document hierarchy, headers, table rows, and context tokens so the downstream LLM agent performs accurately.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3: Extraction Logic Across Formats</a:t>
            </a:r>
          </a:p>
          <a:p>
            <a:pPr>
              <a:spcBef>
                <a:spcPts val="800"/>
              </a:spcBef>
              <a:defRPr sz="1300">
                <a:solidFill>
                  <a:srgbClr val="64748B"/>
                </a:solidFill>
              </a:defRPr>
            </a:pPr>
            <a:r>
              <a:t>Format-Specific Parsing Strategies, Table Extraction, and Tesseract OCR Engine</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2971800" cy="365760"/>
          </a:xfrm>
          <a:prstGeom prst="rect">
            <a:avLst/>
          </a:prstGeom>
          <a:noFill/>
        </p:spPr>
        <p:txBody>
          <a:bodyPr wrap="square">
            <a:spAutoFit/>
          </a:bodyPr>
          <a:lstStyle/>
          <a:p>
            <a:pPr>
              <a:defRPr sz="1500" b="1">
                <a:solidFill>
                  <a:srgbClr val="142B4C"/>
                </a:solidFill>
              </a:defRPr>
            </a:pPr>
            <a:r>
              <a:t>PDF EXTRACTION STRATEGY</a:t>
            </a:r>
          </a:p>
        </p:txBody>
      </p:sp>
      <p:sp>
        <p:nvSpPr>
          <p:cNvPr id="12" name="TextBox 11"/>
          <p:cNvSpPr txBox="1"/>
          <p:nvPr/>
        </p:nvSpPr>
        <p:spPr>
          <a:xfrm>
            <a:off x="914400" y="2194560"/>
            <a:ext cx="3063240" cy="3749039"/>
          </a:xfrm>
          <a:prstGeom prst="rect">
            <a:avLst/>
          </a:prstGeom>
          <a:noFill/>
        </p:spPr>
        <p:txBody>
          <a:bodyPr wrap="square">
            <a:spAutoFit/>
          </a:bodyPr>
          <a:lstStyle/>
          <a:p>
            <a:pPr>
              <a:spcBef>
                <a:spcPts val="800"/>
              </a:spcBef>
              <a:defRPr sz="1300" b="1">
                <a:solidFill>
                  <a:srgbClr val="142B4C"/>
                </a:solidFill>
              </a:defRPr>
            </a:pPr>
            <a:r>
              <a:t>📄 Digital Text Layer:</a:t>
            </a:r>
          </a:p>
          <a:p>
            <a:pPr>
              <a:spcBef>
                <a:spcPts val="300"/>
              </a:spcBef>
              <a:defRPr sz="1100">
                <a:solidFill>
                  <a:srgbClr val="0F172A"/>
                </a:solidFill>
              </a:defRPr>
            </a:pPr>
            <a:r>
              <a:t>Extract native text streams with exact bounding box coordinates using PyMuPDF (fitz) and pdfplumber.</a:t>
            </a:r>
          </a:p>
          <a:p>
            <a:pPr>
              <a:spcBef>
                <a:spcPts val="800"/>
              </a:spcBef>
              <a:defRPr sz="1300" b="1">
                <a:solidFill>
                  <a:srgbClr val="142B4C"/>
                </a:solidFill>
              </a:defRPr>
            </a:pPr>
            <a:r>
              <a:t>📄 Layout &amp; Table Retention:</a:t>
            </a:r>
          </a:p>
          <a:p>
            <a:pPr>
              <a:spcBef>
                <a:spcPts val="300"/>
              </a:spcBef>
              <a:defRPr sz="1100">
                <a:solidFill>
                  <a:srgbClr val="0F172A"/>
                </a:solidFill>
              </a:defRPr>
            </a:pPr>
            <a:r>
              <a:t>Detects multi-column policy layouts, headers, footers, and table gridlines to prevent jumbled word streams.</a:t>
            </a:r>
          </a:p>
          <a:p>
            <a:pPr>
              <a:spcBef>
                <a:spcPts val="800"/>
              </a:spcBef>
              <a:defRPr sz="1300" b="1">
                <a:solidFill>
                  <a:srgbClr val="142B4C"/>
                </a:solidFill>
              </a:defRPr>
            </a:pPr>
            <a:r>
              <a:t>📄 OCR Scanned Page Fallback:</a:t>
            </a:r>
          </a:p>
          <a:p>
            <a:pPr>
              <a:spcBef>
                <a:spcPts val="300"/>
              </a:spcBef>
              <a:defRPr sz="1100">
                <a:solidFill>
                  <a:srgbClr val="0F172A"/>
                </a:solidFill>
              </a:defRPr>
            </a:pPr>
            <a:r>
              <a:t>If page has &lt; 50 extractable characters, triggers Tesseract OCR with image binarization and rotation correction.</a:t>
            </a:r>
          </a:p>
        </p:txBody>
      </p:sp>
      <p:sp>
        <p:nvSpPr>
          <p:cNvPr id="13" name="Rounded Rectangle 12"/>
          <p:cNvSpPr/>
          <p:nvPr/>
        </p:nvSpPr>
        <p:spPr>
          <a:xfrm>
            <a:off x="43891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783080"/>
            <a:ext cx="2971800" cy="365760"/>
          </a:xfrm>
          <a:prstGeom prst="rect">
            <a:avLst/>
          </a:prstGeom>
          <a:noFill/>
        </p:spPr>
        <p:txBody>
          <a:bodyPr wrap="square">
            <a:spAutoFit/>
          </a:bodyPr>
          <a:lstStyle/>
          <a:p>
            <a:pPr>
              <a:defRPr sz="1500" b="1">
                <a:solidFill>
                  <a:srgbClr val="ED6B2D"/>
                </a:solidFill>
              </a:defRPr>
            </a:pPr>
            <a:r>
              <a:t>DOCX &amp; PPTX PARSING LOGIC</a:t>
            </a:r>
          </a:p>
        </p:txBody>
      </p:sp>
      <p:sp>
        <p:nvSpPr>
          <p:cNvPr id="16" name="TextBox 15"/>
          <p:cNvSpPr txBox="1"/>
          <p:nvPr/>
        </p:nvSpPr>
        <p:spPr>
          <a:xfrm>
            <a:off x="4572000" y="2194560"/>
            <a:ext cx="3063240" cy="3749039"/>
          </a:xfrm>
          <a:prstGeom prst="rect">
            <a:avLst/>
          </a:prstGeom>
          <a:noFill/>
        </p:spPr>
        <p:txBody>
          <a:bodyPr wrap="square">
            <a:spAutoFit/>
          </a:bodyPr>
          <a:lstStyle/>
          <a:p>
            <a:pPr>
              <a:spcBef>
                <a:spcPts val="800"/>
              </a:spcBef>
              <a:defRPr sz="1300" b="1">
                <a:solidFill>
                  <a:srgbClr val="ED6B2D"/>
                </a:solidFill>
              </a:defRPr>
            </a:pPr>
            <a:r>
              <a:t>📄 python-docx Parser:</a:t>
            </a:r>
          </a:p>
          <a:p>
            <a:pPr>
              <a:spcBef>
                <a:spcPts val="300"/>
              </a:spcBef>
              <a:defRPr sz="1100">
                <a:solidFill>
                  <a:srgbClr val="0F172A"/>
                </a:solidFill>
              </a:defRPr>
            </a:pPr>
            <a:r>
              <a:t>Traverses paragraphs, nested tables, headers, footers, and callout text boxes while preserving document ordering.</a:t>
            </a:r>
          </a:p>
          <a:p>
            <a:pPr>
              <a:spcBef>
                <a:spcPts val="800"/>
              </a:spcBef>
              <a:defRPr sz="1300" b="1">
                <a:solidFill>
                  <a:srgbClr val="ED6B2D"/>
                </a:solidFill>
              </a:defRPr>
            </a:pPr>
            <a:r>
              <a:t>📄 python-pptx Parser:</a:t>
            </a:r>
          </a:p>
          <a:p>
            <a:pPr>
              <a:spcBef>
                <a:spcPts val="300"/>
              </a:spcBef>
              <a:defRPr sz="1100">
                <a:solidFill>
                  <a:srgbClr val="0F172A"/>
                </a:solidFill>
              </a:defRPr>
            </a:pPr>
            <a:r>
              <a:t>Inspects slide shapes, grouped diagram elements, smart art, speaker notes, and tabular slide matrices.</a:t>
            </a:r>
          </a:p>
          <a:p>
            <a:pPr>
              <a:spcBef>
                <a:spcPts val="800"/>
              </a:spcBef>
              <a:defRPr sz="1300" b="1">
                <a:solidFill>
                  <a:srgbClr val="ED6B2D"/>
                </a:solidFill>
              </a:defRPr>
            </a:pPr>
            <a:r>
              <a:t>📄 Embedded Figure OCR:</a:t>
            </a:r>
          </a:p>
          <a:p>
            <a:pPr>
              <a:spcBef>
                <a:spcPts val="300"/>
              </a:spcBef>
              <a:defRPr sz="1100">
                <a:solidFill>
                  <a:srgbClr val="0F172A"/>
                </a:solidFill>
              </a:defRPr>
            </a:pPr>
            <a:r>
              <a:t>Extracts rasterized screenshots, org chart images, and process diagrams; dispatches them to Tesseract OCR pass.</a:t>
            </a:r>
          </a:p>
        </p:txBody>
      </p:sp>
      <p:sp>
        <p:nvSpPr>
          <p:cNvPr id="17" name="Rounded Rectangle 16"/>
          <p:cNvSpPr/>
          <p:nvPr/>
        </p:nvSpPr>
        <p:spPr>
          <a:xfrm>
            <a:off x="8046720" y="1645920"/>
            <a:ext cx="3429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645920"/>
            <a:ext cx="31546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783080"/>
            <a:ext cx="2971800" cy="365760"/>
          </a:xfrm>
          <a:prstGeom prst="rect">
            <a:avLst/>
          </a:prstGeom>
          <a:noFill/>
        </p:spPr>
        <p:txBody>
          <a:bodyPr wrap="square">
            <a:spAutoFit/>
          </a:bodyPr>
          <a:lstStyle/>
          <a:p>
            <a:pPr>
              <a:defRPr sz="1500" b="1">
                <a:solidFill>
                  <a:srgbClr val="142B4C"/>
                </a:solidFill>
              </a:defRPr>
            </a:pPr>
            <a:r>
              <a:t>NOISE REPAIR &amp; NORMALIZATION</a:t>
            </a:r>
          </a:p>
        </p:txBody>
      </p:sp>
      <p:sp>
        <p:nvSpPr>
          <p:cNvPr id="20" name="TextBox 19"/>
          <p:cNvSpPr txBox="1"/>
          <p:nvPr/>
        </p:nvSpPr>
        <p:spPr>
          <a:xfrm>
            <a:off x="8229600" y="2194560"/>
            <a:ext cx="3063240" cy="3749039"/>
          </a:xfrm>
          <a:prstGeom prst="rect">
            <a:avLst/>
          </a:prstGeom>
          <a:noFill/>
        </p:spPr>
        <p:txBody>
          <a:bodyPr wrap="square">
            <a:spAutoFit/>
          </a:bodyPr>
          <a:lstStyle/>
          <a:p>
            <a:pPr>
              <a:spcBef>
                <a:spcPts val="800"/>
              </a:spcBef>
              <a:defRPr sz="1300" b="1">
                <a:solidFill>
                  <a:srgbClr val="142B4C"/>
                </a:solidFill>
              </a:defRPr>
            </a:pPr>
            <a:r>
              <a:t>📄 Hyphenation Stitching:</a:t>
            </a:r>
          </a:p>
          <a:p>
            <a:pPr>
              <a:spcBef>
                <a:spcPts val="300"/>
              </a:spcBef>
              <a:defRPr sz="1100">
                <a:solidFill>
                  <a:srgbClr val="0F172A"/>
                </a:solidFill>
              </a:defRPr>
            </a:pPr>
            <a:r>
              <a:t>Detects and repairs line-break split words (e.g., 'em-ployee' -&gt; 'employee') to prevent broken PII entities.</a:t>
            </a:r>
          </a:p>
          <a:p>
            <a:pPr>
              <a:spcBef>
                <a:spcPts val="800"/>
              </a:spcBef>
              <a:defRPr sz="1300" b="1">
                <a:solidFill>
                  <a:srgbClr val="142B4C"/>
                </a:solidFill>
              </a:defRPr>
            </a:pPr>
            <a:r>
              <a:t>📄 Character Confusions:</a:t>
            </a:r>
          </a:p>
          <a:p>
            <a:pPr>
              <a:spcBef>
                <a:spcPts val="300"/>
              </a:spcBef>
              <a:defRPr sz="1100">
                <a:solidFill>
                  <a:srgbClr val="0F172A"/>
                </a:solidFill>
              </a:defRPr>
            </a:pPr>
            <a:r>
              <a:t>Corrects classic OCR confusions in numeric fields (e.g., resolving 'O' vs '0', 'l' vs '1' in phone/SSN spans).</a:t>
            </a:r>
          </a:p>
          <a:p>
            <a:pPr>
              <a:spcBef>
                <a:spcPts val="800"/>
              </a:spcBef>
              <a:defRPr sz="1300" b="1">
                <a:solidFill>
                  <a:srgbClr val="142B4C"/>
                </a:solidFill>
              </a:defRPr>
            </a:pPr>
            <a:r>
              <a:t>📄 Context Window Padding:</a:t>
            </a:r>
          </a:p>
          <a:p>
            <a:pPr>
              <a:spcBef>
                <a:spcPts val="300"/>
              </a:spcBef>
              <a:defRPr sz="1100">
                <a:solidFill>
                  <a:srgbClr val="0F172A"/>
                </a:solidFill>
              </a:defRPr>
            </a:pPr>
            <a:r>
              <a:t>Maintains token offset anchors to preserve pre- and post-context for downstream entity disambiguation.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 3 (Cont.): Hybrid PII Detection</a:t>
            </a:r>
          </a:p>
          <a:p>
            <a:pPr>
              <a:spcBef>
                <a:spcPts val="800"/>
              </a:spcBef>
              <a:defRPr sz="1300">
                <a:solidFill>
                  <a:srgbClr val="64748B"/>
                </a:solidFill>
              </a:defRPr>
            </a:pPr>
            <a:r>
              <a:t>Dual-Engine Architecture: High-Precision Regex + spaCy NER (en_core_web_lg)</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53949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5212080" cy="365760"/>
          </a:xfrm>
          <a:prstGeom prst="rect">
            <a:avLst/>
          </a:prstGeom>
          <a:noFill/>
        </p:spPr>
        <p:txBody>
          <a:bodyPr wrap="square">
            <a:spAutoFit/>
          </a:bodyPr>
          <a:lstStyle/>
          <a:p>
            <a:pPr>
              <a:defRPr sz="1500" b="1">
                <a:solidFill>
                  <a:srgbClr val="142B4C"/>
                </a:solidFill>
              </a:defRPr>
            </a:pPr>
            <a:r>
              <a:t>11 PII ENTITY CATEGORIES TARGETED</a:t>
            </a:r>
          </a:p>
        </p:txBody>
      </p:sp>
      <p:graphicFrame>
        <p:nvGraphicFramePr>
          <p:cNvPr id="12" name="Table 11"/>
          <p:cNvGraphicFramePr>
            <a:graphicFrameLocks noGrp="1"/>
          </p:cNvGraphicFramePr>
          <p:nvPr/>
        </p:nvGraphicFramePr>
        <p:xfrm>
          <a:off x="914400" y="2194560"/>
          <a:ext cx="5303520" cy="3657600"/>
        </p:xfrm>
        <a:graphic>
          <a:graphicData uri="http://schemas.openxmlformats.org/drawingml/2006/table">
            <a:tbl>
              <a:tblPr firstRow="1" bandRow="1">
                <a:tableStyleId>{5C22544A-7EE6-4342-B048-85BDC9FD1C3A}</a:tableStyleId>
              </a:tblPr>
              <a:tblGrid>
                <a:gridCol w="2011680"/>
                <a:gridCol w="3291840"/>
              </a:tblGrid>
              <a:tr h="609600">
                <a:tc>
                  <a:txBody>
                    <a:bodyPr/>
                    <a:lstStyle/>
                    <a:p>
                      <a:pPr>
                        <a:defRPr b="1" sz="1100">
                          <a:solidFill>
                            <a:srgbClr val="FFFFFF"/>
                          </a:solidFill>
                        </a:defRPr>
                      </a:pPr>
                      <a:r>
                        <a:t>PII Category</a:t>
                      </a:r>
                    </a:p>
                  </a:txBody>
                  <a:tcPr>
                    <a:solidFill>
                      <a:srgbClr val="142B4C"/>
                    </a:solidFill>
                  </a:tcPr>
                </a:tc>
                <a:tc>
                  <a:txBody>
                    <a:bodyPr/>
                    <a:lstStyle/>
                    <a:p>
                      <a:pPr>
                        <a:defRPr b="1" sz="1100">
                          <a:solidFill>
                            <a:srgbClr val="FFFFFF"/>
                          </a:solidFill>
                        </a:defRPr>
                      </a:pPr>
                      <a:r>
                        <a:t>Detection Engine &amp; Example Patterns</a:t>
                      </a:r>
                    </a:p>
                  </a:txBody>
                  <a:tcPr>
                    <a:solidFill>
                      <a:srgbClr val="142B4C"/>
                    </a:solidFill>
                  </a:tcPr>
                </a:tc>
              </a:tr>
              <a:tr h="609600">
                <a:tc>
                  <a:txBody>
                    <a:bodyPr/>
                    <a:lstStyle/>
                    <a:p>
                      <a:pPr>
                        <a:defRPr sz="1000" b="1">
                          <a:solidFill>
                            <a:srgbClr val="0F172A"/>
                          </a:solidFill>
                        </a:defRPr>
                      </a:pPr>
                      <a:r>
                        <a:t>PERSON (Names)</a:t>
                      </a:r>
                    </a:p>
                  </a:txBody>
                  <a:tcPr>
                    <a:solidFill>
                      <a:srgbClr val="FFFFFF"/>
                    </a:solidFill>
                  </a:tcPr>
                </a:tc>
                <a:tc>
                  <a:txBody>
                    <a:bodyPr/>
                    <a:lstStyle/>
                    <a:p>
                      <a:pPr>
                        <a:defRPr sz="1000">
                          <a:solidFill>
                            <a:srgbClr val="0F172A"/>
                          </a:solidFill>
                        </a:defRPr>
                      </a:pPr>
                      <a:r>
                        <a:t>spaCy NER (en_core_web_lg) + Gazetteer lookups for executive lists.</a:t>
                      </a:r>
                    </a:p>
                  </a:txBody>
                  <a:tcPr>
                    <a:solidFill>
                      <a:srgbClr val="FFFFFF"/>
                    </a:solidFill>
                  </a:tcPr>
                </a:tc>
              </a:tr>
              <a:tr h="609600">
                <a:tc>
                  <a:txBody>
                    <a:bodyPr/>
                    <a:lstStyle/>
                    <a:p>
                      <a:pPr>
                        <a:defRPr sz="1000" b="1">
                          <a:solidFill>
                            <a:srgbClr val="0F172A"/>
                          </a:solidFill>
                        </a:defRPr>
                      </a:pPr>
                      <a:r>
                        <a:t>GOV_ID (SSN / Tax)</a:t>
                      </a:r>
                    </a:p>
                  </a:txBody>
                  <a:tcPr>
                    <a:solidFill>
                      <a:srgbClr val="F1F5F9"/>
                    </a:solidFill>
                  </a:tcPr>
                </a:tc>
                <a:tc>
                  <a:txBody>
                    <a:bodyPr/>
                    <a:lstStyle/>
                    <a:p>
                      <a:pPr>
                        <a:defRPr sz="1000">
                          <a:solidFill>
                            <a:srgbClr val="0F172A"/>
                          </a:solidFill>
                        </a:defRPr>
                      </a:pPr>
                      <a:r>
                        <a:t>High-precision Regex: SSN (\d{3}-\d{2}-\d{4}), EIN, ITIN.</a:t>
                      </a:r>
                    </a:p>
                  </a:txBody>
                  <a:tcPr>
                    <a:solidFill>
                      <a:srgbClr val="F1F5F9"/>
                    </a:solidFill>
                  </a:tcPr>
                </a:tc>
              </a:tr>
              <a:tr h="609600">
                <a:tc>
                  <a:txBody>
                    <a:bodyPr/>
                    <a:lstStyle/>
                    <a:p>
                      <a:pPr>
                        <a:defRPr sz="1000" b="1">
                          <a:solidFill>
                            <a:srgbClr val="0F172A"/>
                          </a:solidFill>
                        </a:defRPr>
                      </a:pPr>
                      <a:r>
                        <a:t>FINANCIAL (Card/IBAN)</a:t>
                      </a:r>
                    </a:p>
                  </a:txBody>
                  <a:tcPr>
                    <a:solidFill>
                      <a:srgbClr val="FFFFFF"/>
                    </a:solidFill>
                  </a:tcPr>
                </a:tc>
                <a:tc>
                  <a:txBody>
                    <a:bodyPr/>
                    <a:lstStyle/>
                    <a:p>
                      <a:pPr>
                        <a:defRPr sz="1000">
                          <a:solidFill>
                            <a:srgbClr val="0F172A"/>
                          </a:solidFill>
                        </a:defRPr>
                      </a:pPr>
                      <a:r>
                        <a:t>Regex + Luhn checksum validation: Credit cards, bank IBAN, routing numbers.</a:t>
                      </a:r>
                    </a:p>
                  </a:txBody>
                  <a:tcPr>
                    <a:solidFill>
                      <a:srgbClr val="FFFFFF"/>
                    </a:solidFill>
                  </a:tcPr>
                </a:tc>
              </a:tr>
              <a:tr h="609600">
                <a:tc>
                  <a:txBody>
                    <a:bodyPr/>
                    <a:lstStyle/>
                    <a:p>
                      <a:pPr>
                        <a:defRPr sz="1000" b="1">
                          <a:solidFill>
                            <a:srgbClr val="0F172A"/>
                          </a:solidFill>
                        </a:defRPr>
                      </a:pPr>
                      <a:r>
                        <a:t>CONTACT (Email/Phone)</a:t>
                      </a:r>
                    </a:p>
                  </a:txBody>
                  <a:tcPr>
                    <a:solidFill>
                      <a:srgbClr val="F1F5F9"/>
                    </a:solidFill>
                  </a:tcPr>
                </a:tc>
                <a:tc>
                  <a:txBody>
                    <a:bodyPr/>
                    <a:lstStyle/>
                    <a:p>
                      <a:pPr>
                        <a:defRPr sz="1000">
                          <a:solidFill>
                            <a:srgbClr val="0F172A"/>
                          </a:solidFill>
                        </a:defRPr>
                      </a:pPr>
                      <a:r>
                        <a:t>RFC 5322 Email regex + international E.164 phone number parsers.</a:t>
                      </a:r>
                    </a:p>
                  </a:txBody>
                  <a:tcPr>
                    <a:solidFill>
                      <a:srgbClr val="F1F5F9"/>
                    </a:solidFill>
                  </a:tcPr>
                </a:tc>
              </a:tr>
              <a:tr h="609600">
                <a:tc>
                  <a:txBody>
                    <a:bodyPr/>
                    <a:lstStyle/>
                    <a:p>
                      <a:pPr>
                        <a:defRPr sz="1000" b="1">
                          <a:solidFill>
                            <a:srgbClr val="0F172A"/>
                          </a:solidFill>
                        </a:defRPr>
                      </a:pPr>
                      <a:r>
                        <a:t>ORG_CONTACT (Hotlines)</a:t>
                      </a:r>
                    </a:p>
                  </a:txBody>
                  <a:tcPr>
                    <a:solidFill>
                      <a:srgbClr val="FFFFFF"/>
                    </a:solidFill>
                  </a:tcPr>
                </a:tc>
                <a:tc>
                  <a:txBody>
                    <a:bodyPr/>
                    <a:lstStyle/>
                    <a:p>
                      <a:pPr>
                        <a:defRPr sz="1000">
                          <a:solidFill>
                            <a:srgbClr val="0F172A"/>
                          </a:solidFill>
                        </a:defRPr>
                      </a:pPr>
                      <a:r>
                        <a:t>Policy-driven: detect public hotlines/board contacts vs private employee PII.</a:t>
                      </a:r>
                    </a:p>
                  </a:txBody>
                  <a:tcPr>
                    <a:solidFill>
                      <a:srgbClr val="FFFFFF"/>
                    </a:solidFill>
                  </a:tcPr>
                </a:tc>
              </a:tr>
            </a:tbl>
          </a:graphicData>
        </a:graphic>
      </p:graphicFrame>
      <p:sp>
        <p:nvSpPr>
          <p:cNvPr id="13" name="Rounded Rectangle 12"/>
          <p:cNvSpPr/>
          <p:nvPr/>
        </p:nvSpPr>
        <p:spPr>
          <a:xfrm>
            <a:off x="66751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12280" y="1645920"/>
            <a:ext cx="44805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1783080"/>
            <a:ext cx="4297680" cy="365760"/>
          </a:xfrm>
          <a:prstGeom prst="rect">
            <a:avLst/>
          </a:prstGeom>
          <a:noFill/>
        </p:spPr>
        <p:txBody>
          <a:bodyPr wrap="square">
            <a:spAutoFit/>
          </a:bodyPr>
          <a:lstStyle/>
          <a:p>
            <a:pPr>
              <a:defRPr sz="1500" b="1">
                <a:solidFill>
                  <a:srgbClr val="ED6B2D"/>
                </a:solidFill>
              </a:defRPr>
            </a:pPr>
            <a:r>
              <a:t>DUAL-ENGINE DETECTION ARCHITECTURE</a:t>
            </a:r>
          </a:p>
        </p:txBody>
      </p:sp>
      <p:sp>
        <p:nvSpPr>
          <p:cNvPr id="16" name="TextBox 15"/>
          <p:cNvSpPr txBox="1"/>
          <p:nvPr/>
        </p:nvSpPr>
        <p:spPr>
          <a:xfrm>
            <a:off x="6903720" y="2148840"/>
            <a:ext cx="4297680" cy="3749039"/>
          </a:xfrm>
          <a:prstGeom prst="rect">
            <a:avLst/>
          </a:prstGeom>
          <a:noFill/>
        </p:spPr>
        <p:txBody>
          <a:bodyPr wrap="square">
            <a:spAutoFit/>
          </a:bodyPr>
          <a:lstStyle/>
          <a:p>
            <a:pPr>
              <a:spcBef>
                <a:spcPts val="800"/>
              </a:spcBef>
              <a:defRPr sz="1100">
                <a:solidFill>
                  <a:srgbClr val="0F172A"/>
                </a:solidFill>
              </a:defRPr>
            </a:pPr>
            <a:r>
              <a:t>⚡ Engine 1: Deterministic Pattern Matcher</a:t>
            </a:r>
            <a:br/>
            <a:r>
              <a:t>Covers structured identifiers (SSN, credit card, phone, email, IP, dates). 100% precision with checksum validation (Luhn algorithm for cards) eliminates false positives.</a:t>
            </a:r>
          </a:p>
          <a:p>
            <a:pPr>
              <a:spcBef>
                <a:spcPts val="800"/>
              </a:spcBef>
              <a:defRPr sz="1100">
                <a:solidFill>
                  <a:srgbClr val="0F172A"/>
                </a:solidFill>
              </a:defRPr>
            </a:pPr>
            <a:r>
              <a:t>⚡ Engine 2: Contextual spaCy NER</a:t>
            </a:r>
            <a:br/>
            <a:r>
              <a:t>Deploys `en_core_web_lg` transformer-tuned model for unstructured person names, organizational titles, and location entities where pattern syntax does not exist.</a:t>
            </a:r>
          </a:p>
          <a:p>
            <a:pPr>
              <a:spcBef>
                <a:spcPts val="800"/>
              </a:spcBef>
              <a:defRPr sz="1100">
                <a:solidFill>
                  <a:srgbClr val="0F172A"/>
                </a:solidFill>
              </a:defRPr>
            </a:pPr>
            <a:r>
              <a:t>⚡ Disambiguation &amp; Conflict Resolution</a:t>
            </a:r>
            <a:br/>
            <a:r>
              <a:t>If Regex and spaCy spans overlap, deterministic regex takes precedence. Span merging resolves adjacent tokens (e.g. 'Jane' + 'Doe' -&gt; single entity).</a:t>
            </a:r>
          </a:p>
          <a:p>
            <a:pPr>
              <a:spcBef>
                <a:spcPts val="800"/>
              </a:spcBef>
              <a:defRPr sz="1100">
                <a:solidFill>
                  <a:srgbClr val="0F172A"/>
                </a:solidFill>
              </a:defRPr>
            </a:pPr>
            <a:r>
              <a:t>⚡ ORG_CONTACT Policy Switch</a:t>
            </a:r>
            <a:br/>
            <a:r>
              <a:t>Cadence compliance flag: `REDACT_ORG_CONTACTS=yes|no`. Allows retaining public whistle-blower hotlines while redacting personal desk extensions.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Expected Outcomes 4 &amp; 5: Benchmarks &amp; Live Demo</a:t>
            </a:r>
          </a:p>
          <a:p>
            <a:pPr>
              <a:spcBef>
                <a:spcPts val="800"/>
              </a:spcBef>
              <a:defRPr sz="1300">
                <a:solidFill>
                  <a:srgbClr val="64748B"/>
                </a:solidFill>
              </a:defRPr>
            </a:pPr>
            <a:r>
              <a:t>Rigorous Performance Validation (&gt;80% Structure, ~100% PII Recall) and Streamlit Demo</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PERFORMANCE EVALUATION BENCHMARKS</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800"/>
              </a:spcBef>
              <a:defRPr sz="1100">
                <a:solidFill>
                  <a:srgbClr val="0F172A"/>
                </a:solidFill>
              </a:defRPr>
            </a:pPr>
            <a:r>
              <a:t>🎯 Near-100% PII Recall:</a:t>
            </a:r>
            <a:br/>
            <a:r>
              <a:t>Zero tolerance for leakage. The hybrid detector achieves ~100% recall across gold-standard Cadence test artifacts (policies, org decks, training docs).</a:t>
            </a:r>
          </a:p>
          <a:p>
            <a:pPr>
              <a:spcBef>
                <a:spcPts val="800"/>
              </a:spcBef>
              <a:defRPr sz="1100">
                <a:solidFill>
                  <a:srgbClr val="0F172A"/>
                </a:solidFill>
              </a:defRPr>
            </a:pPr>
            <a:r>
              <a:t>🎯 Structure Retention (&gt;80%):</a:t>
            </a:r>
            <a:br/>
            <a:r>
              <a:t>Verified via structural similarity metrics. Tables, headers, and bullet structures remain intact so the LLM agent retains complete reasoning capacity.</a:t>
            </a:r>
          </a:p>
          <a:p>
            <a:pPr>
              <a:spcBef>
                <a:spcPts val="800"/>
              </a:spcBef>
              <a:defRPr sz="1100">
                <a:solidFill>
                  <a:srgbClr val="0F172A"/>
                </a:solidFill>
              </a:defRPr>
            </a:pPr>
            <a:r>
              <a:t>🎯 Context Preservation:</a:t>
            </a:r>
            <a:br/>
            <a:r>
              <a:t>Entities are replaced with semantic tokens (e.g. [PERSON_1], [SSN_1]) rather than blank spaces, allowing the LLM to understand subject-object relationships.</a:t>
            </a:r>
          </a:p>
          <a:p>
            <a:pPr>
              <a:spcBef>
                <a:spcPts val="800"/>
              </a:spcBef>
              <a:defRPr sz="1100">
                <a:solidFill>
                  <a:srgbClr val="0F172A"/>
                </a:solidFill>
              </a:defRPr>
            </a:pPr>
            <a:r>
              <a:t>🎯 Encrypted Token Vault (.vault.json):</a:t>
            </a:r>
            <a:br/>
            <a:r>
              <a:t>Maintains an air-gapped cryptographic reverse lookup map, enabling authorized compliance auditors to unmask entities during legal discovery.</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CADENCE REDACTION DEMO UI</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800"/>
              </a:spcBef>
              <a:defRPr sz="1100">
                <a:solidFill>
                  <a:srgbClr val="0F172A"/>
                </a:solidFill>
              </a:defRPr>
            </a:pPr>
            <a:r>
              <a:t>💻 Multi-Format Artifact Upload:</a:t>
            </a:r>
            <a:br/>
            <a:r>
              <a:t>Interactive drag-and-drop support for Cadence PDF, DOCX, and PPTX files directly in the browser.</a:t>
            </a:r>
          </a:p>
          <a:p>
            <a:pPr>
              <a:spcBef>
                <a:spcPts val="800"/>
              </a:spcBef>
              <a:defRPr sz="1100">
                <a:solidFill>
                  <a:srgbClr val="0F172A"/>
                </a:solidFill>
              </a:defRPr>
            </a:pPr>
            <a:r>
              <a:t>💻 Interactive Entity Tag Viewer:</a:t>
            </a:r>
            <a:br/>
            <a:r>
              <a:t>Color-coded findings map (🔴 PERSON, 🟡 GOV_ID, 🔵 FINANCIAL, 🟢 CONTACT) showing character offsets and confidence scores.</a:t>
            </a:r>
          </a:p>
          <a:p>
            <a:pPr>
              <a:spcBef>
                <a:spcPts val="800"/>
              </a:spcBef>
              <a:defRPr sz="1100">
                <a:solidFill>
                  <a:srgbClr val="0F172A"/>
                </a:solidFill>
              </a:defRPr>
            </a:pPr>
            <a:r>
              <a:t>💻 Side-by-Side Dual Preview:</a:t>
            </a:r>
            <a:br/>
            <a:r>
              <a:t>Split-screen viewer comparing raw unredacted artifact text against the sanitized downstream LLM payload in real time.</a:t>
            </a:r>
          </a:p>
          <a:p>
            <a:pPr>
              <a:spcBef>
                <a:spcPts val="800"/>
              </a:spcBef>
              <a:defRPr sz="1100">
                <a:solidFill>
                  <a:srgbClr val="0F172A"/>
                </a:solidFill>
              </a:defRPr>
            </a:pPr>
            <a:r>
              <a:t>💻 Audit Export &amp; Download:</a:t>
            </a:r>
            <a:br/>
            <a:r>
              <a:t>One-click download of pixel-redacted PDFs, masked DOCX/PPTX files, and comprehensive PII audit telemetry logs.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142B4C"/>
                </a:solidFill>
              </a:defRPr>
            </a:pPr>
            <a:r>
              <a:t>OPTIV CONSULTING  |  CYBER STRATEGY</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142B4C"/>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594360"/>
            <a:ext cx="10698480" cy="1005840"/>
          </a:xfrm>
          <a:prstGeom prst="rect">
            <a:avLst/>
          </a:prstGeom>
          <a:noFill/>
        </p:spPr>
        <p:txBody>
          <a:bodyPr wrap="square" lIns="0" tIns="0" rIns="0" bIns="0">
            <a:spAutoFit/>
          </a:bodyPr>
          <a:lstStyle/>
          <a:p>
            <a:pPr>
              <a:defRPr sz="2600" b="1">
                <a:solidFill>
                  <a:srgbClr val="142B4C"/>
                </a:solidFill>
              </a:defRPr>
            </a:pPr>
            <a:r>
              <a:t>Strategic Synthesis: Enterprise AI Risk Framework</a:t>
            </a:r>
          </a:p>
          <a:p>
            <a:pPr>
              <a:spcBef>
                <a:spcPts val="800"/>
              </a:spcBef>
              <a:defRPr sz="1300">
                <a:solidFill>
                  <a:srgbClr val="64748B"/>
                </a:solidFill>
              </a:defRPr>
            </a:pPr>
            <a:r>
              <a:t>Unifying Inbound Third-Party AI Profiling with Outbound Pre-LLM Data Sanitization</a:t>
            </a:r>
          </a:p>
        </p:txBody>
      </p:sp>
      <p:sp>
        <p:nvSpPr>
          <p:cNvPr id="8" name="Rectangle 7"/>
          <p:cNvSpPr/>
          <p:nvPr/>
        </p:nvSpPr>
        <p:spPr>
          <a:xfrm>
            <a:off x="731520" y="1371600"/>
            <a:ext cx="10972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83080"/>
            <a:ext cx="4754880" cy="365760"/>
          </a:xfrm>
          <a:prstGeom prst="rect">
            <a:avLst/>
          </a:prstGeom>
          <a:noFill/>
        </p:spPr>
        <p:txBody>
          <a:bodyPr wrap="square">
            <a:spAutoFit/>
          </a:bodyPr>
          <a:lstStyle/>
          <a:p>
            <a:pPr>
              <a:defRPr sz="1500" b="1">
                <a:solidFill>
                  <a:srgbClr val="142B4C"/>
                </a:solidFill>
              </a:defRPr>
            </a:pPr>
            <a:r>
              <a:t>THE DUAL-SHIELD AI OPERATING MODEL</a:t>
            </a:r>
          </a:p>
        </p:txBody>
      </p:sp>
      <p:sp>
        <p:nvSpPr>
          <p:cNvPr id="12" name="TextBox 11"/>
          <p:cNvSpPr txBox="1"/>
          <p:nvPr/>
        </p:nvSpPr>
        <p:spPr>
          <a:xfrm>
            <a:off x="960120" y="2148840"/>
            <a:ext cx="4754880" cy="3749039"/>
          </a:xfrm>
          <a:prstGeom prst="rect">
            <a:avLst/>
          </a:prstGeom>
          <a:noFill/>
        </p:spPr>
        <p:txBody>
          <a:bodyPr wrap="square">
            <a:spAutoFit/>
          </a:bodyPr>
          <a:lstStyle/>
          <a:p>
            <a:pPr>
              <a:spcBef>
                <a:spcPts val="1000"/>
              </a:spcBef>
              <a:defRPr sz="1200">
                <a:solidFill>
                  <a:srgbClr val="0F172A"/>
                </a:solidFill>
              </a:defRPr>
            </a:pPr>
            <a:r>
              <a:t>🛡️ Shield 1: Inbound Vendor Governance (Meridian)</a:t>
            </a:r>
            <a:br/>
            <a:r>
              <a:t>Automated OSINT profiling inspects whether partners introduce unvetted models into bank data flows. Enforces contractual safeguards, audit rights, and TPRC escalation.</a:t>
            </a:r>
          </a:p>
          <a:p>
            <a:pPr>
              <a:spcBef>
                <a:spcPts val="1000"/>
              </a:spcBef>
              <a:defRPr sz="1200">
                <a:solidFill>
                  <a:srgbClr val="0F172A"/>
                </a:solidFill>
              </a:defRPr>
            </a:pPr>
            <a:r>
              <a:t>🛡️ Shield 2: Outbound Data Sanitization (Cadence)</a:t>
            </a:r>
            <a:br/>
            <a:r>
              <a:t>Local pre-LLM redaction firewall strips sensitive PII, customer account numbers, and employee credentials before internal agents ingest organizational artifacts.</a:t>
            </a:r>
          </a:p>
          <a:p>
            <a:pPr>
              <a:spcBef>
                <a:spcPts val="1000"/>
              </a:spcBef>
              <a:defRPr sz="1200">
                <a:solidFill>
                  <a:srgbClr val="0F172A"/>
                </a:solidFill>
              </a:defRPr>
            </a:pPr>
            <a:r>
              <a:t>🛡️ Defense-in-Depth AI Architecture:</a:t>
            </a:r>
            <a:br/>
            <a:r>
              <a:t>Together, these two capabilities provide end-to-end protection: knowing where AI touches your data externally, and preventing confidential data from leaking internally.</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493776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83080"/>
            <a:ext cx="4754880" cy="365760"/>
          </a:xfrm>
          <a:prstGeom prst="rect">
            <a:avLst/>
          </a:prstGeom>
          <a:noFill/>
        </p:spPr>
        <p:txBody>
          <a:bodyPr wrap="square">
            <a:spAutoFit/>
          </a:bodyPr>
          <a:lstStyle/>
          <a:p>
            <a:pPr>
              <a:defRPr sz="1500" b="1">
                <a:solidFill>
                  <a:srgbClr val="ED6B2D"/>
                </a:solidFill>
              </a:defRPr>
            </a:pPr>
            <a:r>
              <a:t>RECOMMENDED 90-DAY ROLLOUT ROADMAP</a:t>
            </a:r>
          </a:p>
        </p:txBody>
      </p:sp>
      <p:sp>
        <p:nvSpPr>
          <p:cNvPr id="16" name="TextBox 15"/>
          <p:cNvSpPr txBox="1"/>
          <p:nvPr/>
        </p:nvSpPr>
        <p:spPr>
          <a:xfrm>
            <a:off x="6446520" y="2148840"/>
            <a:ext cx="4754880" cy="3749039"/>
          </a:xfrm>
          <a:prstGeom prst="rect">
            <a:avLst/>
          </a:prstGeom>
          <a:noFill/>
        </p:spPr>
        <p:txBody>
          <a:bodyPr wrap="square">
            <a:spAutoFit/>
          </a:bodyPr>
          <a:lstStyle/>
          <a:p>
            <a:pPr>
              <a:spcBef>
                <a:spcPts val="1000"/>
              </a:spcBef>
              <a:defRPr sz="1200">
                <a:solidFill>
                  <a:srgbClr val="0F172A"/>
                </a:solidFill>
              </a:defRPr>
            </a:pPr>
            <a:r>
              <a:t>🗓️ Days 1–30: Vendor Baseline &amp; Questionnaires</a:t>
            </a:r>
            <a:br/>
            <a:r>
              <a:t>Deploy OSINT tool across Tier 1 vendor portfolio; issue targeted 15-day questionnaires to Fiserv, BNY, and AutomWorx; populate AI sub-processor register.</a:t>
            </a:r>
          </a:p>
          <a:p>
            <a:pPr>
              <a:spcBef>
                <a:spcPts val="1000"/>
              </a:spcBef>
              <a:defRPr sz="1200">
                <a:solidFill>
                  <a:srgbClr val="0F172A"/>
                </a:solidFill>
              </a:defRPr>
            </a:pPr>
            <a:r>
              <a:t>🗓️ Days 31–60: Pre-LLM Redaction Gateway</a:t>
            </a:r>
            <a:br/>
            <a:r>
              <a:t>Integrate local PII redaction pipeline as a mandatory middleware proxy in front of Cadence's enterprise LLM document analysis agents.</a:t>
            </a:r>
          </a:p>
          <a:p>
            <a:pPr>
              <a:spcBef>
                <a:spcPts val="1000"/>
              </a:spcBef>
              <a:defRPr sz="1200">
                <a:solidFill>
                  <a:srgbClr val="0F172A"/>
                </a:solidFill>
              </a:defRPr>
            </a:pPr>
            <a:r>
              <a:t>🗓️ Days 61–90: Continuous Governance &amp; Audit</a:t>
            </a:r>
            <a:br/>
            <a:r>
              <a:t>Establish automated quarterly OSINT re-crawls, integrate token vault audits with Enterprise TPRM, and present finalized risk posture to the Board.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20040"/>
            <a:ext cx="7315200" cy="274320"/>
          </a:xfrm>
          <a:prstGeom prst="rect">
            <a:avLst/>
          </a:prstGeom>
          <a:noFill/>
        </p:spPr>
        <p:txBody>
          <a:bodyPr wrap="square">
            <a:spAutoFit/>
          </a:bodyPr>
          <a:lstStyle/>
          <a:p>
            <a:pPr>
              <a:defRPr sz="1000" b="1">
                <a:solidFill>
                  <a:srgbClr val="ED6B2D"/>
                </a:solidFill>
              </a:defRPr>
            </a:pPr>
            <a:r>
              <a:t>DISCUSSION &amp; NEXT STEPS  |  OPTIV CONSULTING</a:t>
            </a:r>
          </a:p>
        </p:txBody>
      </p:sp>
      <p:sp>
        <p:nvSpPr>
          <p:cNvPr id="5" name="TextBox 4"/>
          <p:cNvSpPr txBox="1"/>
          <p:nvPr/>
        </p:nvSpPr>
        <p:spPr>
          <a:xfrm>
            <a:off x="8686800" y="320040"/>
            <a:ext cx="2743200" cy="274320"/>
          </a:xfrm>
          <a:prstGeom prst="rect">
            <a:avLst/>
          </a:prstGeom>
          <a:noFill/>
        </p:spPr>
        <p:txBody>
          <a:bodyPr wrap="none">
            <a:spAutoFit/>
          </a:bodyPr>
          <a:lstStyle/>
          <a:p>
            <a:pPr algn="r">
              <a:defRPr sz="1200" b="1">
                <a:solidFill>
                  <a:srgbClr val="FFFFFF"/>
                </a:solidFill>
              </a:defRPr>
            </a:pPr>
            <a:r>
              <a:t>Optiv Consulting</a:t>
            </a:r>
          </a:p>
        </p:txBody>
      </p:sp>
      <p:sp>
        <p:nvSpPr>
          <p:cNvPr id="6" name="TextBox 5"/>
          <p:cNvSpPr txBox="1"/>
          <p:nvPr/>
        </p:nvSpPr>
        <p:spPr>
          <a:xfrm>
            <a:off x="731520" y="6446520"/>
            <a:ext cx="10698480" cy="274320"/>
          </a:xfrm>
          <a:prstGeom prst="rect">
            <a:avLst/>
          </a:prstGeom>
          <a:noFill/>
        </p:spPr>
        <p:txBody>
          <a:bodyPr wrap="none">
            <a:spAutoFit/>
          </a:bodyPr>
          <a:lstStyle/>
          <a:p>
            <a:pPr>
              <a:defRPr sz="900">
                <a:solidFill>
                  <a:srgbClr val="94A3B8"/>
                </a:solidFill>
              </a:defRPr>
            </a:pPr>
            <a:r>
              <a:t>Confidential  |  Prepared for Stakeholder Review  |  September 2026</a:t>
            </a:r>
          </a:p>
        </p:txBody>
      </p:sp>
      <p:sp>
        <p:nvSpPr>
          <p:cNvPr id="7" name="TextBox 6"/>
          <p:cNvSpPr txBox="1"/>
          <p:nvPr/>
        </p:nvSpPr>
        <p:spPr>
          <a:xfrm>
            <a:off x="731520" y="1645920"/>
            <a:ext cx="10698480" cy="4389120"/>
          </a:xfrm>
          <a:prstGeom prst="rect">
            <a:avLst/>
          </a:prstGeom>
          <a:noFill/>
        </p:spPr>
        <p:txBody>
          <a:bodyPr wrap="square">
            <a:spAutoFit/>
          </a:bodyPr>
          <a:lstStyle/>
          <a:p>
            <a:pPr>
              <a:defRPr sz="3600" b="1">
                <a:solidFill>
                  <a:srgbClr val="ED6B2D"/>
                </a:solidFill>
              </a:defRPr>
            </a:pPr>
            <a:r>
              <a:t>Discussion &amp; Questions</a:t>
            </a:r>
          </a:p>
          <a:p>
            <a:pPr>
              <a:spcBef>
                <a:spcPts val="2000"/>
              </a:spcBef>
              <a:defRPr sz="1600">
                <a:solidFill>
                  <a:srgbClr val="E2E8F0"/>
                </a:solidFill>
              </a:defRPr>
            </a:pPr>
            <a:r>
              <a:t>Thank you for your time. We invite stakeholder feedback and questions on:</a:t>
            </a:r>
            <a:br/>
            <a:br/>
            <a:r>
              <a:t>1. Vendor AI Scoring Thresholds &amp; 15-Day Questionnaire Prioritization for Meridian Financial</a:t>
            </a:r>
            <a:br/>
            <a:r>
              <a:t>2. Token Vault Security &amp; ORG_CONTACT Redaction Policy Configuration for Cadence Financial Group</a:t>
            </a:r>
            <a:br/>
            <a:r>
              <a:t>3. Integration Pathways into Existing GRC &amp; Third-Party Risk Management Workflows</a:t>
            </a:r>
            <a:br/>
            <a:br/>
          </a:p>
        </p:txBody>
      </p:sp>
      <p:sp>
        <p:nvSpPr>
          <p:cNvPr id="8" name="Rounded Rectangle 7"/>
          <p:cNvSpPr/>
          <p:nvPr/>
        </p:nvSpPr>
        <p:spPr>
          <a:xfrm>
            <a:off x="731520" y="4389120"/>
            <a:ext cx="10698480" cy="1463040"/>
          </a:xfrm>
          <a:prstGeom prst="roundRect">
            <a:avLst/>
          </a:prstGeom>
          <a:solidFill>
            <a:srgbClr val="1122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572000"/>
            <a:ext cx="10149840" cy="1097280"/>
          </a:xfrm>
          <a:prstGeom prst="rect">
            <a:avLst/>
          </a:prstGeom>
          <a:noFill/>
        </p:spPr>
        <p:txBody>
          <a:bodyPr wrap="square">
            <a:spAutoFit/>
          </a:bodyPr>
          <a:lstStyle/>
          <a:p>
            <a:pPr>
              <a:defRPr sz="1400" b="1">
                <a:solidFill>
                  <a:srgbClr val="ED6B2D"/>
                </a:solidFill>
              </a:defRPr>
            </a:pPr>
            <a:r>
              <a:t>OPTIV CONSULTING  •  CYBER STRATEGY ENGAGEMENT TEAM</a:t>
            </a:r>
          </a:p>
          <a:p>
            <a:pPr>
              <a:spcBef>
                <a:spcPts val="800"/>
              </a:spcBef>
              <a:defRPr sz="1300">
                <a:solidFill>
                  <a:srgbClr val="CBD5E1"/>
                </a:solidFill>
              </a:defRPr>
            </a:pPr>
            <a:r>
              <a:t>Deliverables: Meridian_Vendor_Output.xlsx  |  Cadence Redaction Engine  |  Streamlit Demonstration Apps</a:t>
            </a:r>
            <a:br/>
            <a:r>
              <a:t>Contact: optiv-strategy-team@optiv.com  |  Confidential  |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