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My name is Aiman Dhanani (Reg No: 24BYB0033). Today I am presenting our end-to-end deliverable for Case Study 1: Vendor AI Usage Analysis. We were engaged by Meridian Financial to build a repeatable, evidence-driven capability that inspects third-party vendors' public footprints to determine whether they genuinely deploy Artificial Intelligence in the services provided to Meridian.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executive summary. Meridian Financial handles 1.4 million customers and critical payment flows. Our mission was to cut through vendor marketing buzz and establish whether AI is genuinely used in the services Meridian buys. We delivered a complete pipeline that classifies all 6 vendors with 100%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problem statement from Slide 3 of the prompt. We operated under strict ethical rules: no vendor contact, no bypassing paywalls. We also distinguished between marketing hype and true service-level usage, and enforced strict substring matching so every finding is backed by stored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5-pillar roles and responsibilities framework directly reflecting Slide 4 of the briefing document. We systematically tackled each responsibility: scoring criticality, setting proportionate depth, identifying OSINT tiers, building the software capability, and surfacing tangible operational risks to Meridian.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1: Here is our Functional Design Diagram showing data progression. Every module is decoupled. M1 parses the input offline; M2 crawls and caches snapshots; M3 runs keyword filtering and LLM classification; M4 computes the weighted risk score; M5 populates the final workbook and drives the Streamlit demo.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2: Here is the detailed system architecture. We show the exact Python modules: criticality.py, collectors.py, classify.py, and risk_export.py. The Quote Guard is highlighted in the center: it sits between the LLM output and the aggregation engine to guarantee zero hallucinated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3: Source strategy and evidentiary weighting logic. A large company almost certainly uses AI somewhere (like internal HR). Our service-linkage multiplier (1.5x vs 0.5x) ensures we only convict a vendor if AI touches the actual product Meridian buys. And our Quote Guard eliminates LLM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4: Our criticality scoring engine lives in config/rubric.yaml. It is deterministic: another analyst evaluating the same vendor arrives at the exact same score. The depth policy dictates how far we crawl based on criticality, ensuring we don't over-investigate low-risk vendors.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scorecard for Meridian's 6 vendors. Notice how the rubric behaved: Fiserv and The Clearing House are Critical due to systemic importance; FSSI and BNY are High; Terrapin is Medium; and AutomWorx is Low despite holding credentials due to the +1 modifier.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Outcome 5: This is our core finding matrix. We eliminated excess ambiguity: exactly ONE vendor is Inconclusive (Terrapin), which is driven by genuine bot-blocking. Fiserv, BNY, and AutomWorx are confirmed 'Yes'; FSSI and The Clearing House are confirmed 'No'. This demonstrates that our tool delivers clear answers while refusing to guess when public footprints are unfindable.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risk surfacing step. We translate technical AI signals into four enterprise risks: data exposure, shadow sub-processors, credential leakage, and contractual voids. We back this with a concrete 15-day questionnaire playbook and 30-day escalation to the Risk Committee.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demonstration: Our Streamlit app is live on localhost:8501. It loads pre-computed results instantly, making it ideal for executive presentations. The final Excel workbook has all columns populated, with columns B-K untouched, and includes a 132-row Evidence Log sheet.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slide: We transition Meridian from a one-off audit to continuous governance. Over 90 days, we triage immediate questionnaire findings, remediate contract clauses, and establish quarterly automated crawls.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everyone. I am now open for any questions or deep-dives into our scoring rubric, the Quote Guard implementation, or the live Streamlit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ED6B2D"/>
                </a:solidFill>
              </a:defRPr>
            </a:pPr>
            <a:r>
              <a:t>CONFIDENTIAL  |  OPTIV CONSULTING  |  CYBER STRATEGY</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FFFFFF"/>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1325880"/>
            <a:ext cx="10728655" cy="320040"/>
          </a:xfrm>
          <a:prstGeom prst="rect">
            <a:avLst/>
          </a:prstGeom>
          <a:noFill/>
        </p:spPr>
        <p:txBody>
          <a:bodyPr wrap="none" lIns="0" tIns="0" rIns="0" bIns="0">
            <a:spAutoFit/>
          </a:bodyPr>
          <a:lstStyle/>
          <a:p>
            <a:pPr>
              <a:defRPr sz="1300" b="1">
                <a:solidFill>
                  <a:srgbClr val="ED6B2D"/>
                </a:solidFill>
              </a:defRPr>
            </a:pPr>
            <a:r>
              <a:t>CASE STUDY 01  •  FINAL EXECUTIVE DELIVERABLE</a:t>
            </a:r>
          </a:p>
        </p:txBody>
      </p:sp>
      <p:sp>
        <p:nvSpPr>
          <p:cNvPr id="8" name="TextBox 7"/>
          <p:cNvSpPr txBox="1"/>
          <p:nvPr/>
        </p:nvSpPr>
        <p:spPr>
          <a:xfrm>
            <a:off x="731520" y="1737360"/>
            <a:ext cx="10728655" cy="685800"/>
          </a:xfrm>
          <a:prstGeom prst="rect">
            <a:avLst/>
          </a:prstGeom>
          <a:noFill/>
        </p:spPr>
        <p:txBody>
          <a:bodyPr wrap="none" lIns="0" tIns="0" rIns="0" bIns="0">
            <a:spAutoFit/>
          </a:bodyPr>
          <a:lstStyle/>
          <a:p>
            <a:pPr>
              <a:defRPr sz="4000" b="1">
                <a:solidFill>
                  <a:srgbClr val="FFFFFF"/>
                </a:solidFill>
              </a:defRPr>
            </a:pPr>
            <a:r>
              <a:t>Vendor AI Usage Analysis</a:t>
            </a:r>
          </a:p>
        </p:txBody>
      </p:sp>
      <p:sp>
        <p:nvSpPr>
          <p:cNvPr id="9" name="Rectangle 8"/>
          <p:cNvSpPr/>
          <p:nvPr/>
        </p:nvSpPr>
        <p:spPr>
          <a:xfrm>
            <a:off x="731520" y="2542032"/>
            <a:ext cx="2011680"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761488"/>
            <a:ext cx="10728655" cy="502920"/>
          </a:xfrm>
          <a:prstGeom prst="rect">
            <a:avLst/>
          </a:prstGeom>
          <a:noFill/>
        </p:spPr>
        <p:txBody>
          <a:bodyPr wrap="square" lIns="0" tIns="0" rIns="0" bIns="0">
            <a:spAutoFit/>
          </a:bodyPr>
          <a:lstStyle/>
          <a:p>
            <a:pPr>
              <a:defRPr sz="1700">
                <a:solidFill>
                  <a:srgbClr val="E2E8F0"/>
                </a:solidFill>
              </a:defRPr>
            </a:pPr>
            <a:r>
              <a:t>An Evidence-Driven OSINT Methodology &amp; Security Risk Engine for Third-Party AI Due Diligence</a:t>
            </a:r>
          </a:p>
        </p:txBody>
      </p:sp>
      <p:sp>
        <p:nvSpPr>
          <p:cNvPr id="11" name="Rectangle 10"/>
          <p:cNvSpPr/>
          <p:nvPr/>
        </p:nvSpPr>
        <p:spPr>
          <a:xfrm>
            <a:off x="731520" y="3611880"/>
            <a:ext cx="10728655" cy="2514600"/>
          </a:xfrm>
          <a:prstGeom prst="rect">
            <a:avLst/>
          </a:prstGeom>
          <a:solidFill>
            <a:srgbClr val="112240"/>
          </a:solidFill>
          <a:ln w="19050">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611880"/>
            <a:ext cx="10728655"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840480"/>
            <a:ext cx="10058400" cy="2148840"/>
          </a:xfrm>
          <a:prstGeom prst="rect">
            <a:avLst/>
          </a:prstGeom>
          <a:noFill/>
        </p:spPr>
        <p:txBody>
          <a:bodyPr wrap="square" lIns="0" tIns="0" rIns="0" bIns="0">
            <a:spAutoFit/>
          </a:bodyPr>
          <a:lstStyle/>
          <a:p>
            <a:pPr>
              <a:defRPr sz="1150" b="1">
                <a:solidFill>
                  <a:srgbClr val="ED6B2D"/>
                </a:solidFill>
              </a:defRPr>
            </a:pPr>
            <a:r>
              <a:t>PRESENTER &amp; ENGAGEMENT METADATA</a:t>
            </a:r>
          </a:p>
          <a:p>
            <a:pPr>
              <a:spcBef>
                <a:spcPts val="600"/>
              </a:spcBef>
              <a:defRPr sz="1550" b="1">
                <a:solidFill>
                  <a:srgbClr val="FFFFFF"/>
                </a:solidFill>
              </a:defRPr>
            </a:pPr>
            <a:r>
              <a:t>• Presenter: Aiman Dhanani  |  Registration Number: 24BYB0033</a:t>
            </a:r>
          </a:p>
          <a:p>
            <a:pPr>
              <a:spcBef>
                <a:spcPts val="400"/>
              </a:spcBef>
              <a:defRPr sz="1150">
                <a:solidFill>
                  <a:srgbClr val="CBD5E1"/>
                </a:solidFill>
              </a:defRPr>
            </a:pPr>
            <a:r>
              <a:t>• Institution: VIT  |  Optiv Consulting Cyber Strategy Campus Engagement</a:t>
            </a:r>
            <a:br/>
            <a:r>
              <a:t>• Client Engagement: Meridian Financial Third-Party Risk Management (TPRM)</a:t>
            </a:r>
            <a:br/>
            <a:r>
              <a:t>• Core Deliverables: Meridian_Vendor_Output.xlsx, Interactive Streamlit UI, 18/18 Unit Tests</a:t>
            </a:r>
            <a:br/>
            <a:r>
              <a:t>• Source Code Repository: https://github.com/Aiman-D/optiv-case-study-1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Executive Summary &amp; Engagement Context</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Meridian Financial Third-Party Risk Assessment Initiative</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4809744" cy="292608"/>
          </a:xfrm>
          <a:prstGeom prst="rect">
            <a:avLst/>
          </a:prstGeom>
          <a:noFill/>
        </p:spPr>
        <p:txBody>
          <a:bodyPr wrap="square" lIns="0" tIns="0" rIns="0" bIns="0">
            <a:spAutoFit/>
          </a:bodyPr>
          <a:lstStyle/>
          <a:p>
            <a:pPr>
              <a:defRPr sz="1200" b="1">
                <a:solidFill>
                  <a:srgbClr val="142B4C"/>
                </a:solidFill>
              </a:defRPr>
            </a:pPr>
            <a:r>
              <a:t>THE BUSINESS CONTEXT &amp; THREAT LANDSCAPE</a:t>
            </a:r>
          </a:p>
        </p:txBody>
      </p:sp>
      <p:sp>
        <p:nvSpPr>
          <p:cNvPr id="13" name="TextBox 12"/>
          <p:cNvSpPr txBox="1"/>
          <p:nvPr/>
        </p:nvSpPr>
        <p:spPr>
          <a:xfrm>
            <a:off x="960120" y="2029968"/>
            <a:ext cx="4754880" cy="4023360"/>
          </a:xfrm>
          <a:prstGeom prst="rect">
            <a:avLst/>
          </a:prstGeom>
          <a:noFill/>
        </p:spPr>
        <p:txBody>
          <a:bodyPr wrap="square" lIns="0" tIns="0" rIns="0" bIns="0">
            <a:spAutoFit/>
          </a:bodyPr>
          <a:lstStyle/>
          <a:p>
            <a:pPr>
              <a:spcBef>
                <a:spcPts val="600"/>
              </a:spcBef>
              <a:defRPr sz="1000">
                <a:solidFill>
                  <a:srgbClr val="0F172A"/>
                </a:solidFill>
              </a:defRPr>
            </a:pPr>
            <a:r>
              <a:t>▪ Client Profile: Meridian Financial is a global financial institution serving 1.4 million customers, handling critical payments, account balances, and wealth management portfolios.</a:t>
            </a:r>
          </a:p>
          <a:p>
            <a:pPr>
              <a:spcBef>
                <a:spcPts val="600"/>
              </a:spcBef>
              <a:defRPr sz="1000">
                <a:solidFill>
                  <a:srgbClr val="0F172A"/>
                </a:solidFill>
              </a:defRPr>
            </a:pPr>
            <a:r>
              <a:t>▪ The Estate: Meridian relies heavily on external vendors across core banking, automated workload scheduling, statement generation, payment settlement, and wealth reporting.</a:t>
            </a:r>
          </a:p>
          <a:p>
            <a:pPr>
              <a:spcBef>
                <a:spcPts val="600"/>
              </a:spcBef>
              <a:defRPr sz="1000">
                <a:solidFill>
                  <a:srgbClr val="0F172A"/>
                </a:solidFill>
              </a:defRPr>
            </a:pPr>
            <a:r>
              <a:t>▪ The Challenge: Commercial software vendors rapidly embed generative and predictive AI into their products without formal disclosures to enterprise clients.</a:t>
            </a:r>
          </a:p>
          <a:p>
            <a:pPr>
              <a:spcBef>
                <a:spcPts val="600"/>
              </a:spcBef>
              <a:defRPr sz="1000">
                <a:solidFill>
                  <a:srgbClr val="0F172A"/>
                </a:solidFill>
              </a:defRPr>
            </a:pPr>
            <a:r>
              <a:t>▪ The Threat: If a vendor feeds customer data or transaction streams into unvetted AI models, Meridian incurs severe regulatory, data leakage, and contractual compliance liabilities.</a:t>
            </a:r>
          </a:p>
          <a:p>
            <a:pPr>
              <a:spcBef>
                <a:spcPts val="600"/>
              </a:spcBef>
              <a:defRPr sz="1000">
                <a:solidFill>
                  <a:srgbClr val="0F172A"/>
                </a:solidFill>
              </a:defRPr>
            </a:pPr>
            <a:r>
              <a:t>▪ The Optiv Mandate: Design an automated, reproducible method to inspect vendors' public footprints and determine true service-level AI usage.</a:t>
            </a:r>
          </a:p>
        </p:txBody>
      </p:sp>
      <p:sp>
        <p:nvSpPr>
          <p:cNvPr id="14" name="Rectangle 13"/>
          <p:cNvSpPr/>
          <p:nvPr/>
        </p:nvSpPr>
        <p:spPr>
          <a:xfrm>
            <a:off x="6248095"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095"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9263" y="1673351"/>
            <a:ext cx="4809744" cy="292608"/>
          </a:xfrm>
          <a:prstGeom prst="rect">
            <a:avLst/>
          </a:prstGeom>
          <a:noFill/>
        </p:spPr>
        <p:txBody>
          <a:bodyPr wrap="square" lIns="0" tIns="0" rIns="0" bIns="0">
            <a:spAutoFit/>
          </a:bodyPr>
          <a:lstStyle/>
          <a:p>
            <a:pPr>
              <a:defRPr sz="1200" b="1">
                <a:solidFill>
                  <a:srgbClr val="ED6B2D"/>
                </a:solidFill>
              </a:defRPr>
            </a:pPr>
            <a:r>
              <a:t>THE OPTIV METHODOLOGY &amp; CORE DELIVERABLES</a:t>
            </a:r>
          </a:p>
        </p:txBody>
      </p:sp>
      <p:sp>
        <p:nvSpPr>
          <p:cNvPr id="17" name="TextBox 16"/>
          <p:cNvSpPr txBox="1"/>
          <p:nvPr/>
        </p:nvSpPr>
        <p:spPr>
          <a:xfrm>
            <a:off x="6473952" y="2029968"/>
            <a:ext cx="4754880" cy="4023360"/>
          </a:xfrm>
          <a:prstGeom prst="rect">
            <a:avLst/>
          </a:prstGeom>
          <a:noFill/>
        </p:spPr>
        <p:txBody>
          <a:bodyPr wrap="square" lIns="0" tIns="0" rIns="0" bIns="0">
            <a:spAutoFit/>
          </a:bodyPr>
          <a:lstStyle/>
          <a:p>
            <a:pPr>
              <a:spcBef>
                <a:spcPts val="600"/>
              </a:spcBef>
              <a:defRPr sz="1000">
                <a:solidFill>
                  <a:srgbClr val="0F172A"/>
                </a:solidFill>
              </a:defRPr>
            </a:pPr>
            <a:r>
              <a:t>▪ 100% OSINT-Driven: Zero vendor contact, zero scraping of authenticated portals, full adherence to robots.txt and polite 1.2s rate limits.</a:t>
            </a:r>
          </a:p>
          <a:p>
            <a:pPr>
              <a:spcBef>
                <a:spcPts val="600"/>
              </a:spcBef>
              <a:defRPr sz="1000">
                <a:solidFill>
                  <a:srgbClr val="0F172A"/>
                </a:solidFill>
              </a:defRPr>
            </a:pPr>
            <a:r>
              <a:t>▪ Deterministic Criticality Engine: Objective 0–3 scoring rubric across 5 dimensions, removing analyst bias and setting proportionate assessment depth.</a:t>
            </a:r>
          </a:p>
          <a:p>
            <a:pPr>
              <a:spcBef>
                <a:spcPts val="600"/>
              </a:spcBef>
              <a:defRPr sz="1000">
                <a:solidFill>
                  <a:srgbClr val="0F172A"/>
                </a:solidFill>
              </a:defRPr>
            </a:pPr>
            <a:r>
              <a:t>▪ Cryptographic Quote Guard: Enforces exact substring matching against immutable cached snapshots. Any hallucinated LLM claim is discarded immediately.</a:t>
            </a:r>
          </a:p>
          <a:p>
            <a:pPr>
              <a:spcBef>
                <a:spcPts val="600"/>
              </a:spcBef>
              <a:defRPr sz="1000">
                <a:solidFill>
                  <a:srgbClr val="0F172A"/>
                </a:solidFill>
              </a:defRPr>
            </a:pPr>
            <a:r>
              <a:t>▪ Definitive Classification: Resolved Meridian's 6 vendors down to 3 Confirmed Yes (Fiserv, BNY, AutomWorx), 2 Confirmed No (FSSI, TCH), and exactly 1 Inconclusive (Terrapin).</a:t>
            </a:r>
          </a:p>
          <a:p>
            <a:pPr>
              <a:spcBef>
                <a:spcPts val="600"/>
              </a:spcBef>
              <a:defRPr sz="1000">
                <a:solidFill>
                  <a:srgbClr val="0F172A"/>
                </a:solidFill>
              </a:defRPr>
            </a:pPr>
            <a:r>
              <a:t>▪ Client-Ready Deliverable: Preserved Columns B–K byte-for-byte; added 132-row Evidence Log sheet; deployed interactive Streamlit app in Presentation Mode.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Problem Statement: Reading the Public Footprint</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Navigating Ethical Boundaries, Marketing Noise, and Cryptographic Traceability</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3026664" cy="292608"/>
          </a:xfrm>
          <a:prstGeom prst="rect">
            <a:avLst/>
          </a:prstGeom>
          <a:noFill/>
        </p:spPr>
        <p:txBody>
          <a:bodyPr wrap="square" lIns="0" tIns="0" rIns="0" bIns="0">
            <a:spAutoFit/>
          </a:bodyPr>
          <a:lstStyle/>
          <a:p>
            <a:pPr>
              <a:defRPr sz="1200" b="1">
                <a:solidFill>
                  <a:srgbClr val="142B4C"/>
                </a:solidFill>
              </a:defRPr>
            </a:pPr>
            <a:r>
              <a:t>ETHICAL OSINT BOUNDARIES</a:t>
            </a:r>
          </a:p>
        </p:txBody>
      </p:sp>
      <p:sp>
        <p:nvSpPr>
          <p:cNvPr id="13" name="TextBox 12"/>
          <p:cNvSpPr txBox="1"/>
          <p:nvPr/>
        </p:nvSpPr>
        <p:spPr>
          <a:xfrm>
            <a:off x="932688" y="2029968"/>
            <a:ext cx="3026664" cy="4023360"/>
          </a:xfrm>
          <a:prstGeom prst="rect">
            <a:avLst/>
          </a:prstGeom>
          <a:noFill/>
        </p:spPr>
        <p:txBody>
          <a:bodyPr wrap="square" lIns="0" tIns="0" rIns="0" bIns="0">
            <a:spAutoFit/>
          </a:bodyPr>
          <a:lstStyle/>
          <a:p>
            <a:pPr>
              <a:spcBef>
                <a:spcPts val="600"/>
              </a:spcBef>
              <a:defRPr sz="1050" b="1">
                <a:solidFill>
                  <a:srgbClr val="142B4C"/>
                </a:solidFill>
              </a:defRPr>
            </a:pPr>
            <a:r>
              <a:t>▪ Strictly Public Footprint:</a:t>
            </a:r>
          </a:p>
          <a:p>
            <a:pPr>
              <a:spcBef>
                <a:spcPts val="200"/>
              </a:spcBef>
              <a:defRPr sz="950">
                <a:solidFill>
                  <a:srgbClr val="0F172A"/>
                </a:solidFill>
              </a:defRPr>
            </a:pPr>
            <a:r>
              <a:t>Analysis relies 100% on publicly accessible information: product docs, trust centers, job listings, and regulatory filings.</a:t>
            </a:r>
          </a:p>
          <a:p>
            <a:pPr>
              <a:spcBef>
                <a:spcPts val="600"/>
              </a:spcBef>
              <a:defRPr sz="1050" b="1">
                <a:solidFill>
                  <a:srgbClr val="142B4C"/>
                </a:solidFill>
              </a:defRPr>
            </a:pPr>
            <a:r>
              <a:t>▪ No Active Vendor Contact:</a:t>
            </a:r>
          </a:p>
          <a:p>
            <a:pPr>
              <a:spcBef>
                <a:spcPts val="200"/>
              </a:spcBef>
              <a:defRPr sz="950">
                <a:solidFill>
                  <a:srgbClr val="0F172A"/>
                </a:solidFill>
              </a:defRPr>
            </a:pPr>
            <a:r>
              <a:t>Zero vendor outreach or questionnaire distribution during discovery; eliminates early tipping-off or non-standard disclosures.</a:t>
            </a:r>
          </a:p>
          <a:p>
            <a:pPr>
              <a:spcBef>
                <a:spcPts val="600"/>
              </a:spcBef>
              <a:defRPr sz="1050" b="1">
                <a:solidFill>
                  <a:srgbClr val="142B4C"/>
                </a:solidFill>
              </a:defRPr>
            </a:pPr>
            <a:r>
              <a:t>▪ Robots.txt &amp; Rate Limiting:</a:t>
            </a:r>
          </a:p>
          <a:p>
            <a:pPr>
              <a:spcBef>
                <a:spcPts val="200"/>
              </a:spcBef>
              <a:defRPr sz="950">
                <a:solidFill>
                  <a:srgbClr val="0F172A"/>
                </a:solidFill>
              </a:defRPr>
            </a:pPr>
            <a:r>
              <a:t>Adheres to RFC 9309 standards; enforces a strict 1.2s delay between requests; never bypasses paywalls or CAPTCHAs.</a:t>
            </a:r>
          </a:p>
        </p:txBody>
      </p:sp>
      <p:sp>
        <p:nvSpPr>
          <p:cNvPr id="14" name="Rectangle 13"/>
          <p:cNvSpPr/>
          <p:nvPr/>
        </p:nvSpPr>
        <p:spPr>
          <a:xfrm>
            <a:off x="43891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1673351"/>
            <a:ext cx="3026664" cy="292608"/>
          </a:xfrm>
          <a:prstGeom prst="rect">
            <a:avLst/>
          </a:prstGeom>
          <a:noFill/>
        </p:spPr>
        <p:txBody>
          <a:bodyPr wrap="square" lIns="0" tIns="0" rIns="0" bIns="0">
            <a:spAutoFit/>
          </a:bodyPr>
          <a:lstStyle/>
          <a:p>
            <a:pPr>
              <a:defRPr sz="1200" b="1">
                <a:solidFill>
                  <a:srgbClr val="ED6B2D"/>
                </a:solidFill>
              </a:defRPr>
            </a:pPr>
            <a:r>
              <a:t>NOISE VS. SERVICE LINKAGE</a:t>
            </a:r>
          </a:p>
        </p:txBody>
      </p:sp>
      <p:sp>
        <p:nvSpPr>
          <p:cNvPr id="17" name="TextBox 16"/>
          <p:cNvSpPr txBox="1"/>
          <p:nvPr/>
        </p:nvSpPr>
        <p:spPr>
          <a:xfrm>
            <a:off x="4590288" y="2029968"/>
            <a:ext cx="3026664" cy="4023360"/>
          </a:xfrm>
          <a:prstGeom prst="rect">
            <a:avLst/>
          </a:prstGeom>
          <a:noFill/>
        </p:spPr>
        <p:txBody>
          <a:bodyPr wrap="square" lIns="0" tIns="0" rIns="0" bIns="0">
            <a:spAutoFit/>
          </a:bodyPr>
          <a:lstStyle/>
          <a:p>
            <a:pPr>
              <a:spcBef>
                <a:spcPts val="600"/>
              </a:spcBef>
              <a:defRPr sz="1050" b="1">
                <a:solidFill>
                  <a:srgbClr val="ED6B2D"/>
                </a:solidFill>
              </a:defRPr>
            </a:pPr>
            <a:r>
              <a:t>▪ Marketing Buzzword Clutter:</a:t>
            </a:r>
          </a:p>
          <a:p>
            <a:pPr>
              <a:spcBef>
                <a:spcPts val="200"/>
              </a:spcBef>
              <a:defRPr sz="950">
                <a:solidFill>
                  <a:srgbClr val="0F172A"/>
                </a:solidFill>
              </a:defRPr>
            </a:pPr>
            <a:r>
              <a:t>Vendors frequently publish speculative blog posts on 'AI Trends' without embedding AI into actual commercial deliverables.</a:t>
            </a:r>
          </a:p>
          <a:p>
            <a:pPr>
              <a:spcBef>
                <a:spcPts val="600"/>
              </a:spcBef>
              <a:defRPr sz="1050" b="1">
                <a:solidFill>
                  <a:srgbClr val="ED6B2D"/>
                </a:solidFill>
              </a:defRPr>
            </a:pPr>
            <a:r>
              <a:t>▪ Service-Linkage Requirement:</a:t>
            </a:r>
          </a:p>
          <a:p>
            <a:pPr>
              <a:spcBef>
                <a:spcPts val="200"/>
              </a:spcBef>
              <a:defRPr sz="950">
                <a:solidFill>
                  <a:srgbClr val="0F172A"/>
                </a:solidFill>
              </a:defRPr>
            </a:pPr>
            <a:r>
              <a:t>Evidence must specifically tie to the service Meridian purchases (e.g. DNA core banking) rather than company-wide HR tools.</a:t>
            </a:r>
          </a:p>
          <a:p>
            <a:pPr>
              <a:spcBef>
                <a:spcPts val="600"/>
              </a:spcBef>
              <a:defRPr sz="1050" b="1">
                <a:solidFill>
                  <a:srgbClr val="ED6B2D"/>
                </a:solidFill>
              </a:defRPr>
            </a:pPr>
            <a:r>
              <a:t>▪ Evidentiary Weight Hierarchy:</a:t>
            </a:r>
          </a:p>
          <a:p>
            <a:pPr>
              <a:spcBef>
                <a:spcPts val="200"/>
              </a:spcBef>
              <a:defRPr sz="950">
                <a:solidFill>
                  <a:srgbClr val="0F172A"/>
                </a:solidFill>
              </a:defRPr>
            </a:pPr>
            <a:r>
              <a:t>Direct technical documentation and sub-processor registers carry 4x the weight of generic executive interviews.</a:t>
            </a:r>
          </a:p>
        </p:txBody>
      </p:sp>
      <p:sp>
        <p:nvSpPr>
          <p:cNvPr id="18" name="Rectangle 17"/>
          <p:cNvSpPr/>
          <p:nvPr/>
        </p:nvSpPr>
        <p:spPr>
          <a:xfrm>
            <a:off x="80467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1673351"/>
            <a:ext cx="3026664" cy="292608"/>
          </a:xfrm>
          <a:prstGeom prst="rect">
            <a:avLst/>
          </a:prstGeom>
          <a:noFill/>
        </p:spPr>
        <p:txBody>
          <a:bodyPr wrap="square" lIns="0" tIns="0" rIns="0" bIns="0">
            <a:spAutoFit/>
          </a:bodyPr>
          <a:lstStyle/>
          <a:p>
            <a:pPr>
              <a:defRPr sz="1200" b="1">
                <a:solidFill>
                  <a:srgbClr val="142B4C"/>
                </a:solidFill>
              </a:defRPr>
            </a:pPr>
            <a:r>
              <a:t>TRACEABILITY &amp; INTEGRITY</a:t>
            </a:r>
          </a:p>
        </p:txBody>
      </p:sp>
      <p:sp>
        <p:nvSpPr>
          <p:cNvPr id="21" name="TextBox 20"/>
          <p:cNvSpPr txBox="1"/>
          <p:nvPr/>
        </p:nvSpPr>
        <p:spPr>
          <a:xfrm>
            <a:off x="8247888" y="2029968"/>
            <a:ext cx="3026664" cy="4023360"/>
          </a:xfrm>
          <a:prstGeom prst="rect">
            <a:avLst/>
          </a:prstGeom>
          <a:noFill/>
        </p:spPr>
        <p:txBody>
          <a:bodyPr wrap="square" lIns="0" tIns="0" rIns="0" bIns="0">
            <a:spAutoFit/>
          </a:bodyPr>
          <a:lstStyle/>
          <a:p>
            <a:pPr>
              <a:spcBef>
                <a:spcPts val="600"/>
              </a:spcBef>
              <a:defRPr sz="1050" b="1">
                <a:solidFill>
                  <a:srgbClr val="142B4C"/>
                </a:solidFill>
              </a:defRPr>
            </a:pPr>
            <a:r>
              <a:t>▪ Immutable Snapshot Store:</a:t>
            </a:r>
          </a:p>
          <a:p>
            <a:pPr>
              <a:spcBef>
                <a:spcPts val="200"/>
              </a:spcBef>
              <a:defRPr sz="950">
                <a:solidFill>
                  <a:srgbClr val="0F172A"/>
                </a:solidFill>
              </a:defRPr>
            </a:pPr>
            <a:r>
              <a:t>Every single claim traces to a local snapshot with URL, ISO-8601 retrieval timestamp, and SHA-256 cryptographic hash.</a:t>
            </a:r>
          </a:p>
          <a:p>
            <a:pPr>
              <a:spcBef>
                <a:spcPts val="600"/>
              </a:spcBef>
              <a:defRPr sz="1050" b="1">
                <a:solidFill>
                  <a:srgbClr val="142B4C"/>
                </a:solidFill>
              </a:defRPr>
            </a:pPr>
            <a:r>
              <a:t>▪ Quote Guard Substring Check:</a:t>
            </a:r>
          </a:p>
          <a:p>
            <a:pPr>
              <a:spcBef>
                <a:spcPts val="200"/>
              </a:spcBef>
              <a:defRPr sz="950">
                <a:solidFill>
                  <a:srgbClr val="0F172A"/>
                </a:solidFill>
              </a:defRPr>
            </a:pPr>
            <a:r>
              <a:t>Candidate quotes extracted by the LLM are validated against the raw text. Non-verbatim claims are marked INVALID_QUOTE.</a:t>
            </a:r>
          </a:p>
          <a:p>
            <a:pPr>
              <a:spcBef>
                <a:spcPts val="600"/>
              </a:spcBef>
              <a:defRPr sz="1050" b="1">
                <a:solidFill>
                  <a:srgbClr val="142B4C"/>
                </a:solidFill>
              </a:defRPr>
            </a:pPr>
            <a:r>
              <a:t>▪ Coverage Gap Accounting:</a:t>
            </a:r>
          </a:p>
          <a:p>
            <a:pPr>
              <a:spcBef>
                <a:spcPts val="200"/>
              </a:spcBef>
              <a:defRPr sz="950">
                <a:solidFill>
                  <a:srgbClr val="0F172A"/>
                </a:solidFill>
              </a:defRPr>
            </a:pPr>
            <a:r>
              <a:t>Unreachable sites or bot-blocked pages are logged as COVERAGE-GAP—never falsely reported as 'No' AI usage.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Roles &amp; Responsibilities: 5-Pillar Architecture</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The Structured Methodology Answering the Core Engagement Prompts</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20574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20574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1655064" cy="292608"/>
          </a:xfrm>
          <a:prstGeom prst="rect">
            <a:avLst/>
          </a:prstGeom>
          <a:noFill/>
        </p:spPr>
        <p:txBody>
          <a:bodyPr wrap="square" lIns="0" tIns="0" rIns="0" bIns="0">
            <a:spAutoFit/>
          </a:bodyPr>
          <a:lstStyle/>
          <a:p>
            <a:pPr>
              <a:defRPr sz="1200" b="1">
                <a:solidFill>
                  <a:srgbClr val="142B4C"/>
                </a:solidFill>
              </a:defRPr>
            </a:pPr>
            <a:r>
              <a:t>PILLAR 01</a:t>
            </a:r>
          </a:p>
        </p:txBody>
      </p:sp>
      <p:sp>
        <p:nvSpPr>
          <p:cNvPr id="13" name="TextBox 12"/>
          <p:cNvSpPr txBox="1"/>
          <p:nvPr/>
        </p:nvSpPr>
        <p:spPr>
          <a:xfrm>
            <a:off x="877824" y="2029968"/>
            <a:ext cx="1764792" cy="4069080"/>
          </a:xfrm>
          <a:prstGeom prst="rect">
            <a:avLst/>
          </a:prstGeom>
          <a:noFill/>
        </p:spPr>
        <p:txBody>
          <a:bodyPr wrap="square" lIns="0" tIns="0" rIns="0" bIns="0">
            <a:spAutoFit/>
          </a:bodyPr>
          <a:lstStyle/>
          <a:p>
            <a:pPr>
              <a:defRPr sz="1100" b="1">
                <a:solidFill>
                  <a:srgbClr val="142B4C"/>
                </a:solidFill>
              </a:defRPr>
            </a:pPr>
            <a:r>
              <a:t>DETERMINE CRITICALITY</a:t>
            </a:r>
          </a:p>
          <a:p>
            <a:pPr>
              <a:spcBef>
                <a:spcPts val="600"/>
              </a:spcBef>
              <a:defRPr sz="950" b="1">
                <a:solidFill>
                  <a:srgbClr val="142B4C"/>
                </a:solidFill>
              </a:defRPr>
            </a:pPr>
            <a:r>
              <a:t>▪ Core Mandate:</a:t>
            </a:r>
          </a:p>
          <a:p>
            <a:pPr>
              <a:spcBef>
                <a:spcPts val="200"/>
              </a:spcBef>
              <a:defRPr sz="850">
                <a:solidFill>
                  <a:srgbClr val="0F172A"/>
                </a:solidFill>
              </a:defRPr>
            </a:pPr>
            <a:r>
              <a:t>Judge how critical each vendor is from the profile provided, establishing objective, explainable criteria.</a:t>
            </a:r>
          </a:p>
          <a:p>
            <a:pPr>
              <a:spcBef>
                <a:spcPts val="600"/>
              </a:spcBef>
              <a:defRPr sz="950" b="1">
                <a:solidFill>
                  <a:srgbClr val="142B4C"/>
                </a:solidFill>
              </a:defRPr>
            </a:pPr>
            <a:r>
              <a:t>▪ Evaluation Anchors:</a:t>
            </a:r>
          </a:p>
          <a:p>
            <a:pPr>
              <a:spcBef>
                <a:spcPts val="200"/>
              </a:spcBef>
              <a:defRPr sz="850">
                <a:solidFill>
                  <a:srgbClr val="0F172A"/>
                </a:solidFill>
              </a:defRPr>
            </a:pPr>
            <a:r>
              <a:t>5 anchored dimensions (0–3 scale): Data sensitivity, payment-flow involvement, regulatory exposure, operational dependency, data volume.</a:t>
            </a:r>
          </a:p>
          <a:p>
            <a:pPr>
              <a:spcBef>
                <a:spcPts val="600"/>
              </a:spcBef>
              <a:defRPr sz="950" b="1">
                <a:solidFill>
                  <a:srgbClr val="142B4C"/>
                </a:solidFill>
              </a:defRPr>
            </a:pPr>
            <a:r>
              <a:t>▪ Floor &amp; Modifiers:</a:t>
            </a:r>
          </a:p>
          <a:p>
            <a:pPr>
              <a:spcBef>
                <a:spcPts val="200"/>
              </a:spcBef>
              <a:defRPr sz="850">
                <a:solidFill>
                  <a:srgbClr val="0F172A"/>
                </a:solidFill>
              </a:defRPr>
            </a:pPr>
            <a:r>
              <a:t>Applies privileged access modifiers (+1) and customer master floor rules to ensure reproducible ratings across analysts.</a:t>
            </a:r>
          </a:p>
        </p:txBody>
      </p:sp>
      <p:sp>
        <p:nvSpPr>
          <p:cNvPr id="14" name="Rectangle 13"/>
          <p:cNvSpPr/>
          <p:nvPr/>
        </p:nvSpPr>
        <p:spPr>
          <a:xfrm>
            <a:off x="2916936" y="1536192"/>
            <a:ext cx="20574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16936" y="1536192"/>
            <a:ext cx="20574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18104" y="1673351"/>
            <a:ext cx="1655064" cy="292608"/>
          </a:xfrm>
          <a:prstGeom prst="rect">
            <a:avLst/>
          </a:prstGeom>
          <a:noFill/>
        </p:spPr>
        <p:txBody>
          <a:bodyPr wrap="square" lIns="0" tIns="0" rIns="0" bIns="0">
            <a:spAutoFit/>
          </a:bodyPr>
          <a:lstStyle/>
          <a:p>
            <a:pPr>
              <a:defRPr sz="1200" b="1">
                <a:solidFill>
                  <a:srgbClr val="ED6B2D"/>
                </a:solidFill>
              </a:defRPr>
            </a:pPr>
            <a:r>
              <a:t>PILLAR 02</a:t>
            </a:r>
          </a:p>
        </p:txBody>
      </p:sp>
      <p:sp>
        <p:nvSpPr>
          <p:cNvPr id="17" name="TextBox 16"/>
          <p:cNvSpPr txBox="1"/>
          <p:nvPr/>
        </p:nvSpPr>
        <p:spPr>
          <a:xfrm>
            <a:off x="3063240" y="2029968"/>
            <a:ext cx="1764792" cy="4069080"/>
          </a:xfrm>
          <a:prstGeom prst="rect">
            <a:avLst/>
          </a:prstGeom>
          <a:noFill/>
        </p:spPr>
        <p:txBody>
          <a:bodyPr wrap="square" lIns="0" tIns="0" rIns="0" bIns="0">
            <a:spAutoFit/>
          </a:bodyPr>
          <a:lstStyle/>
          <a:p>
            <a:pPr>
              <a:defRPr sz="1100" b="1">
                <a:solidFill>
                  <a:srgbClr val="ED6B2D"/>
                </a:solidFill>
              </a:defRPr>
            </a:pPr>
            <a:r>
              <a:t>SET THE DEPTH</a:t>
            </a:r>
          </a:p>
          <a:p>
            <a:pPr>
              <a:spcBef>
                <a:spcPts val="600"/>
              </a:spcBef>
              <a:defRPr sz="950" b="1">
                <a:solidFill>
                  <a:srgbClr val="ED6B2D"/>
                </a:solidFill>
              </a:defRPr>
            </a:pPr>
            <a:r>
              <a:t>▪ Core Mandate:</a:t>
            </a:r>
          </a:p>
          <a:p>
            <a:pPr>
              <a:spcBef>
                <a:spcPts val="200"/>
              </a:spcBef>
              <a:defRPr sz="850">
                <a:solidFill>
                  <a:srgbClr val="0F172A"/>
                </a:solidFill>
              </a:defRPr>
            </a:pPr>
            <a:r>
              <a:t>Decide proportionate assessment depth warranted by criticality, optimizing investigative resources.</a:t>
            </a:r>
          </a:p>
          <a:p>
            <a:pPr>
              <a:spcBef>
                <a:spcPts val="600"/>
              </a:spcBef>
              <a:defRPr sz="950" b="1">
                <a:solidFill>
                  <a:srgbClr val="ED6B2D"/>
                </a:solidFill>
              </a:defRPr>
            </a:pPr>
            <a:r>
              <a:t>▪ Tier Policies:</a:t>
            </a:r>
          </a:p>
          <a:p>
            <a:pPr>
              <a:spcBef>
                <a:spcPts val="200"/>
              </a:spcBef>
              <a:defRPr sz="850">
                <a:solidFill>
                  <a:srgbClr val="0F172A"/>
                </a:solidFill>
              </a:defRPr>
            </a:pPr>
            <a:r>
              <a:t>Critical warrants a full sweep (docs, trust center, technical jobs, filings); Low warrants trust center/policy check only.</a:t>
            </a:r>
          </a:p>
          <a:p>
            <a:pPr>
              <a:spcBef>
                <a:spcPts val="600"/>
              </a:spcBef>
              <a:defRPr sz="950" b="1">
                <a:solidFill>
                  <a:srgbClr val="ED6B2D"/>
                </a:solidFill>
              </a:defRPr>
            </a:pPr>
            <a:r>
              <a:t>▪ Stop Conditions:</a:t>
            </a:r>
          </a:p>
          <a:p>
            <a:pPr>
              <a:spcBef>
                <a:spcPts val="200"/>
              </a:spcBef>
              <a:defRPr sz="850">
                <a:solidFill>
                  <a:srgbClr val="0F172A"/>
                </a:solidFill>
              </a:defRPr>
            </a:pPr>
            <a:r>
              <a:t>Crawl ceases once confirmed signals exist and model providers are identified or confirmed unfindable.</a:t>
            </a:r>
          </a:p>
        </p:txBody>
      </p:sp>
      <p:sp>
        <p:nvSpPr>
          <p:cNvPr id="18" name="Rectangle 17"/>
          <p:cNvSpPr/>
          <p:nvPr/>
        </p:nvSpPr>
        <p:spPr>
          <a:xfrm>
            <a:off x="5102352" y="1536192"/>
            <a:ext cx="20574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02352" y="1536192"/>
            <a:ext cx="20574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1673351"/>
            <a:ext cx="1655064" cy="292608"/>
          </a:xfrm>
          <a:prstGeom prst="rect">
            <a:avLst/>
          </a:prstGeom>
          <a:noFill/>
        </p:spPr>
        <p:txBody>
          <a:bodyPr wrap="square" lIns="0" tIns="0" rIns="0" bIns="0">
            <a:spAutoFit/>
          </a:bodyPr>
          <a:lstStyle/>
          <a:p>
            <a:pPr>
              <a:defRPr sz="1200" b="1">
                <a:solidFill>
                  <a:srgbClr val="142B4C"/>
                </a:solidFill>
              </a:defRPr>
            </a:pPr>
            <a:r>
              <a:t>PILLAR 03</a:t>
            </a:r>
          </a:p>
        </p:txBody>
      </p:sp>
      <p:sp>
        <p:nvSpPr>
          <p:cNvPr id="21" name="TextBox 20"/>
          <p:cNvSpPr txBox="1"/>
          <p:nvPr/>
        </p:nvSpPr>
        <p:spPr>
          <a:xfrm>
            <a:off x="5248656" y="2029968"/>
            <a:ext cx="1764792" cy="4069080"/>
          </a:xfrm>
          <a:prstGeom prst="rect">
            <a:avLst/>
          </a:prstGeom>
          <a:noFill/>
        </p:spPr>
        <p:txBody>
          <a:bodyPr wrap="square" lIns="0" tIns="0" rIns="0" bIns="0">
            <a:spAutoFit/>
          </a:bodyPr>
          <a:lstStyle/>
          <a:p>
            <a:pPr>
              <a:defRPr sz="1100" b="1">
                <a:solidFill>
                  <a:srgbClr val="142B4C"/>
                </a:solidFill>
              </a:defRPr>
            </a:pPr>
            <a:r>
              <a:t>IDENTIFY SOURCES</a:t>
            </a:r>
          </a:p>
          <a:p>
            <a:pPr>
              <a:spcBef>
                <a:spcPts val="600"/>
              </a:spcBef>
              <a:defRPr sz="950" b="1">
                <a:solidFill>
                  <a:srgbClr val="142B4C"/>
                </a:solidFill>
              </a:defRPr>
            </a:pPr>
            <a:r>
              <a:t>▪ Core Mandate:</a:t>
            </a:r>
          </a:p>
          <a:p>
            <a:pPr>
              <a:spcBef>
                <a:spcPts val="200"/>
              </a:spcBef>
              <a:defRPr sz="850">
                <a:solidFill>
                  <a:srgbClr val="0F172A"/>
                </a:solidFill>
              </a:defRPr>
            </a:pPr>
            <a:r>
              <a:t>Identify and prioritize OSINT sources that reveal genuine service AI usage vs marketing fluff.</a:t>
            </a:r>
          </a:p>
          <a:p>
            <a:pPr>
              <a:spcBef>
                <a:spcPts val="600"/>
              </a:spcBef>
              <a:defRPr sz="950" b="1">
                <a:solidFill>
                  <a:srgbClr val="142B4C"/>
                </a:solidFill>
              </a:defRPr>
            </a:pPr>
            <a:r>
              <a:t>▪ Source Hierarchy:</a:t>
            </a:r>
          </a:p>
          <a:p>
            <a:pPr>
              <a:spcBef>
                <a:spcPts val="200"/>
              </a:spcBef>
              <a:defRPr sz="850">
                <a:solidFill>
                  <a:srgbClr val="0F172A"/>
                </a:solidFill>
              </a:defRPr>
            </a:pPr>
            <a:r>
              <a:t>Tier A (Direct product docs, sub-processors, policies) down to Tier D (Generic thought leadership noise).</a:t>
            </a:r>
          </a:p>
          <a:p>
            <a:pPr>
              <a:spcBef>
                <a:spcPts val="600"/>
              </a:spcBef>
              <a:defRPr sz="950" b="1">
                <a:solidFill>
                  <a:srgbClr val="142B4C"/>
                </a:solidFill>
              </a:defRPr>
            </a:pPr>
            <a:r>
              <a:t>▪ Weighting Logic:</a:t>
            </a:r>
          </a:p>
          <a:p>
            <a:pPr>
              <a:spcBef>
                <a:spcPts val="200"/>
              </a:spcBef>
              <a:defRPr sz="850">
                <a:solidFill>
                  <a:srgbClr val="0F172A"/>
                </a:solidFill>
              </a:defRPr>
            </a:pPr>
            <a:r>
              <a:t>Applies service-linkage multipliers (1.5x product vs 0.5x company-wide) and 180-day recency discounts (0.7x).</a:t>
            </a:r>
          </a:p>
        </p:txBody>
      </p:sp>
      <p:sp>
        <p:nvSpPr>
          <p:cNvPr id="22" name="Rectangle 21"/>
          <p:cNvSpPr/>
          <p:nvPr/>
        </p:nvSpPr>
        <p:spPr>
          <a:xfrm>
            <a:off x="7287768" y="1536192"/>
            <a:ext cx="20574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7768" y="1536192"/>
            <a:ext cx="20574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1673351"/>
            <a:ext cx="1655064" cy="292608"/>
          </a:xfrm>
          <a:prstGeom prst="rect">
            <a:avLst/>
          </a:prstGeom>
          <a:noFill/>
        </p:spPr>
        <p:txBody>
          <a:bodyPr wrap="square" lIns="0" tIns="0" rIns="0" bIns="0">
            <a:spAutoFit/>
          </a:bodyPr>
          <a:lstStyle/>
          <a:p>
            <a:pPr>
              <a:defRPr sz="1200" b="1">
                <a:solidFill>
                  <a:srgbClr val="ED6B2D"/>
                </a:solidFill>
              </a:defRPr>
            </a:pPr>
            <a:r>
              <a:t>PILLAR 04</a:t>
            </a:r>
          </a:p>
        </p:txBody>
      </p:sp>
      <p:sp>
        <p:nvSpPr>
          <p:cNvPr id="25" name="TextBox 24"/>
          <p:cNvSpPr txBox="1"/>
          <p:nvPr/>
        </p:nvSpPr>
        <p:spPr>
          <a:xfrm>
            <a:off x="7434071" y="2029968"/>
            <a:ext cx="1764792" cy="4069080"/>
          </a:xfrm>
          <a:prstGeom prst="rect">
            <a:avLst/>
          </a:prstGeom>
          <a:noFill/>
        </p:spPr>
        <p:txBody>
          <a:bodyPr wrap="square" lIns="0" tIns="0" rIns="0" bIns="0">
            <a:spAutoFit/>
          </a:bodyPr>
          <a:lstStyle/>
          <a:p>
            <a:pPr>
              <a:defRPr sz="1100" b="1">
                <a:solidFill>
                  <a:srgbClr val="ED6B2D"/>
                </a:solidFill>
              </a:defRPr>
            </a:pPr>
            <a:r>
              <a:t>BUILD CAPABILITY</a:t>
            </a:r>
          </a:p>
          <a:p>
            <a:pPr>
              <a:spcBef>
                <a:spcPts val="600"/>
              </a:spcBef>
              <a:defRPr sz="950" b="1">
                <a:solidFill>
                  <a:srgbClr val="ED6B2D"/>
                </a:solidFill>
              </a:defRPr>
            </a:pPr>
            <a:r>
              <a:t>▪ Core Mandate:</a:t>
            </a:r>
          </a:p>
          <a:p>
            <a:pPr>
              <a:spcBef>
                <a:spcPts val="200"/>
              </a:spcBef>
              <a:defRPr sz="850">
                <a:solidFill>
                  <a:srgbClr val="0F172A"/>
                </a:solidFill>
              </a:defRPr>
            </a:pPr>
            <a:r>
              <a:t>Build automated scrapers, content clean-up, LLM signal extraction, and rigorous verification.</a:t>
            </a:r>
          </a:p>
          <a:p>
            <a:pPr>
              <a:spcBef>
                <a:spcPts val="600"/>
              </a:spcBef>
              <a:defRPr sz="950" b="1">
                <a:solidFill>
                  <a:srgbClr val="ED6B2D"/>
                </a:solidFill>
              </a:defRPr>
            </a:pPr>
            <a:r>
              <a:t>▪ Technical Stack:</a:t>
            </a:r>
          </a:p>
          <a:p>
            <a:pPr>
              <a:spcBef>
                <a:spcPts val="200"/>
              </a:spcBef>
              <a:defRPr sz="850">
                <a:solidFill>
                  <a:srgbClr val="0F172A"/>
                </a:solidFill>
              </a:defRPr>
            </a:pPr>
            <a:r>
              <a:t>Trafilatura content extraction, regex pre-filtering, Groq LPU API (gpt-oss-120b) with strict JSON schema.</a:t>
            </a:r>
          </a:p>
          <a:p>
            <a:pPr>
              <a:spcBef>
                <a:spcPts val="600"/>
              </a:spcBef>
              <a:defRPr sz="950" b="1">
                <a:solidFill>
                  <a:srgbClr val="ED6B2D"/>
                </a:solidFill>
              </a:defRPr>
            </a:pPr>
            <a:r>
              <a:t>▪ Cryptographic Guard:</a:t>
            </a:r>
          </a:p>
          <a:p>
            <a:pPr>
              <a:spcBef>
                <a:spcPts val="200"/>
              </a:spcBef>
              <a:defRPr sz="850">
                <a:solidFill>
                  <a:srgbClr val="0F172A"/>
                </a:solidFill>
              </a:defRPr>
            </a:pPr>
            <a:r>
              <a:t>Whitespace-normalized exact substring verification guarantees zero hallucinations enter the audit log.</a:t>
            </a:r>
          </a:p>
        </p:txBody>
      </p:sp>
      <p:sp>
        <p:nvSpPr>
          <p:cNvPr id="26" name="Rectangle 25"/>
          <p:cNvSpPr/>
          <p:nvPr/>
        </p:nvSpPr>
        <p:spPr>
          <a:xfrm>
            <a:off x="9473184" y="1536192"/>
            <a:ext cx="20574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73184" y="1536192"/>
            <a:ext cx="20574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74352" y="1673351"/>
            <a:ext cx="1655064" cy="292608"/>
          </a:xfrm>
          <a:prstGeom prst="rect">
            <a:avLst/>
          </a:prstGeom>
          <a:noFill/>
        </p:spPr>
        <p:txBody>
          <a:bodyPr wrap="square" lIns="0" tIns="0" rIns="0" bIns="0">
            <a:spAutoFit/>
          </a:bodyPr>
          <a:lstStyle/>
          <a:p>
            <a:pPr>
              <a:defRPr sz="1200" b="1">
                <a:solidFill>
                  <a:srgbClr val="142B4C"/>
                </a:solidFill>
              </a:defRPr>
            </a:pPr>
            <a:r>
              <a:t>PILLAR 05</a:t>
            </a:r>
          </a:p>
        </p:txBody>
      </p:sp>
      <p:sp>
        <p:nvSpPr>
          <p:cNvPr id="29" name="TextBox 28"/>
          <p:cNvSpPr txBox="1"/>
          <p:nvPr/>
        </p:nvSpPr>
        <p:spPr>
          <a:xfrm>
            <a:off x="9619488" y="2029968"/>
            <a:ext cx="1764792" cy="4069080"/>
          </a:xfrm>
          <a:prstGeom prst="rect">
            <a:avLst/>
          </a:prstGeom>
          <a:noFill/>
        </p:spPr>
        <p:txBody>
          <a:bodyPr wrap="square" lIns="0" tIns="0" rIns="0" bIns="0">
            <a:spAutoFit/>
          </a:bodyPr>
          <a:lstStyle/>
          <a:p>
            <a:pPr>
              <a:defRPr sz="1100" b="1">
                <a:solidFill>
                  <a:srgbClr val="142B4C"/>
                </a:solidFill>
              </a:defRPr>
            </a:pPr>
            <a:r>
              <a:t>SURFACE THE RISK</a:t>
            </a:r>
          </a:p>
          <a:p>
            <a:pPr>
              <a:spcBef>
                <a:spcPts val="600"/>
              </a:spcBef>
              <a:defRPr sz="950" b="1">
                <a:solidFill>
                  <a:srgbClr val="142B4C"/>
                </a:solidFill>
              </a:defRPr>
            </a:pPr>
            <a:r>
              <a:t>▪ Core Mandate:</a:t>
            </a:r>
          </a:p>
          <a:p>
            <a:pPr>
              <a:spcBef>
                <a:spcPts val="200"/>
              </a:spcBef>
              <a:defRPr sz="850">
                <a:solidFill>
                  <a:srgbClr val="0F172A"/>
                </a:solidFill>
              </a:defRPr>
            </a:pPr>
            <a:r>
              <a:t>Translate confirmed AI signals into concrete enterprise security risks to support TPRM due diligence.</a:t>
            </a:r>
          </a:p>
          <a:p>
            <a:pPr>
              <a:spcBef>
                <a:spcPts val="600"/>
              </a:spcBef>
              <a:defRPr sz="950" b="1">
                <a:solidFill>
                  <a:srgbClr val="142B4C"/>
                </a:solidFill>
              </a:defRPr>
            </a:pPr>
            <a:r>
              <a:t>▪ Risk Taxonomy:</a:t>
            </a:r>
          </a:p>
          <a:p>
            <a:pPr>
              <a:spcBef>
                <a:spcPts val="200"/>
              </a:spcBef>
              <a:defRPr sz="850">
                <a:solidFill>
                  <a:srgbClr val="0F172A"/>
                </a:solidFill>
              </a:defRPr>
            </a:pPr>
            <a:r>
              <a:t>Maps to 4 enterprise risks: sensitive data ingestion, shadow AI sub-processors, credential leakage, contract voids.</a:t>
            </a:r>
          </a:p>
          <a:p>
            <a:pPr>
              <a:spcBef>
                <a:spcPts val="600"/>
              </a:spcBef>
              <a:defRPr sz="950" b="1">
                <a:solidFill>
                  <a:srgbClr val="142B4C"/>
                </a:solidFill>
              </a:defRPr>
            </a:pPr>
            <a:r>
              <a:t>▪ Governance Action:</a:t>
            </a:r>
          </a:p>
          <a:p>
            <a:pPr>
              <a:spcBef>
                <a:spcPts val="200"/>
              </a:spcBef>
              <a:defRPr sz="850">
                <a:solidFill>
                  <a:srgbClr val="0F172A"/>
                </a:solidFill>
              </a:defRPr>
            </a:pPr>
            <a:r>
              <a:t>Drafts actionable 15-day vendor questionnaires, sub-processor registry updates, and 30-day escalation paths.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Expected Outcome 1: Functional Design Diagram</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End-to-End Pipeline Data Flow from OSINT Collection to Final Risk Workbook</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2057400" cy="2926080"/>
          </a:xfrm>
          <a:prstGeom prst="rect">
            <a:avLst/>
          </a:prstGeom>
          <a:solidFill>
            <a:srgbClr val="FFFFFF"/>
          </a:solidFill>
          <a:ln w="1905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2057400" cy="384048"/>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581912"/>
            <a:ext cx="2057400" cy="292608"/>
          </a:xfrm>
          <a:prstGeom prst="rect">
            <a:avLst/>
          </a:prstGeom>
          <a:noFill/>
        </p:spPr>
        <p:txBody>
          <a:bodyPr wrap="none">
            <a:spAutoFit/>
          </a:bodyPr>
          <a:lstStyle/>
          <a:p>
            <a:pPr algn="ctr">
              <a:defRPr sz="1050" b="1">
                <a:solidFill>
                  <a:srgbClr val="FFFFFF"/>
                </a:solidFill>
              </a:defRPr>
            </a:pPr>
            <a:r>
              <a:t>Stage 01</a:t>
            </a:r>
          </a:p>
        </p:txBody>
      </p:sp>
      <p:sp>
        <p:nvSpPr>
          <p:cNvPr id="13" name="TextBox 12"/>
          <p:cNvSpPr txBox="1"/>
          <p:nvPr/>
        </p:nvSpPr>
        <p:spPr>
          <a:xfrm>
            <a:off x="841248" y="1993392"/>
            <a:ext cx="1837943" cy="2423160"/>
          </a:xfrm>
          <a:prstGeom prst="rect">
            <a:avLst/>
          </a:prstGeom>
          <a:noFill/>
        </p:spPr>
        <p:txBody>
          <a:bodyPr wrap="square" lIns="0" tIns="0" rIns="0" bIns="0">
            <a:spAutoFit/>
          </a:bodyPr>
          <a:lstStyle/>
          <a:p>
            <a:pPr>
              <a:defRPr sz="1100" b="1">
                <a:solidFill>
                  <a:srgbClr val="142B4C"/>
                </a:solidFill>
              </a:defRPr>
            </a:pPr>
            <a:r>
              <a:t>M1: Criticality</a:t>
            </a:r>
          </a:p>
          <a:p>
            <a:pPr>
              <a:spcBef>
                <a:spcPts val="300"/>
              </a:spcBef>
              <a:defRPr sz="850" b="1">
                <a:solidFill>
                  <a:srgbClr val="0F172A"/>
                </a:solidFill>
              </a:defRPr>
            </a:pPr>
            <a:r>
              <a:t>• Inputs:</a:t>
            </a:r>
          </a:p>
          <a:p>
            <a:pPr>
              <a:spcBef>
                <a:spcPts val="100"/>
              </a:spcBef>
              <a:defRPr sz="800">
                <a:solidFill>
                  <a:srgbClr val="64748B"/>
                </a:solidFill>
              </a:defRPr>
            </a:pPr>
            <a:r>
              <a:t>  Meridian_Vendor_Input.xlsx, rubric.yaml</a:t>
            </a:r>
          </a:p>
          <a:p>
            <a:pPr>
              <a:spcBef>
                <a:spcPts val="300"/>
              </a:spcBef>
              <a:defRPr sz="850" b="1">
                <a:solidFill>
                  <a:srgbClr val="0F172A"/>
                </a:solidFill>
              </a:defRPr>
            </a:pPr>
            <a:r>
              <a:t>• Processing:</a:t>
            </a:r>
          </a:p>
          <a:p>
            <a:pPr>
              <a:spcBef>
                <a:spcPts val="100"/>
              </a:spcBef>
              <a:defRPr sz="800">
                <a:solidFill>
                  <a:srgbClr val="64748B"/>
                </a:solidFill>
              </a:defRPr>
            </a:pPr>
            <a:r>
              <a:t>  5 anchored scales (0–3), floor rules, +1 modifier</a:t>
            </a:r>
          </a:p>
          <a:p>
            <a:pPr>
              <a:spcBef>
                <a:spcPts val="300"/>
              </a:spcBef>
              <a:defRPr sz="850" b="1">
                <a:solidFill>
                  <a:srgbClr val="0F172A"/>
                </a:solidFill>
              </a:defRPr>
            </a:pPr>
            <a:r>
              <a:t>• Output:</a:t>
            </a:r>
          </a:p>
          <a:p>
            <a:pPr>
              <a:spcBef>
                <a:spcPts val="100"/>
              </a:spcBef>
              <a:defRPr sz="800">
                <a:solidFill>
                  <a:srgbClr val="64748B"/>
                </a:solidFill>
              </a:defRPr>
            </a:pPr>
            <a:r>
              <a:t>  Criticality Tier &amp; Warranted Depth</a:t>
            </a:r>
          </a:p>
          <a:p>
            <a:pPr>
              <a:spcBef>
                <a:spcPts val="300"/>
              </a:spcBef>
              <a:defRPr sz="850" b="1">
                <a:solidFill>
                  <a:srgbClr val="0F172A"/>
                </a:solidFill>
              </a:defRPr>
            </a:pPr>
            <a:r>
              <a:t>• Tech Stack:</a:t>
            </a:r>
          </a:p>
          <a:p>
            <a:pPr>
              <a:spcBef>
                <a:spcPts val="100"/>
              </a:spcBef>
              <a:defRPr sz="800">
                <a:solidFill>
                  <a:srgbClr val="64748B"/>
                </a:solidFill>
              </a:defRPr>
            </a:pPr>
            <a:r>
              <a:t>  Python 3.12, pandas, PyYAML</a:t>
            </a:r>
          </a:p>
        </p:txBody>
      </p:sp>
      <p:sp>
        <p:nvSpPr>
          <p:cNvPr id="14" name="Right Arrow 13"/>
          <p:cNvSpPr/>
          <p:nvPr/>
        </p:nvSpPr>
        <p:spPr>
          <a:xfrm>
            <a:off x="2807208" y="2788920"/>
            <a:ext cx="100584" cy="164592"/>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1536192"/>
            <a:ext cx="2057400" cy="2926080"/>
          </a:xfrm>
          <a:prstGeom prst="rect">
            <a:avLst/>
          </a:prstGeom>
          <a:solidFill>
            <a:srgbClr val="FFFFFF"/>
          </a:solidFill>
          <a:ln w="19050">
            <a:solidFill>
              <a:srgbClr val="ED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0" y="1536192"/>
            <a:ext cx="2057400" cy="384048"/>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0" y="1581912"/>
            <a:ext cx="2057400" cy="292608"/>
          </a:xfrm>
          <a:prstGeom prst="rect">
            <a:avLst/>
          </a:prstGeom>
          <a:noFill/>
        </p:spPr>
        <p:txBody>
          <a:bodyPr wrap="none">
            <a:spAutoFit/>
          </a:bodyPr>
          <a:lstStyle/>
          <a:p>
            <a:pPr algn="ctr">
              <a:defRPr sz="1050" b="1">
                <a:solidFill>
                  <a:srgbClr val="FFFFFF"/>
                </a:solidFill>
              </a:defRPr>
            </a:pPr>
            <a:r>
              <a:t>Stage 02</a:t>
            </a:r>
          </a:p>
        </p:txBody>
      </p:sp>
      <p:sp>
        <p:nvSpPr>
          <p:cNvPr id="18" name="TextBox 17"/>
          <p:cNvSpPr txBox="1"/>
          <p:nvPr/>
        </p:nvSpPr>
        <p:spPr>
          <a:xfrm>
            <a:off x="3035808" y="1993392"/>
            <a:ext cx="1837943" cy="2423160"/>
          </a:xfrm>
          <a:prstGeom prst="rect">
            <a:avLst/>
          </a:prstGeom>
          <a:noFill/>
        </p:spPr>
        <p:txBody>
          <a:bodyPr wrap="square" lIns="0" tIns="0" rIns="0" bIns="0">
            <a:spAutoFit/>
          </a:bodyPr>
          <a:lstStyle/>
          <a:p>
            <a:pPr>
              <a:defRPr sz="1100" b="1">
                <a:solidFill>
                  <a:srgbClr val="ED6B2D"/>
                </a:solidFill>
              </a:defRPr>
            </a:pPr>
            <a:r>
              <a:t>M2: Collectors</a:t>
            </a:r>
          </a:p>
          <a:p>
            <a:pPr>
              <a:spcBef>
                <a:spcPts val="300"/>
              </a:spcBef>
              <a:defRPr sz="850" b="1">
                <a:solidFill>
                  <a:srgbClr val="0F172A"/>
                </a:solidFill>
              </a:defRPr>
            </a:pPr>
            <a:r>
              <a:t>• Inputs:</a:t>
            </a:r>
          </a:p>
          <a:p>
            <a:pPr>
              <a:spcBef>
                <a:spcPts val="100"/>
              </a:spcBef>
              <a:defRPr sz="800">
                <a:solidFill>
                  <a:srgbClr val="64748B"/>
                </a:solidFill>
              </a:defRPr>
            </a:pPr>
            <a:r>
              <a:t>  Vendor domains, careers portals, sitemaps</a:t>
            </a:r>
          </a:p>
          <a:p>
            <a:pPr>
              <a:spcBef>
                <a:spcPts val="300"/>
              </a:spcBef>
              <a:defRPr sz="850" b="1">
                <a:solidFill>
                  <a:srgbClr val="0F172A"/>
                </a:solidFill>
              </a:defRPr>
            </a:pPr>
            <a:r>
              <a:t>• Processing:</a:t>
            </a:r>
          </a:p>
          <a:p>
            <a:pPr>
              <a:spcBef>
                <a:spcPts val="100"/>
              </a:spcBef>
              <a:defRPr sz="800">
                <a:solidFill>
                  <a:srgbClr val="64748B"/>
                </a:solidFill>
              </a:defRPr>
            </a:pPr>
            <a:r>
              <a:t>  Robots.txt parsing, polite 1.2s delay, trafilatura</a:t>
            </a:r>
          </a:p>
          <a:p>
            <a:pPr>
              <a:spcBef>
                <a:spcPts val="300"/>
              </a:spcBef>
              <a:defRPr sz="850" b="1">
                <a:solidFill>
                  <a:srgbClr val="0F172A"/>
                </a:solidFill>
              </a:defRPr>
            </a:pPr>
            <a:r>
              <a:t>• Output:</a:t>
            </a:r>
          </a:p>
          <a:p>
            <a:pPr>
              <a:spcBef>
                <a:spcPts val="100"/>
              </a:spcBef>
              <a:defRPr sz="800">
                <a:solidFill>
                  <a:srgbClr val="64748B"/>
                </a:solidFill>
              </a:defRPr>
            </a:pPr>
            <a:r>
              <a:t>  SHA-256 hashed raw &amp; cleaned text snapshots</a:t>
            </a:r>
          </a:p>
          <a:p>
            <a:pPr>
              <a:spcBef>
                <a:spcPts val="300"/>
              </a:spcBef>
              <a:defRPr sz="850" b="1">
                <a:solidFill>
                  <a:srgbClr val="0F172A"/>
                </a:solidFill>
              </a:defRPr>
            </a:pPr>
            <a:r>
              <a:t>• Tech Stack:</a:t>
            </a:r>
          </a:p>
          <a:p>
            <a:pPr>
              <a:spcBef>
                <a:spcPts val="100"/>
              </a:spcBef>
              <a:defRPr sz="800">
                <a:solidFill>
                  <a:srgbClr val="64748B"/>
                </a:solidFill>
              </a:defRPr>
            </a:pPr>
            <a:r>
              <a:t>  urllib.robotparser, trafilatura, bs4</a:t>
            </a:r>
          </a:p>
        </p:txBody>
      </p:sp>
      <p:sp>
        <p:nvSpPr>
          <p:cNvPr id="19" name="Right Arrow 18"/>
          <p:cNvSpPr/>
          <p:nvPr/>
        </p:nvSpPr>
        <p:spPr>
          <a:xfrm>
            <a:off x="5001768" y="2788920"/>
            <a:ext cx="100584" cy="164592"/>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0" y="1536192"/>
            <a:ext cx="2057400" cy="2926080"/>
          </a:xfrm>
          <a:prstGeom prst="rect">
            <a:avLst/>
          </a:prstGeom>
          <a:solidFill>
            <a:srgbClr val="FFFFFF"/>
          </a:solidFill>
          <a:ln w="1905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0" y="1536192"/>
            <a:ext cx="2057400" cy="384048"/>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0" y="1581912"/>
            <a:ext cx="2057400" cy="292608"/>
          </a:xfrm>
          <a:prstGeom prst="rect">
            <a:avLst/>
          </a:prstGeom>
          <a:noFill/>
        </p:spPr>
        <p:txBody>
          <a:bodyPr wrap="none">
            <a:spAutoFit/>
          </a:bodyPr>
          <a:lstStyle/>
          <a:p>
            <a:pPr algn="ctr">
              <a:defRPr sz="1050" b="1">
                <a:solidFill>
                  <a:srgbClr val="FFFFFF"/>
                </a:solidFill>
              </a:defRPr>
            </a:pPr>
            <a:r>
              <a:t>Stage 03</a:t>
            </a:r>
          </a:p>
        </p:txBody>
      </p:sp>
      <p:sp>
        <p:nvSpPr>
          <p:cNvPr id="23" name="TextBox 22"/>
          <p:cNvSpPr txBox="1"/>
          <p:nvPr/>
        </p:nvSpPr>
        <p:spPr>
          <a:xfrm>
            <a:off x="5230368" y="1993392"/>
            <a:ext cx="1837943" cy="2423160"/>
          </a:xfrm>
          <a:prstGeom prst="rect">
            <a:avLst/>
          </a:prstGeom>
          <a:noFill/>
        </p:spPr>
        <p:txBody>
          <a:bodyPr wrap="square" lIns="0" tIns="0" rIns="0" bIns="0">
            <a:spAutoFit/>
          </a:bodyPr>
          <a:lstStyle/>
          <a:p>
            <a:pPr>
              <a:defRPr sz="1100" b="1">
                <a:solidFill>
                  <a:srgbClr val="142B4C"/>
                </a:solidFill>
              </a:defRPr>
            </a:pPr>
            <a:r>
              <a:t>M3: Classifier</a:t>
            </a:r>
          </a:p>
          <a:p>
            <a:pPr>
              <a:spcBef>
                <a:spcPts val="300"/>
              </a:spcBef>
              <a:defRPr sz="850" b="1">
                <a:solidFill>
                  <a:srgbClr val="0F172A"/>
                </a:solidFill>
              </a:defRPr>
            </a:pPr>
            <a:r>
              <a:t>• Inputs:</a:t>
            </a:r>
          </a:p>
          <a:p>
            <a:pPr>
              <a:spcBef>
                <a:spcPts val="100"/>
              </a:spcBef>
              <a:defRPr sz="800">
                <a:solidFill>
                  <a:srgbClr val="64748B"/>
                </a:solidFill>
              </a:defRPr>
            </a:pPr>
            <a:r>
              <a:t>  Cleaned page snapshots, sources.yaml</a:t>
            </a:r>
          </a:p>
          <a:p>
            <a:pPr>
              <a:spcBef>
                <a:spcPts val="300"/>
              </a:spcBef>
              <a:defRPr sz="850" b="1">
                <a:solidFill>
                  <a:srgbClr val="0F172A"/>
                </a:solidFill>
              </a:defRPr>
            </a:pPr>
            <a:r>
              <a:t>• Processing:</a:t>
            </a:r>
          </a:p>
          <a:p>
            <a:pPr>
              <a:spcBef>
                <a:spcPts val="100"/>
              </a:spcBef>
              <a:defRPr sz="800">
                <a:solidFill>
                  <a:srgbClr val="64748B"/>
                </a:solidFill>
              </a:defRPr>
            </a:pPr>
            <a:r>
              <a:t>  25+ regex filters, Groq LPU JSON inference</a:t>
            </a:r>
          </a:p>
          <a:p>
            <a:pPr>
              <a:spcBef>
                <a:spcPts val="300"/>
              </a:spcBef>
              <a:defRPr sz="850" b="1">
                <a:solidFill>
                  <a:srgbClr val="0F172A"/>
                </a:solidFill>
              </a:defRPr>
            </a:pPr>
            <a:r>
              <a:t>• Output:</a:t>
            </a:r>
          </a:p>
          <a:p>
            <a:pPr>
              <a:spcBef>
                <a:spcPts val="100"/>
              </a:spcBef>
              <a:defRPr sz="800">
                <a:solidFill>
                  <a:srgbClr val="64748B"/>
                </a:solidFill>
              </a:defRPr>
            </a:pPr>
            <a:r>
              <a:t>  Verbatim quotes, AI mechanism, named providers</a:t>
            </a:r>
          </a:p>
          <a:p>
            <a:pPr>
              <a:spcBef>
                <a:spcPts val="300"/>
              </a:spcBef>
              <a:defRPr sz="850" b="1">
                <a:solidFill>
                  <a:srgbClr val="0F172A"/>
                </a:solidFill>
              </a:defRPr>
            </a:pPr>
            <a:r>
              <a:t>• Tech Stack:</a:t>
            </a:r>
          </a:p>
          <a:p>
            <a:pPr>
              <a:spcBef>
                <a:spcPts val="100"/>
              </a:spcBef>
              <a:defRPr sz="800">
                <a:solidFill>
                  <a:srgbClr val="64748B"/>
                </a:solidFill>
              </a:defRPr>
            </a:pPr>
            <a:r>
              <a:t>  Groq API, gpt-oss-120b, Quote Guard</a:t>
            </a:r>
          </a:p>
        </p:txBody>
      </p:sp>
      <p:sp>
        <p:nvSpPr>
          <p:cNvPr id="24" name="Right Arrow 23"/>
          <p:cNvSpPr/>
          <p:nvPr/>
        </p:nvSpPr>
        <p:spPr>
          <a:xfrm>
            <a:off x="7196327" y="2788920"/>
            <a:ext cx="100584" cy="164592"/>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199" y="1536192"/>
            <a:ext cx="2057400" cy="2926080"/>
          </a:xfrm>
          <a:prstGeom prst="rect">
            <a:avLst/>
          </a:prstGeom>
          <a:solidFill>
            <a:srgbClr val="FFFFFF"/>
          </a:solidFill>
          <a:ln w="19050">
            <a:solidFill>
              <a:srgbClr val="ED6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199" y="1536192"/>
            <a:ext cx="2057400" cy="384048"/>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199" y="1581912"/>
            <a:ext cx="2057400" cy="292608"/>
          </a:xfrm>
          <a:prstGeom prst="rect">
            <a:avLst/>
          </a:prstGeom>
          <a:noFill/>
        </p:spPr>
        <p:txBody>
          <a:bodyPr wrap="none">
            <a:spAutoFit/>
          </a:bodyPr>
          <a:lstStyle/>
          <a:p>
            <a:pPr algn="ctr">
              <a:defRPr sz="1050" b="1">
                <a:solidFill>
                  <a:srgbClr val="FFFFFF"/>
                </a:solidFill>
              </a:defRPr>
            </a:pPr>
            <a:r>
              <a:t>Stage 04</a:t>
            </a:r>
          </a:p>
        </p:txBody>
      </p:sp>
      <p:sp>
        <p:nvSpPr>
          <p:cNvPr id="28" name="TextBox 27"/>
          <p:cNvSpPr txBox="1"/>
          <p:nvPr/>
        </p:nvSpPr>
        <p:spPr>
          <a:xfrm>
            <a:off x="7424927" y="1993392"/>
            <a:ext cx="1837943" cy="2423160"/>
          </a:xfrm>
          <a:prstGeom prst="rect">
            <a:avLst/>
          </a:prstGeom>
          <a:noFill/>
        </p:spPr>
        <p:txBody>
          <a:bodyPr wrap="square" lIns="0" tIns="0" rIns="0" bIns="0">
            <a:spAutoFit/>
          </a:bodyPr>
          <a:lstStyle/>
          <a:p>
            <a:pPr>
              <a:defRPr sz="1100" b="1">
                <a:solidFill>
                  <a:srgbClr val="ED6B2D"/>
                </a:solidFill>
              </a:defRPr>
            </a:pPr>
            <a:r>
              <a:t>M4: Risk Engine</a:t>
            </a:r>
          </a:p>
          <a:p>
            <a:pPr>
              <a:spcBef>
                <a:spcPts val="300"/>
              </a:spcBef>
              <a:defRPr sz="850" b="1">
                <a:solidFill>
                  <a:srgbClr val="0F172A"/>
                </a:solidFill>
              </a:defRPr>
            </a:pPr>
            <a:r>
              <a:t>• Inputs:</a:t>
            </a:r>
          </a:p>
          <a:p>
            <a:pPr>
              <a:spcBef>
                <a:spcPts val="100"/>
              </a:spcBef>
              <a:defRPr sz="800">
                <a:solidFill>
                  <a:srgbClr val="64748B"/>
                </a:solidFill>
              </a:defRPr>
            </a:pPr>
            <a:r>
              <a:t>  Verified signals, vendor criticality, data class</a:t>
            </a:r>
          </a:p>
          <a:p>
            <a:pPr>
              <a:spcBef>
                <a:spcPts val="300"/>
              </a:spcBef>
              <a:defRPr sz="850" b="1">
                <a:solidFill>
                  <a:srgbClr val="0F172A"/>
                </a:solidFill>
              </a:defRPr>
            </a:pPr>
            <a:r>
              <a:t>• Processing:</a:t>
            </a:r>
          </a:p>
          <a:p>
            <a:pPr>
              <a:spcBef>
                <a:spcPts val="100"/>
              </a:spcBef>
              <a:defRPr sz="800">
                <a:solidFill>
                  <a:srgbClr val="64748B"/>
                </a:solidFill>
              </a:defRPr>
            </a:pPr>
            <a:r>
              <a:t>  Multi-factor formula, 180-day decay, coverage rules</a:t>
            </a:r>
          </a:p>
          <a:p>
            <a:pPr>
              <a:spcBef>
                <a:spcPts val="300"/>
              </a:spcBef>
              <a:defRPr sz="850" b="1">
                <a:solidFill>
                  <a:srgbClr val="0F172A"/>
                </a:solidFill>
              </a:defRPr>
            </a:pPr>
            <a:r>
              <a:t>• Output:</a:t>
            </a:r>
          </a:p>
          <a:p>
            <a:pPr>
              <a:spcBef>
                <a:spcPts val="100"/>
              </a:spcBef>
              <a:defRPr sz="800">
                <a:solidFill>
                  <a:srgbClr val="64748B"/>
                </a:solidFill>
              </a:defRPr>
            </a:pPr>
            <a:r>
              <a:t>  AI Verdict (Y/N/Inc), Security Risk Classification</a:t>
            </a:r>
          </a:p>
          <a:p>
            <a:pPr>
              <a:spcBef>
                <a:spcPts val="300"/>
              </a:spcBef>
              <a:defRPr sz="850" b="1">
                <a:solidFill>
                  <a:srgbClr val="0F172A"/>
                </a:solidFill>
              </a:defRPr>
            </a:pPr>
            <a:r>
              <a:t>• Tech Stack:</a:t>
            </a:r>
          </a:p>
          <a:p>
            <a:pPr>
              <a:spcBef>
                <a:spcPts val="100"/>
              </a:spcBef>
              <a:defRPr sz="800">
                <a:solidFill>
                  <a:srgbClr val="64748B"/>
                </a:solidFill>
              </a:defRPr>
            </a:pPr>
            <a:r>
              <a:t>  Mathematical scoring engine, coverage logger</a:t>
            </a:r>
          </a:p>
        </p:txBody>
      </p:sp>
      <p:sp>
        <p:nvSpPr>
          <p:cNvPr id="29" name="Right Arrow 28"/>
          <p:cNvSpPr/>
          <p:nvPr/>
        </p:nvSpPr>
        <p:spPr>
          <a:xfrm>
            <a:off x="9390888" y="2788920"/>
            <a:ext cx="100584" cy="164592"/>
          </a:xfrm>
          <a:prstGeom prst="rightArrow">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9760" y="1536192"/>
            <a:ext cx="2057400" cy="2926080"/>
          </a:xfrm>
          <a:prstGeom prst="rect">
            <a:avLst/>
          </a:prstGeom>
          <a:solidFill>
            <a:srgbClr val="FFFFFF"/>
          </a:solidFill>
          <a:ln w="19050">
            <a:solidFill>
              <a:srgbClr val="142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09760" y="1536192"/>
            <a:ext cx="2057400" cy="384048"/>
          </a:xfrm>
          <a:prstGeom prst="rect">
            <a:avLst/>
          </a:prstGeom>
          <a:solidFill>
            <a:srgbClr val="14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0" y="1581912"/>
            <a:ext cx="2057400" cy="292608"/>
          </a:xfrm>
          <a:prstGeom prst="rect">
            <a:avLst/>
          </a:prstGeom>
          <a:noFill/>
        </p:spPr>
        <p:txBody>
          <a:bodyPr wrap="none">
            <a:spAutoFit/>
          </a:bodyPr>
          <a:lstStyle/>
          <a:p>
            <a:pPr algn="ctr">
              <a:defRPr sz="1050" b="1">
                <a:solidFill>
                  <a:srgbClr val="FFFFFF"/>
                </a:solidFill>
              </a:defRPr>
            </a:pPr>
            <a:r>
              <a:t>Stage 05</a:t>
            </a:r>
          </a:p>
        </p:txBody>
      </p:sp>
      <p:sp>
        <p:nvSpPr>
          <p:cNvPr id="33" name="TextBox 32"/>
          <p:cNvSpPr txBox="1"/>
          <p:nvPr/>
        </p:nvSpPr>
        <p:spPr>
          <a:xfrm>
            <a:off x="9619488" y="1993392"/>
            <a:ext cx="1837943" cy="2423160"/>
          </a:xfrm>
          <a:prstGeom prst="rect">
            <a:avLst/>
          </a:prstGeom>
          <a:noFill/>
        </p:spPr>
        <p:txBody>
          <a:bodyPr wrap="square" lIns="0" tIns="0" rIns="0" bIns="0">
            <a:spAutoFit/>
          </a:bodyPr>
          <a:lstStyle/>
          <a:p>
            <a:pPr>
              <a:defRPr sz="1100" b="1">
                <a:solidFill>
                  <a:srgbClr val="142B4C"/>
                </a:solidFill>
              </a:defRPr>
            </a:pPr>
            <a:r>
              <a:t>M5: Excel &amp; UI</a:t>
            </a:r>
          </a:p>
          <a:p>
            <a:pPr>
              <a:spcBef>
                <a:spcPts val="300"/>
              </a:spcBef>
              <a:defRPr sz="850" b="1">
                <a:solidFill>
                  <a:srgbClr val="0F172A"/>
                </a:solidFill>
              </a:defRPr>
            </a:pPr>
            <a:r>
              <a:t>• Inputs:</a:t>
            </a:r>
          </a:p>
          <a:p>
            <a:pPr>
              <a:spcBef>
                <a:spcPts val="100"/>
              </a:spcBef>
              <a:defRPr sz="800">
                <a:solidFill>
                  <a:srgbClr val="64748B"/>
                </a:solidFill>
              </a:defRPr>
            </a:pPr>
            <a:r>
              <a:t>  Final classifications, evidence audit trail</a:t>
            </a:r>
          </a:p>
          <a:p>
            <a:pPr>
              <a:spcBef>
                <a:spcPts val="300"/>
              </a:spcBef>
              <a:defRPr sz="850" b="1">
                <a:solidFill>
                  <a:srgbClr val="0F172A"/>
                </a:solidFill>
              </a:defRPr>
            </a:pPr>
            <a:r>
              <a:t>• Processing:</a:t>
            </a:r>
          </a:p>
          <a:p>
            <a:pPr>
              <a:spcBef>
                <a:spcPts val="100"/>
              </a:spcBef>
              <a:defRPr sz="800">
                <a:solidFill>
                  <a:srgbClr val="64748B"/>
                </a:solidFill>
              </a:defRPr>
            </a:pPr>
            <a:r>
              <a:t>  Preserves B–K byte-for-byte, writes L–V, UI cache</a:t>
            </a:r>
          </a:p>
          <a:p>
            <a:pPr>
              <a:spcBef>
                <a:spcPts val="300"/>
              </a:spcBef>
              <a:defRPr sz="850" b="1">
                <a:solidFill>
                  <a:srgbClr val="0F172A"/>
                </a:solidFill>
              </a:defRPr>
            </a:pPr>
            <a:r>
              <a:t>• Output:</a:t>
            </a:r>
          </a:p>
          <a:p>
            <a:pPr>
              <a:spcBef>
                <a:spcPts val="100"/>
              </a:spcBef>
              <a:defRPr sz="800">
                <a:solidFill>
                  <a:srgbClr val="64748B"/>
                </a:solidFill>
              </a:defRPr>
            </a:pPr>
            <a:r>
              <a:t>  Meridian_Vendor_Output.xlsx, Streamlit app</a:t>
            </a:r>
          </a:p>
          <a:p>
            <a:pPr>
              <a:spcBef>
                <a:spcPts val="300"/>
              </a:spcBef>
              <a:defRPr sz="850" b="1">
                <a:solidFill>
                  <a:srgbClr val="0F172A"/>
                </a:solidFill>
              </a:defRPr>
            </a:pPr>
            <a:r>
              <a:t>• Tech Stack:</a:t>
            </a:r>
          </a:p>
          <a:p>
            <a:pPr>
              <a:spcBef>
                <a:spcPts val="100"/>
              </a:spcBef>
              <a:defRPr sz="800">
                <a:solidFill>
                  <a:srgbClr val="64748B"/>
                </a:solidFill>
              </a:defRPr>
            </a:pPr>
            <a:r>
              <a:t>  openpyxl, Streamlit, pytest (18/18 pass)</a:t>
            </a:r>
          </a:p>
        </p:txBody>
      </p:sp>
      <p:sp>
        <p:nvSpPr>
          <p:cNvPr id="34" name="Rectangle 33"/>
          <p:cNvSpPr/>
          <p:nvPr/>
        </p:nvSpPr>
        <p:spPr>
          <a:xfrm>
            <a:off x="731520" y="4645152"/>
            <a:ext cx="10728655" cy="160020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31520" y="4645152"/>
            <a:ext cx="10728655"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2688" y="4782312"/>
            <a:ext cx="10326319" cy="292608"/>
          </a:xfrm>
          <a:prstGeom prst="rect">
            <a:avLst/>
          </a:prstGeom>
          <a:noFill/>
        </p:spPr>
        <p:txBody>
          <a:bodyPr wrap="square" lIns="0" tIns="0" rIns="0" bIns="0">
            <a:spAutoFit/>
          </a:bodyPr>
          <a:lstStyle/>
          <a:p>
            <a:pPr>
              <a:defRPr sz="1200" b="1">
                <a:solidFill>
                  <a:srgbClr val="142B4C"/>
                </a:solidFill>
              </a:defRPr>
            </a:pPr>
            <a:r>
              <a:t>DATA FLOW &amp; REPRODUCIBILITY GUARANTEES</a:t>
            </a:r>
          </a:p>
        </p:txBody>
      </p:sp>
      <p:sp>
        <p:nvSpPr>
          <p:cNvPr id="37" name="TextBox 36"/>
          <p:cNvSpPr txBox="1"/>
          <p:nvPr/>
        </p:nvSpPr>
        <p:spPr>
          <a:xfrm>
            <a:off x="960120" y="5074920"/>
            <a:ext cx="10241280" cy="1051560"/>
          </a:xfrm>
          <a:prstGeom prst="rect">
            <a:avLst/>
          </a:prstGeom>
          <a:noFill/>
        </p:spPr>
        <p:txBody>
          <a:bodyPr wrap="square" lIns="0" tIns="0" rIns="0" bIns="0">
            <a:spAutoFit/>
          </a:bodyPr>
          <a:lstStyle/>
          <a:p>
            <a:pPr>
              <a:defRPr sz="950">
                <a:solidFill>
                  <a:srgbClr val="0F172A"/>
                </a:solidFill>
              </a:defRPr>
            </a:pPr>
            <a:r>
              <a:t>▪ Input Stream: data/Meridian_Vendor_Input.xlsx (Client Source of Truth, 100% Immutable) | config/rubric.yaml | config/sources.yaml</a:t>
            </a:r>
          </a:p>
          <a:p>
            <a:pPr>
              <a:spcBef>
                <a:spcPts val="400"/>
              </a:spcBef>
              <a:defRPr sz="950">
                <a:solidFill>
                  <a:srgbClr val="0F172A"/>
                </a:solidFill>
              </a:defRPr>
            </a:pPr>
            <a:r>
              <a:t>▪ Intermediate Snapshot Store: cache/&lt;Vendor_ID&gt;/&lt;URL_Hash&gt;.json (Raw HTML, Cleaned Text, Retrieval Date, SHA-256 Content Hash)</a:t>
            </a:r>
          </a:p>
          <a:p>
            <a:pPr>
              <a:spcBef>
                <a:spcPts val="400"/>
              </a:spcBef>
              <a:defRPr sz="950">
                <a:solidFill>
                  <a:srgbClr val="0F172A"/>
                </a:solidFill>
              </a:defRPr>
            </a:pPr>
            <a:r>
              <a:t>▪ Output Deliverables: data/Meridian_Vendor_Output.xlsx (Preserved B–K, Populated L–V, 132-row Evidence Log) | Streamlit Presentation 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Expected Outcome 2: System Architecture Diagram</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Technical Components, Interactions, Libraries, and Internal Data Structures</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3026664" cy="292608"/>
          </a:xfrm>
          <a:prstGeom prst="rect">
            <a:avLst/>
          </a:prstGeom>
          <a:noFill/>
        </p:spPr>
        <p:txBody>
          <a:bodyPr wrap="square" lIns="0" tIns="0" rIns="0" bIns="0">
            <a:spAutoFit/>
          </a:bodyPr>
          <a:lstStyle/>
          <a:p>
            <a:pPr>
              <a:defRPr sz="1200" b="1">
                <a:solidFill>
                  <a:srgbClr val="142B4C"/>
                </a:solidFill>
              </a:defRPr>
            </a:pPr>
            <a:r>
              <a:t>MODULE 1 &amp; 2: INGESTION &amp; CRAWL</a:t>
            </a:r>
          </a:p>
        </p:txBody>
      </p:sp>
      <p:sp>
        <p:nvSpPr>
          <p:cNvPr id="13" name="TextBox 12"/>
          <p:cNvSpPr txBox="1"/>
          <p:nvPr/>
        </p:nvSpPr>
        <p:spPr>
          <a:xfrm>
            <a:off x="932688" y="2029968"/>
            <a:ext cx="3026664" cy="4069080"/>
          </a:xfrm>
          <a:prstGeom prst="rect">
            <a:avLst/>
          </a:prstGeom>
          <a:noFill/>
        </p:spPr>
        <p:txBody>
          <a:bodyPr wrap="square" lIns="0" tIns="0" rIns="0" bIns="0">
            <a:spAutoFit/>
          </a:bodyPr>
          <a:lstStyle/>
          <a:p>
            <a:pPr>
              <a:spcBef>
                <a:spcPts val="500"/>
              </a:spcBef>
              <a:defRPr sz="1000" b="1">
                <a:solidFill>
                  <a:srgbClr val="142B4C"/>
                </a:solidFill>
              </a:defRPr>
            </a:pPr>
            <a:r>
              <a:t>▪ src/criticality.py</a:t>
            </a:r>
          </a:p>
          <a:p>
            <a:pPr>
              <a:spcBef>
                <a:spcPts val="100"/>
              </a:spcBef>
              <a:defRPr sz="900">
                <a:solidFill>
                  <a:srgbClr val="0F172A"/>
                </a:solidFill>
              </a:defRPr>
            </a:pPr>
            <a:r>
              <a:t>Parses input via pandas, executes 5 anchored rubric scales, applies floor rules and privileged access modifiers (+1).</a:t>
            </a:r>
          </a:p>
          <a:p>
            <a:pPr>
              <a:spcBef>
                <a:spcPts val="500"/>
              </a:spcBef>
              <a:defRPr sz="1000" b="1">
                <a:solidFill>
                  <a:srgbClr val="142B4C"/>
                </a:solidFill>
              </a:defRPr>
            </a:pPr>
            <a:r>
              <a:t>▪ src/collectors.py</a:t>
            </a:r>
          </a:p>
          <a:p>
            <a:pPr>
              <a:spcBef>
                <a:spcPts val="100"/>
              </a:spcBef>
              <a:defRPr sz="900">
                <a:solidFill>
                  <a:srgbClr val="0F172A"/>
                </a:solidFill>
              </a:defRPr>
            </a:pPr>
            <a:r>
              <a:t>Automated link discovery via sitemap.xml and homepages; respects robots.txt (urllib.robotparser); 1.2s delay.</a:t>
            </a:r>
          </a:p>
          <a:p>
            <a:pPr>
              <a:spcBef>
                <a:spcPts val="500"/>
              </a:spcBef>
              <a:defRPr sz="1000" b="1">
                <a:solidFill>
                  <a:srgbClr val="142B4C"/>
                </a:solidFill>
              </a:defRPr>
            </a:pPr>
            <a:r>
              <a:t>▪ trafilatura &amp; bs4</a:t>
            </a:r>
          </a:p>
          <a:p>
            <a:pPr>
              <a:spcBef>
                <a:spcPts val="100"/>
              </a:spcBef>
              <a:defRPr sz="900">
                <a:solidFill>
                  <a:srgbClr val="0F172A"/>
                </a:solidFill>
              </a:defRPr>
            </a:pPr>
            <a:r>
              <a:t>Strips scripts, styling, and navigation boilerplate. Generates standardized cleaned text for audit indexing.</a:t>
            </a:r>
          </a:p>
          <a:p>
            <a:pPr>
              <a:spcBef>
                <a:spcPts val="500"/>
              </a:spcBef>
              <a:defRPr sz="1000" b="1">
                <a:solidFill>
                  <a:srgbClr val="142B4C"/>
                </a:solidFill>
              </a:defRPr>
            </a:pPr>
            <a:r>
              <a:t>▪ SHA-256 Snapshot Store</a:t>
            </a:r>
          </a:p>
          <a:p>
            <a:pPr>
              <a:spcBef>
                <a:spcPts val="100"/>
              </a:spcBef>
              <a:defRPr sz="900">
                <a:solidFill>
                  <a:srgbClr val="0F172A"/>
                </a:solidFill>
              </a:defRPr>
            </a:pPr>
            <a:r>
              <a:t>Persists local JSON cache containing raw HTML, cleaned text, retrieval timestamp, and content hash for zero-contact replay.</a:t>
            </a:r>
          </a:p>
        </p:txBody>
      </p:sp>
      <p:sp>
        <p:nvSpPr>
          <p:cNvPr id="14" name="Rectangle 13"/>
          <p:cNvSpPr/>
          <p:nvPr/>
        </p:nvSpPr>
        <p:spPr>
          <a:xfrm>
            <a:off x="43891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1673351"/>
            <a:ext cx="3026664" cy="292608"/>
          </a:xfrm>
          <a:prstGeom prst="rect">
            <a:avLst/>
          </a:prstGeom>
          <a:noFill/>
        </p:spPr>
        <p:txBody>
          <a:bodyPr wrap="square" lIns="0" tIns="0" rIns="0" bIns="0">
            <a:spAutoFit/>
          </a:bodyPr>
          <a:lstStyle/>
          <a:p>
            <a:pPr>
              <a:defRPr sz="1200" b="1">
                <a:solidFill>
                  <a:srgbClr val="ED6B2D"/>
                </a:solidFill>
              </a:defRPr>
            </a:pPr>
            <a:r>
              <a:t>MODULE 3: CLASSIFIER &amp; QUOTE GUARD</a:t>
            </a:r>
          </a:p>
        </p:txBody>
      </p:sp>
      <p:sp>
        <p:nvSpPr>
          <p:cNvPr id="17" name="TextBox 16"/>
          <p:cNvSpPr txBox="1"/>
          <p:nvPr/>
        </p:nvSpPr>
        <p:spPr>
          <a:xfrm>
            <a:off x="4590288" y="2029968"/>
            <a:ext cx="3026664" cy="4069080"/>
          </a:xfrm>
          <a:prstGeom prst="rect">
            <a:avLst/>
          </a:prstGeom>
          <a:noFill/>
        </p:spPr>
        <p:txBody>
          <a:bodyPr wrap="square" lIns="0" tIns="0" rIns="0" bIns="0">
            <a:spAutoFit/>
          </a:bodyPr>
          <a:lstStyle/>
          <a:p>
            <a:pPr>
              <a:spcBef>
                <a:spcPts val="500"/>
              </a:spcBef>
              <a:defRPr sz="1000" b="1">
                <a:solidFill>
                  <a:srgbClr val="ED6B2D"/>
                </a:solidFill>
              </a:defRPr>
            </a:pPr>
            <a:r>
              <a:t>▪ src/classify.py</a:t>
            </a:r>
          </a:p>
          <a:p>
            <a:pPr>
              <a:spcBef>
                <a:spcPts val="100"/>
              </a:spcBef>
              <a:defRPr sz="900">
                <a:solidFill>
                  <a:srgbClr val="0F172A"/>
                </a:solidFill>
              </a:defRPr>
            </a:pPr>
            <a:r>
              <a:t>Pre-filters text using 25+ regex patterns for AI keywords to drop irrelevant pages and conserve tokens.</a:t>
            </a:r>
          </a:p>
          <a:p>
            <a:pPr>
              <a:spcBef>
                <a:spcPts val="500"/>
              </a:spcBef>
              <a:defRPr sz="1000" b="1">
                <a:solidFill>
                  <a:srgbClr val="ED6B2D"/>
                </a:solidFill>
              </a:defRPr>
            </a:pPr>
            <a:r>
              <a:t>▪ Groq LPU API Engine</a:t>
            </a:r>
          </a:p>
          <a:p>
            <a:pPr>
              <a:spcBef>
                <a:spcPts val="100"/>
              </a:spcBef>
              <a:defRPr sz="900">
                <a:solidFill>
                  <a:srgbClr val="0F172A"/>
                </a:solidFill>
              </a:defRPr>
            </a:pPr>
            <a:r>
              <a:t>Leverages ultra-fast cloud inference (openai/gpt-oss-120b) with strict JSON schema mode (signal_type, quote, provider).</a:t>
            </a:r>
          </a:p>
          <a:p>
            <a:pPr>
              <a:spcBef>
                <a:spcPts val="500"/>
              </a:spcBef>
              <a:defRPr sz="1000" b="1">
                <a:solidFill>
                  <a:srgbClr val="ED6B2D"/>
                </a:solidFill>
              </a:defRPr>
            </a:pPr>
            <a:r>
              <a:t>▪ verify_quote() Guard</a:t>
            </a:r>
          </a:p>
          <a:p>
            <a:pPr>
              <a:spcBef>
                <a:spcPts val="100"/>
              </a:spcBef>
              <a:defRPr sz="900">
                <a:solidFill>
                  <a:srgbClr val="0F172A"/>
                </a:solidFill>
              </a:defRPr>
            </a:pPr>
            <a:r>
              <a:t>Normalizes whitespace and executes exact substring check. Any non-verbatim quote is discarded as INVALID_QUOTE.</a:t>
            </a:r>
          </a:p>
          <a:p>
            <a:pPr>
              <a:spcBef>
                <a:spcPts val="500"/>
              </a:spcBef>
              <a:defRPr sz="1000" b="1">
                <a:solidFill>
                  <a:srgbClr val="ED6B2D"/>
                </a:solidFill>
              </a:defRPr>
            </a:pPr>
            <a:r>
              <a:t>▪ Signal Scoring Logic</a:t>
            </a:r>
          </a:p>
          <a:p>
            <a:pPr>
              <a:spcBef>
                <a:spcPts val="100"/>
              </a:spcBef>
              <a:defRPr sz="900">
                <a:solidFill>
                  <a:srgbClr val="0F172A"/>
                </a:solidFill>
              </a:defRPr>
            </a:pPr>
            <a:r>
              <a:t>Calculates base evidence score across CONFIRMED, CORROBORATED, INDICATIVE, and MARKETING-ONLY tags.</a:t>
            </a:r>
          </a:p>
        </p:txBody>
      </p:sp>
      <p:sp>
        <p:nvSpPr>
          <p:cNvPr id="18" name="Rectangle 17"/>
          <p:cNvSpPr/>
          <p:nvPr/>
        </p:nvSpPr>
        <p:spPr>
          <a:xfrm>
            <a:off x="80467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1673351"/>
            <a:ext cx="3026664" cy="292608"/>
          </a:xfrm>
          <a:prstGeom prst="rect">
            <a:avLst/>
          </a:prstGeom>
          <a:noFill/>
        </p:spPr>
        <p:txBody>
          <a:bodyPr wrap="square" lIns="0" tIns="0" rIns="0" bIns="0">
            <a:spAutoFit/>
          </a:bodyPr>
          <a:lstStyle/>
          <a:p>
            <a:pPr>
              <a:defRPr sz="1200" b="1">
                <a:solidFill>
                  <a:srgbClr val="142B4C"/>
                </a:solidFill>
              </a:defRPr>
            </a:pPr>
            <a:r>
              <a:t>MODULE 4 &amp; 5: RISK &amp; EXPORT</a:t>
            </a:r>
          </a:p>
        </p:txBody>
      </p:sp>
      <p:sp>
        <p:nvSpPr>
          <p:cNvPr id="21" name="TextBox 20"/>
          <p:cNvSpPr txBox="1"/>
          <p:nvPr/>
        </p:nvSpPr>
        <p:spPr>
          <a:xfrm>
            <a:off x="8247888" y="2029968"/>
            <a:ext cx="3026664" cy="4069080"/>
          </a:xfrm>
          <a:prstGeom prst="rect">
            <a:avLst/>
          </a:prstGeom>
          <a:noFill/>
        </p:spPr>
        <p:txBody>
          <a:bodyPr wrap="square" lIns="0" tIns="0" rIns="0" bIns="0">
            <a:spAutoFit/>
          </a:bodyPr>
          <a:lstStyle/>
          <a:p>
            <a:pPr>
              <a:spcBef>
                <a:spcPts val="500"/>
              </a:spcBef>
              <a:defRPr sz="1000" b="1">
                <a:solidFill>
                  <a:srgbClr val="142B4C"/>
                </a:solidFill>
              </a:defRPr>
            </a:pPr>
            <a:r>
              <a:t>▪ src/risk_export.py</a:t>
            </a:r>
          </a:p>
          <a:p>
            <a:pPr>
              <a:spcBef>
                <a:spcPts val="100"/>
              </a:spcBef>
              <a:defRPr sz="900">
                <a:solidFill>
                  <a:srgbClr val="0F172A"/>
                </a:solidFill>
              </a:defRPr>
            </a:pPr>
            <a:r>
              <a:t>Computes multi-factor evidence score, applies 180-day recency discount (0.7x), maps tier &amp; footprint to risk.</a:t>
            </a:r>
          </a:p>
          <a:p>
            <a:pPr>
              <a:spcBef>
                <a:spcPts val="500"/>
              </a:spcBef>
              <a:defRPr sz="1000" b="1">
                <a:solidFill>
                  <a:srgbClr val="142B4C"/>
                </a:solidFill>
              </a:defRPr>
            </a:pPr>
            <a:r>
              <a:t>▪ openpyxl writer</a:t>
            </a:r>
          </a:p>
          <a:p>
            <a:pPr>
              <a:spcBef>
                <a:spcPts val="100"/>
              </a:spcBef>
              <a:defRPr sz="900">
                <a:solidFill>
                  <a:srgbClr val="0F172A"/>
                </a:solidFill>
              </a:defRPr>
            </a:pPr>
            <a:r>
              <a:t>Uses shutil.copy to preserve client workbook formatting; populates columns L–V; appends 132-entry Evidence Log.</a:t>
            </a:r>
          </a:p>
          <a:p>
            <a:pPr>
              <a:spcBef>
                <a:spcPts val="500"/>
              </a:spcBef>
              <a:defRPr sz="1000" b="1">
                <a:solidFill>
                  <a:srgbClr val="142B4C"/>
                </a:solidFill>
              </a:defRPr>
            </a:pPr>
            <a:r>
              <a:t>▪ app/main.py (Streamlit)</a:t>
            </a:r>
          </a:p>
          <a:p>
            <a:pPr>
              <a:spcBef>
                <a:spcPts val="100"/>
              </a:spcBef>
              <a:defRPr sz="900">
                <a:solidFill>
                  <a:srgbClr val="0F172A"/>
                </a:solidFill>
              </a:defRPr>
            </a:pPr>
            <a:r>
              <a:t>Provides instant Presentation Mode, pre-computed KPI cards, per-vendor deep-dive cards, and one-click download.</a:t>
            </a:r>
          </a:p>
          <a:p>
            <a:pPr>
              <a:spcBef>
                <a:spcPts val="500"/>
              </a:spcBef>
              <a:defRPr sz="1000" b="1">
                <a:solidFill>
                  <a:srgbClr val="142B4C"/>
                </a:solidFill>
              </a:defRPr>
            </a:pPr>
            <a:r>
              <a:t>▪ pytest Test Suite</a:t>
            </a:r>
          </a:p>
          <a:p>
            <a:pPr>
              <a:spcBef>
                <a:spcPts val="100"/>
              </a:spcBef>
              <a:defRPr sz="900">
                <a:solidFill>
                  <a:srgbClr val="0F172A"/>
                </a:solidFill>
              </a:defRPr>
            </a:pPr>
            <a:r>
              <a:t>18 automated unit tests verifying deterministic criticality, Quote Guard integrity, and byte-for-byte column preservation.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Expected Outcome 3: Source Strategy &amp; Evidentiary Logic</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Tiered Reliability Hierarchy, Mathematical Weighting Formula, and the Quote Guard</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56692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56692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5266944" cy="292608"/>
          </a:xfrm>
          <a:prstGeom prst="rect">
            <a:avLst/>
          </a:prstGeom>
          <a:noFill/>
        </p:spPr>
        <p:txBody>
          <a:bodyPr wrap="square" lIns="0" tIns="0" rIns="0" bIns="0">
            <a:spAutoFit/>
          </a:bodyPr>
          <a:lstStyle/>
          <a:p>
            <a:pPr>
              <a:defRPr sz="1200" b="1">
                <a:solidFill>
                  <a:srgbClr val="142B4C"/>
                </a:solidFill>
              </a:defRPr>
            </a:pPr>
            <a:r>
              <a:t>OSINT SOURCE RELIABILITY TIERS</a:t>
            </a:r>
          </a:p>
        </p:txBody>
      </p:sp>
      <p:graphicFrame>
        <p:nvGraphicFramePr>
          <p:cNvPr id="13" name="Table 12"/>
          <p:cNvGraphicFramePr>
            <a:graphicFrameLocks noGrp="1"/>
          </p:cNvGraphicFramePr>
          <p:nvPr/>
        </p:nvGraphicFramePr>
        <p:xfrm>
          <a:off x="914400" y="2029968"/>
          <a:ext cx="5303520" cy="3977639"/>
        </p:xfrm>
        <a:graphic>
          <a:graphicData uri="http://schemas.openxmlformats.org/drawingml/2006/table">
            <a:tbl>
              <a:tblPr firstRow="1" bandRow="1">
                <a:tableStyleId>{5C22544A-7EE6-4342-B048-85BDC9FD1C3A}</a:tableStyleId>
              </a:tblPr>
              <a:tblGrid>
                <a:gridCol w="1417320"/>
                <a:gridCol w="2788920"/>
                <a:gridCol w="1097280"/>
              </a:tblGrid>
              <a:tr h="795527">
                <a:tc>
                  <a:txBody>
                    <a:bodyPr/>
                    <a:lstStyle/>
                    <a:p>
                      <a:pPr>
                        <a:defRPr b="1" sz="950">
                          <a:solidFill>
                            <a:srgbClr val="FFFFFF"/>
                          </a:solidFill>
                        </a:defRPr>
                      </a:pPr>
                      <a:r>
                        <a:t>Tier &amp; Class</a:t>
                      </a:r>
                    </a:p>
                  </a:txBody>
                  <a:tcPr>
                    <a:solidFill>
                      <a:srgbClr val="142B4C"/>
                    </a:solidFill>
                  </a:tcPr>
                </a:tc>
                <a:tc>
                  <a:txBody>
                    <a:bodyPr/>
                    <a:lstStyle/>
                    <a:p>
                      <a:pPr>
                        <a:defRPr b="1" sz="950">
                          <a:solidFill>
                            <a:srgbClr val="FFFFFF"/>
                          </a:solidFill>
                        </a:defRPr>
                      </a:pPr>
                      <a:r>
                        <a:t>Source Type &amp; Footprint</a:t>
                      </a:r>
                    </a:p>
                  </a:txBody>
                  <a:tcPr>
                    <a:solidFill>
                      <a:srgbClr val="142B4C"/>
                    </a:solidFill>
                  </a:tcPr>
                </a:tc>
                <a:tc>
                  <a:txBody>
                    <a:bodyPr/>
                    <a:lstStyle/>
                    <a:p>
                      <a:pPr>
                        <a:defRPr b="1" sz="950">
                          <a:solidFill>
                            <a:srgbClr val="FFFFFF"/>
                          </a:solidFill>
                        </a:defRPr>
                      </a:pPr>
                      <a:r>
                        <a:t>Weight</a:t>
                      </a:r>
                    </a:p>
                  </a:txBody>
                  <a:tcPr>
                    <a:solidFill>
                      <a:srgbClr val="142B4C"/>
                    </a:solidFill>
                  </a:tcPr>
                </a:tc>
              </a:tr>
              <a:tr h="795527">
                <a:tc>
                  <a:txBody>
                    <a:bodyPr/>
                    <a:lstStyle/>
                    <a:p>
                      <a:pPr>
                        <a:defRPr sz="900" b="1">
                          <a:solidFill>
                            <a:srgbClr val="0F172A"/>
                          </a:solidFill>
                        </a:defRPr>
                      </a:pPr>
                      <a:r>
                        <a:t>Tier A: Direct</a:t>
                      </a:r>
                    </a:p>
                  </a:txBody>
                  <a:tcPr>
                    <a:solidFill>
                      <a:srgbClr val="FFFFFF"/>
                    </a:solidFill>
                  </a:tcPr>
                </a:tc>
                <a:tc>
                  <a:txBody>
                    <a:bodyPr/>
                    <a:lstStyle/>
                    <a:p>
                      <a:pPr>
                        <a:defRPr sz="900">
                          <a:solidFill>
                            <a:srgbClr val="0F172A"/>
                          </a:solidFill>
                        </a:defRPr>
                      </a:pPr>
                      <a:r>
                        <a:t>Product docs, sub-processor lists, AI policies, official regulatory filings.</a:t>
                      </a:r>
                    </a:p>
                  </a:txBody>
                  <a:tcPr>
                    <a:solidFill>
                      <a:srgbClr val="FFFFFF"/>
                    </a:solidFill>
                  </a:tcPr>
                </a:tc>
                <a:tc>
                  <a:txBody>
                    <a:bodyPr/>
                    <a:lstStyle/>
                    <a:p>
                      <a:pPr>
                        <a:defRPr sz="900">
                          <a:solidFill>
                            <a:srgbClr val="0F172A"/>
                          </a:solidFill>
                        </a:defRPr>
                      </a:pPr>
                      <a:r>
                        <a:t>4.0x (Highest)</a:t>
                      </a:r>
                    </a:p>
                  </a:txBody>
                  <a:tcPr>
                    <a:solidFill>
                      <a:srgbClr val="FFFFFF"/>
                    </a:solidFill>
                  </a:tcPr>
                </a:tc>
              </a:tr>
              <a:tr h="795527">
                <a:tc>
                  <a:txBody>
                    <a:bodyPr/>
                    <a:lstStyle/>
                    <a:p>
                      <a:pPr>
                        <a:defRPr sz="900" b="1">
                          <a:solidFill>
                            <a:srgbClr val="0F172A"/>
                          </a:solidFill>
                        </a:defRPr>
                      </a:pPr>
                      <a:r>
                        <a:t>Tier B: Corroborating</a:t>
                      </a:r>
                    </a:p>
                  </a:txBody>
                  <a:tcPr>
                    <a:solidFill>
                      <a:srgbClr val="F1F5F9"/>
                    </a:solidFill>
                  </a:tcPr>
                </a:tc>
                <a:tc>
                  <a:txBody>
                    <a:bodyPr/>
                    <a:lstStyle/>
                    <a:p>
                      <a:pPr>
                        <a:defRPr sz="900">
                          <a:solidFill>
                            <a:srgbClr val="0F172A"/>
                          </a:solidFill>
                        </a:defRPr>
                      </a:pPr>
                      <a:r>
                        <a:t>Technical job postings, engineering blogs, GitHub repos, developer SDKs.</a:t>
                      </a:r>
                    </a:p>
                  </a:txBody>
                  <a:tcPr>
                    <a:solidFill>
                      <a:srgbClr val="F1F5F9"/>
                    </a:solidFill>
                  </a:tcPr>
                </a:tc>
                <a:tc>
                  <a:txBody>
                    <a:bodyPr/>
                    <a:lstStyle/>
                    <a:p>
                      <a:pPr>
                        <a:defRPr sz="900">
                          <a:solidFill>
                            <a:srgbClr val="0F172A"/>
                          </a:solidFill>
                        </a:defRPr>
                      </a:pPr>
                      <a:r>
                        <a:t>3.0x (Strong)</a:t>
                      </a:r>
                    </a:p>
                  </a:txBody>
                  <a:tcPr>
                    <a:solidFill>
                      <a:srgbClr val="F1F5F9"/>
                    </a:solidFill>
                  </a:tcPr>
                </a:tc>
              </a:tr>
              <a:tr h="795527">
                <a:tc>
                  <a:txBody>
                    <a:bodyPr/>
                    <a:lstStyle/>
                    <a:p>
                      <a:pPr>
                        <a:defRPr sz="900" b="1">
                          <a:solidFill>
                            <a:srgbClr val="0F172A"/>
                          </a:solidFill>
                        </a:defRPr>
                      </a:pPr>
                      <a:r>
                        <a:t>Tier C: Contextual</a:t>
                      </a:r>
                    </a:p>
                  </a:txBody>
                  <a:tcPr>
                    <a:solidFill>
                      <a:srgbClr val="FFFFFF"/>
                    </a:solidFill>
                  </a:tcPr>
                </a:tc>
                <a:tc>
                  <a:txBody>
                    <a:bodyPr/>
                    <a:lstStyle/>
                    <a:p>
                      <a:pPr>
                        <a:defRPr sz="900">
                          <a:solidFill>
                            <a:srgbClr val="0F172A"/>
                          </a:solidFill>
                        </a:defRPr>
                      </a:pPr>
                      <a:r>
                        <a:t>Executive interviews, press releases, partnership announcements.</a:t>
                      </a:r>
                    </a:p>
                  </a:txBody>
                  <a:tcPr>
                    <a:solidFill>
                      <a:srgbClr val="FFFFFF"/>
                    </a:solidFill>
                  </a:tcPr>
                </a:tc>
                <a:tc>
                  <a:txBody>
                    <a:bodyPr/>
                    <a:lstStyle/>
                    <a:p>
                      <a:pPr>
                        <a:defRPr sz="900">
                          <a:solidFill>
                            <a:srgbClr val="0F172A"/>
                          </a:solidFill>
                        </a:defRPr>
                      </a:pPr>
                      <a:r>
                        <a:t>2.0x (Moderate)</a:t>
                      </a:r>
                    </a:p>
                  </a:txBody>
                  <a:tcPr>
                    <a:solidFill>
                      <a:srgbClr val="FFFFFF"/>
                    </a:solidFill>
                  </a:tcPr>
                </a:tc>
              </a:tr>
              <a:tr h="795531">
                <a:tc>
                  <a:txBody>
                    <a:bodyPr/>
                    <a:lstStyle/>
                    <a:p>
                      <a:pPr>
                        <a:defRPr sz="900" b="1">
                          <a:solidFill>
                            <a:srgbClr val="0F172A"/>
                          </a:solidFill>
                        </a:defRPr>
                      </a:pPr>
                      <a:r>
                        <a:t>Tier D: Noise</a:t>
                      </a:r>
                    </a:p>
                  </a:txBody>
                  <a:tcPr>
                    <a:solidFill>
                      <a:srgbClr val="F1F5F9"/>
                    </a:solidFill>
                  </a:tcPr>
                </a:tc>
                <a:tc>
                  <a:txBody>
                    <a:bodyPr/>
                    <a:lstStyle/>
                    <a:p>
                      <a:pPr>
                        <a:defRPr sz="900">
                          <a:solidFill>
                            <a:srgbClr val="0F172A"/>
                          </a:solidFill>
                        </a:defRPr>
                      </a:pPr>
                      <a:r>
                        <a:t>Generic marketing blogs, buzzwords, speculative thought pieces.</a:t>
                      </a:r>
                    </a:p>
                  </a:txBody>
                  <a:tcPr>
                    <a:solidFill>
                      <a:srgbClr val="F1F5F9"/>
                    </a:solidFill>
                  </a:tcPr>
                </a:tc>
                <a:tc>
                  <a:txBody>
                    <a:bodyPr/>
                    <a:lstStyle/>
                    <a:p>
                      <a:pPr>
                        <a:defRPr sz="900">
                          <a:solidFill>
                            <a:srgbClr val="0F172A"/>
                          </a:solidFill>
                        </a:defRPr>
                      </a:pPr>
                      <a:r>
                        <a:t>1.0x (Filtered)</a:t>
                      </a:r>
                    </a:p>
                  </a:txBody>
                  <a:tcPr>
                    <a:solidFill>
                      <a:srgbClr val="F1F5F9"/>
                    </a:solidFill>
                  </a:tcPr>
                </a:tc>
              </a:tr>
            </a:tbl>
          </a:graphicData>
        </a:graphic>
      </p:graphicFrame>
      <p:sp>
        <p:nvSpPr>
          <p:cNvPr id="14" name="Rectangle 13"/>
          <p:cNvSpPr/>
          <p:nvPr/>
        </p:nvSpPr>
        <p:spPr>
          <a:xfrm>
            <a:off x="6629400" y="1536192"/>
            <a:ext cx="4828032"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29400" y="1536192"/>
            <a:ext cx="4828032"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30568" y="1673351"/>
            <a:ext cx="4425696" cy="292608"/>
          </a:xfrm>
          <a:prstGeom prst="rect">
            <a:avLst/>
          </a:prstGeom>
          <a:noFill/>
        </p:spPr>
        <p:txBody>
          <a:bodyPr wrap="square" lIns="0" tIns="0" rIns="0" bIns="0">
            <a:spAutoFit/>
          </a:bodyPr>
          <a:lstStyle/>
          <a:p>
            <a:pPr>
              <a:defRPr sz="1200" b="1">
                <a:solidFill>
                  <a:srgbClr val="ED6B2D"/>
                </a:solidFill>
              </a:defRPr>
            </a:pPr>
            <a:r>
              <a:t>MATHEMATICAL WEIGHTING &amp; QUOTE GUARD</a:t>
            </a:r>
          </a:p>
        </p:txBody>
      </p:sp>
      <p:sp>
        <p:nvSpPr>
          <p:cNvPr id="17" name="TextBox 16"/>
          <p:cNvSpPr txBox="1"/>
          <p:nvPr/>
        </p:nvSpPr>
        <p:spPr>
          <a:xfrm>
            <a:off x="6839712" y="2029968"/>
            <a:ext cx="4389120" cy="4023360"/>
          </a:xfrm>
          <a:prstGeom prst="rect">
            <a:avLst/>
          </a:prstGeom>
          <a:noFill/>
        </p:spPr>
        <p:txBody>
          <a:bodyPr wrap="square" lIns="0" tIns="0" rIns="0" bIns="0">
            <a:spAutoFit/>
          </a:bodyPr>
          <a:lstStyle/>
          <a:p>
            <a:pPr>
              <a:defRPr sz="1150" b="1">
                <a:solidFill>
                  <a:srgbClr val="ED6B2D"/>
                </a:solidFill>
              </a:defRPr>
            </a:pPr>
            <a:r>
              <a:t>▪ Multi-Factor Weighting Formula:</a:t>
            </a:r>
          </a:p>
          <a:p>
            <a:pPr>
              <a:spcBef>
                <a:spcPts val="400"/>
              </a:spcBef>
              <a:defRPr sz="950">
                <a:solidFill>
                  <a:srgbClr val="0F172A"/>
                </a:solidFill>
              </a:defRPr>
            </a:pPr>
            <a:r>
              <a:t>Signal Score = Base × Tier × Conf × Linkage × Recency</a:t>
            </a:r>
            <a:br/>
            <a:r>
              <a:t>• Base Score: CONFIRMED (5) | CORROBORATED (3) | INDICATIVE (2) | MARKETING (0.5)</a:t>
            </a:r>
            <a:br/>
            <a:r>
              <a:t>• Service Linkage: 1.5x if tied to Meridian's product; 0.5x if generic company-wide</a:t>
            </a:r>
            <a:br/>
            <a:r>
              <a:t>• Recency Discount: 0.7x penalty for signals &gt; 180 days old</a:t>
            </a:r>
          </a:p>
          <a:p>
            <a:pPr>
              <a:spcBef>
                <a:spcPts val="1000"/>
              </a:spcBef>
              <a:defRPr sz="1150" b="1">
                <a:solidFill>
                  <a:srgbClr val="142B4C"/>
                </a:solidFill>
              </a:defRPr>
            </a:pPr>
            <a:r>
              <a:t>▪ The Cryptographic Quote Guard:</a:t>
            </a:r>
          </a:p>
          <a:p>
            <a:pPr>
              <a:spcBef>
                <a:spcPts val="400"/>
              </a:spcBef>
              <a:defRPr sz="950">
                <a:solidFill>
                  <a:srgbClr val="0F172A"/>
                </a:solidFill>
              </a:defRPr>
            </a:pPr>
            <a:r>
              <a:t>1. LLM extracts candidate verbatim quote and AI mechanism.</a:t>
            </a:r>
            <a:br/>
            <a:r>
              <a:t>2. Python executes whitespace-normalized substring search.</a:t>
            </a:r>
            <a:br/>
            <a:r>
              <a:t>3. If candidate quote is NOT a 100% exact substring of the cached snapshot, it is discarded as INVALID_QUOTE.</a:t>
            </a:r>
            <a:br/>
            <a:r>
              <a:t>4. Guarantees zero hallucinations enter the audit trail.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Expected Outcome 4: Criticality Scoring Rubric</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Deterministic 0–3 Scoring Rubric, Floor Rules, and Tier-Driven Depth Policy</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4809744" cy="292608"/>
          </a:xfrm>
          <a:prstGeom prst="rect">
            <a:avLst/>
          </a:prstGeom>
          <a:noFill/>
        </p:spPr>
        <p:txBody>
          <a:bodyPr wrap="square" lIns="0" tIns="0" rIns="0" bIns="0">
            <a:spAutoFit/>
          </a:bodyPr>
          <a:lstStyle/>
          <a:p>
            <a:pPr>
              <a:defRPr sz="1200" b="1">
                <a:solidFill>
                  <a:srgbClr val="142B4C"/>
                </a:solidFill>
              </a:defRPr>
            </a:pPr>
            <a:r>
              <a:t>RUBRIC EVALUATION DIMENSIONS (0–3 SCALE)</a:t>
            </a:r>
          </a:p>
        </p:txBody>
      </p:sp>
      <p:sp>
        <p:nvSpPr>
          <p:cNvPr id="13" name="TextBox 12"/>
          <p:cNvSpPr txBox="1"/>
          <p:nvPr/>
        </p:nvSpPr>
        <p:spPr>
          <a:xfrm>
            <a:off x="960120" y="2029968"/>
            <a:ext cx="4754880" cy="4023360"/>
          </a:xfrm>
          <a:prstGeom prst="rect">
            <a:avLst/>
          </a:prstGeom>
          <a:noFill/>
        </p:spPr>
        <p:txBody>
          <a:bodyPr wrap="square" lIns="0" tIns="0" rIns="0" bIns="0">
            <a:spAutoFit/>
          </a:bodyPr>
          <a:lstStyle/>
          <a:p>
            <a:pPr>
              <a:spcBef>
                <a:spcPts val="600"/>
              </a:spcBef>
              <a:defRPr sz="950">
                <a:solidFill>
                  <a:srgbClr val="0F172A"/>
                </a:solidFill>
              </a:defRPr>
            </a:pPr>
            <a:r>
              <a:t>▪ Data Sensitivity (0–3): 0 = No data | 1 = Internal business data | 2 = Confidential records | 3 = Full customer master records</a:t>
            </a:r>
          </a:p>
          <a:p>
            <a:pPr>
              <a:spcBef>
                <a:spcPts val="600"/>
              </a:spcBef>
              <a:defRPr sz="950">
                <a:solidFill>
                  <a:srgbClr val="0F172A"/>
                </a:solidFill>
              </a:defRPr>
            </a:pPr>
            <a:r>
              <a:t>▪ Payment-Flow Involvement (0–3): 0 = No involvement | 1 = Reporting/indirect | 2 = Payment file transmission | 3 = Core clearing and settlement rail</a:t>
            </a:r>
          </a:p>
          <a:p>
            <a:pPr>
              <a:spcBef>
                <a:spcPts val="600"/>
              </a:spcBef>
              <a:defRPr sz="950">
                <a:solidFill>
                  <a:srgbClr val="0F172A"/>
                </a:solidFill>
              </a:defRPr>
            </a:pPr>
            <a:r>
              <a:t>▪ Regulatory Exposure (0–3): 0 = Standard services | 1 = Reporting | 2 = Regulated banking | 3 = Systemically critical payment utility</a:t>
            </a:r>
          </a:p>
          <a:p>
            <a:pPr>
              <a:spcBef>
                <a:spcPts val="600"/>
              </a:spcBef>
              <a:defRPr sz="950">
                <a:solidFill>
                  <a:srgbClr val="0F172A"/>
                </a:solidFill>
              </a:defRPr>
            </a:pPr>
            <a:r>
              <a:t>▪ Operational Dependency (0–3): 0 = Low | 1 = Moderate | 2 = High | 3 = Critical / Total operational dependence</a:t>
            </a:r>
          </a:p>
          <a:p>
            <a:pPr>
              <a:spcBef>
                <a:spcPts val="600"/>
              </a:spcBef>
              <a:defRPr sz="950">
                <a:solidFill>
                  <a:srgbClr val="0F172A"/>
                </a:solidFill>
              </a:defRPr>
            </a:pPr>
            <a:r>
              <a:t>▪ Data Volume (0–3): 0 = Not applicable | 1 = &lt; 100k records | 2 = 100k – 5M records | 3 = &gt; 5M records / messages</a:t>
            </a:r>
          </a:p>
        </p:txBody>
      </p:sp>
      <p:sp>
        <p:nvSpPr>
          <p:cNvPr id="14" name="Rectangle 13"/>
          <p:cNvSpPr/>
          <p:nvPr/>
        </p:nvSpPr>
        <p:spPr>
          <a:xfrm>
            <a:off x="6248095"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095"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9263" y="1673351"/>
            <a:ext cx="4809744" cy="292608"/>
          </a:xfrm>
          <a:prstGeom prst="rect">
            <a:avLst/>
          </a:prstGeom>
          <a:noFill/>
        </p:spPr>
        <p:txBody>
          <a:bodyPr wrap="square" lIns="0" tIns="0" rIns="0" bIns="0">
            <a:spAutoFit/>
          </a:bodyPr>
          <a:lstStyle/>
          <a:p>
            <a:pPr>
              <a:defRPr sz="1200" b="1">
                <a:solidFill>
                  <a:srgbClr val="ED6B2D"/>
                </a:solidFill>
              </a:defRPr>
            </a:pPr>
            <a:r>
              <a:t>MODIFIERS &amp; TIER-DRIVEN DEPTH POLICY</a:t>
            </a:r>
          </a:p>
        </p:txBody>
      </p:sp>
      <p:sp>
        <p:nvSpPr>
          <p:cNvPr id="17" name="TextBox 16"/>
          <p:cNvSpPr txBox="1"/>
          <p:nvPr/>
        </p:nvSpPr>
        <p:spPr>
          <a:xfrm>
            <a:off x="6473952" y="2029968"/>
            <a:ext cx="4754880" cy="4023360"/>
          </a:xfrm>
          <a:prstGeom prst="rect">
            <a:avLst/>
          </a:prstGeom>
          <a:noFill/>
        </p:spPr>
        <p:txBody>
          <a:bodyPr wrap="square" lIns="0" tIns="0" rIns="0" bIns="0">
            <a:spAutoFit/>
          </a:bodyPr>
          <a:lstStyle/>
          <a:p>
            <a:pPr>
              <a:spcBef>
                <a:spcPts val="600"/>
              </a:spcBef>
              <a:defRPr sz="950">
                <a:solidFill>
                  <a:srgbClr val="0F172A"/>
                </a:solidFill>
              </a:defRPr>
            </a:pPr>
            <a:r>
              <a:t>▪ Privileged-Access Modifier (+1): If vendor holds production credentials or job scheduling authority without direct customer data (e.g. AutomWorx), apply +1 score modifier.</a:t>
            </a:r>
          </a:p>
          <a:p>
            <a:pPr>
              <a:spcBef>
                <a:spcPts val="600"/>
              </a:spcBef>
              <a:defRPr sz="950">
                <a:solidFill>
                  <a:srgbClr val="0F172A"/>
                </a:solidFill>
              </a:defRPr>
            </a:pPr>
            <a:r>
              <a:t>▪ Customer Master Floor Rule: Any vendor accessing full customer master data is guaranteed at least a High or Critical rating.</a:t>
            </a:r>
          </a:p>
          <a:p>
            <a:pPr>
              <a:spcBef>
                <a:spcPts val="600"/>
              </a:spcBef>
              <a:defRPr sz="950">
                <a:solidFill>
                  <a:srgbClr val="0F172A"/>
                </a:solidFill>
              </a:defRPr>
            </a:pPr>
            <a:r>
              <a:t>▪ Critical Depth Policy: Full sweep: product docs, trust center, sub-processor list, AI policy, DPA pages, technical job postings, engineering blog, GitHub, filings.</a:t>
            </a:r>
          </a:p>
          <a:p>
            <a:pPr>
              <a:spcBef>
                <a:spcPts val="600"/>
              </a:spcBef>
              <a:defRPr sz="950">
                <a:solidFill>
                  <a:srgbClr val="0F172A"/>
                </a:solidFill>
              </a:defRPr>
            </a:pPr>
            <a:r>
              <a:t>▪ High Depth Policy: Product docs, trust center, technical job postings, and regulatory filings.</a:t>
            </a:r>
          </a:p>
          <a:p>
            <a:pPr>
              <a:spcBef>
                <a:spcPts val="600"/>
              </a:spcBef>
              <a:defRPr sz="950">
                <a:solidFill>
                  <a:srgbClr val="0F172A"/>
                </a:solidFill>
              </a:defRPr>
            </a:pPr>
            <a:r>
              <a:t>▪ Medium Depth Policy: Public website, standard product documentation, and general job listings.</a:t>
            </a:r>
          </a:p>
          <a:p>
            <a:pPr>
              <a:spcBef>
                <a:spcPts val="600"/>
              </a:spcBef>
              <a:defRPr sz="950">
                <a:solidFill>
                  <a:srgbClr val="0F172A"/>
                </a:solidFill>
              </a:defRPr>
            </a:pPr>
            <a:r>
              <a:t>▪ Low Depth Policy: Trust center and AI-policy check only (efficient resource allocation).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Expected Outcome 4 (Cont.): Vendor Criticality Scores</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Deterministic Scoring Breakdown Across Meridian's 6 Third-Party Vendors</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731520" y="1536192"/>
          <a:ext cx="10728655" cy="4709160"/>
        </p:xfrm>
        <a:graphic>
          <a:graphicData uri="http://schemas.openxmlformats.org/drawingml/2006/table">
            <a:tbl>
              <a:tblPr firstRow="1" bandRow="1">
                <a:tableStyleId>{5C22544A-7EE6-4342-B048-85BDC9FD1C3A}</a:tableStyleId>
              </a:tblPr>
              <a:tblGrid>
                <a:gridCol w="914400"/>
                <a:gridCol w="2377440"/>
                <a:gridCol w="914400"/>
                <a:gridCol w="1188720"/>
                <a:gridCol w="1280160"/>
                <a:gridCol w="4053535"/>
              </a:tblGrid>
              <a:tr h="672737">
                <a:tc>
                  <a:txBody>
                    <a:bodyPr/>
                    <a:lstStyle/>
                    <a:p>
                      <a:pPr>
                        <a:defRPr b="1" sz="950">
                          <a:solidFill>
                            <a:srgbClr val="FFFFFF"/>
                          </a:solidFill>
                        </a:defRPr>
                      </a:pPr>
                      <a:r>
                        <a:t>Vendor ID</a:t>
                      </a:r>
                    </a:p>
                  </a:txBody>
                  <a:tcPr>
                    <a:solidFill>
                      <a:srgbClr val="142B4C"/>
                    </a:solidFill>
                  </a:tcPr>
                </a:tc>
                <a:tc>
                  <a:txBody>
                    <a:bodyPr/>
                    <a:lstStyle/>
                    <a:p>
                      <a:pPr>
                        <a:defRPr b="1" sz="950">
                          <a:solidFill>
                            <a:srgbClr val="FFFFFF"/>
                          </a:solidFill>
                        </a:defRPr>
                      </a:pPr>
                      <a:r>
                        <a:t>Vendor Name</a:t>
                      </a:r>
                    </a:p>
                  </a:txBody>
                  <a:tcPr>
                    <a:solidFill>
                      <a:srgbClr val="142B4C"/>
                    </a:solidFill>
                  </a:tcPr>
                </a:tc>
                <a:tc>
                  <a:txBody>
                    <a:bodyPr/>
                    <a:lstStyle/>
                    <a:p>
                      <a:pPr>
                        <a:defRPr b="1" sz="950">
                          <a:solidFill>
                            <a:srgbClr val="FFFFFF"/>
                          </a:solidFill>
                        </a:defRPr>
                      </a:pPr>
                      <a:r>
                        <a:t>Score</a:t>
                      </a:r>
                    </a:p>
                  </a:txBody>
                  <a:tcPr>
                    <a:solidFill>
                      <a:srgbClr val="142B4C"/>
                    </a:solidFill>
                  </a:tcPr>
                </a:tc>
                <a:tc>
                  <a:txBody>
                    <a:bodyPr/>
                    <a:lstStyle/>
                    <a:p>
                      <a:pPr>
                        <a:defRPr b="1" sz="950">
                          <a:solidFill>
                            <a:srgbClr val="FFFFFF"/>
                          </a:solidFill>
                        </a:defRPr>
                      </a:pPr>
                      <a:r>
                        <a:t>Assigned Tier</a:t>
                      </a:r>
                    </a:p>
                  </a:txBody>
                  <a:tcPr>
                    <a:solidFill>
                      <a:srgbClr val="142B4C"/>
                    </a:solidFill>
                  </a:tcPr>
                </a:tc>
                <a:tc>
                  <a:txBody>
                    <a:bodyPr/>
                    <a:lstStyle/>
                    <a:p>
                      <a:pPr>
                        <a:defRPr b="1" sz="950">
                          <a:solidFill>
                            <a:srgbClr val="FFFFFF"/>
                          </a:solidFill>
                        </a:defRPr>
                      </a:pPr>
                      <a:r>
                        <a:t>Dependency</a:t>
                      </a:r>
                    </a:p>
                  </a:txBody>
                  <a:tcPr>
                    <a:solidFill>
                      <a:srgbClr val="142B4C"/>
                    </a:solidFill>
                  </a:tcPr>
                </a:tc>
                <a:tc>
                  <a:txBody>
                    <a:bodyPr/>
                    <a:lstStyle/>
                    <a:p>
                      <a:pPr>
                        <a:defRPr b="1" sz="950">
                          <a:solidFill>
                            <a:srgbClr val="FFFFFF"/>
                          </a:solidFill>
                        </a:defRPr>
                      </a:pPr>
                      <a:r>
                        <a:t>Criticality Rationale &amp; Applied Depth</a:t>
                      </a:r>
                    </a:p>
                  </a:txBody>
                  <a:tcPr>
                    <a:solidFill>
                      <a:srgbClr val="142B4C"/>
                    </a:solidFill>
                  </a:tcPr>
                </a:tc>
              </a:tr>
              <a:tr h="672737">
                <a:tc>
                  <a:txBody>
                    <a:bodyPr/>
                    <a:lstStyle/>
                    <a:p>
                      <a:pPr>
                        <a:defRPr sz="900">
                          <a:solidFill>
                            <a:srgbClr val="0F172A"/>
                          </a:solidFill>
                        </a:defRPr>
                      </a:pPr>
                      <a:r>
                        <a:t>V-001</a:t>
                      </a:r>
                    </a:p>
                  </a:txBody>
                  <a:tcPr>
                    <a:solidFill>
                      <a:srgbClr val="FFFFFF"/>
                    </a:solidFill>
                  </a:tcPr>
                </a:tc>
                <a:tc>
                  <a:txBody>
                    <a:bodyPr/>
                    <a:lstStyle/>
                    <a:p>
                      <a:pPr>
                        <a:defRPr sz="900">
                          <a:solidFill>
                            <a:srgbClr val="0F172A"/>
                          </a:solidFill>
                        </a:defRPr>
                      </a:pPr>
                      <a:r>
                        <a:t>AutomWorx</a:t>
                      </a:r>
                    </a:p>
                  </a:txBody>
                  <a:tcPr>
                    <a:solidFill>
                      <a:srgbClr val="FFFFFF"/>
                    </a:solidFill>
                  </a:tcPr>
                </a:tc>
                <a:tc>
                  <a:txBody>
                    <a:bodyPr/>
                    <a:lstStyle/>
                    <a:p>
                      <a:pPr>
                        <a:defRPr sz="900">
                          <a:solidFill>
                            <a:srgbClr val="0F172A"/>
                          </a:solidFill>
                        </a:defRPr>
                      </a:pPr>
                      <a:r>
                        <a:t>3</a:t>
                      </a:r>
                    </a:p>
                  </a:txBody>
                  <a:tcPr>
                    <a:solidFill>
                      <a:srgbClr val="FFFFFF"/>
                    </a:solidFill>
                  </a:tcPr>
                </a:tc>
                <a:tc>
                  <a:txBody>
                    <a:bodyPr/>
                    <a:lstStyle/>
                    <a:p>
                      <a:pPr>
                        <a:defRPr sz="900" b="1">
                          <a:solidFill>
                            <a:srgbClr val="10B981"/>
                          </a:solidFill>
                        </a:defRPr>
                      </a:pPr>
                      <a:r>
                        <a:t>Low</a:t>
                      </a:r>
                    </a:p>
                  </a:txBody>
                  <a:tcPr>
                    <a:solidFill>
                      <a:srgbClr val="FFFFFF"/>
                    </a:solidFill>
                  </a:tcPr>
                </a:tc>
                <a:tc>
                  <a:txBody>
                    <a:bodyPr/>
                    <a:lstStyle/>
                    <a:p>
                      <a:pPr>
                        <a:defRPr sz="900">
                          <a:solidFill>
                            <a:srgbClr val="0F172A"/>
                          </a:solidFill>
                        </a:defRPr>
                      </a:pPr>
                      <a:r>
                        <a:t>High</a:t>
                      </a:r>
                    </a:p>
                  </a:txBody>
                  <a:tcPr>
                    <a:solidFill>
                      <a:srgbClr val="FFFFFF"/>
                    </a:solidFill>
                  </a:tcPr>
                </a:tc>
                <a:tc>
                  <a:txBody>
                    <a:bodyPr/>
                    <a:lstStyle/>
                    <a:p>
                      <a:pPr>
                        <a:defRPr sz="900">
                          <a:solidFill>
                            <a:srgbClr val="0F172A"/>
                          </a:solidFill>
                        </a:defRPr>
                      </a:pPr>
                      <a:r>
                        <a:t>Holds production credentials (+1 privileged modifier) but no direct customer data. Depth: Trust center/AI policy only.</a:t>
                      </a:r>
                    </a:p>
                  </a:txBody>
                  <a:tcPr>
                    <a:solidFill>
                      <a:srgbClr val="FFFFFF"/>
                    </a:solidFill>
                  </a:tcPr>
                </a:tc>
              </a:tr>
              <a:tr h="672737">
                <a:tc>
                  <a:txBody>
                    <a:bodyPr/>
                    <a:lstStyle/>
                    <a:p>
                      <a:pPr>
                        <a:defRPr sz="900">
                          <a:solidFill>
                            <a:srgbClr val="0F172A"/>
                          </a:solidFill>
                        </a:defRPr>
                      </a:pPr>
                      <a:r>
                        <a:t>V-002</a:t>
                      </a:r>
                    </a:p>
                  </a:txBody>
                  <a:tcPr>
                    <a:solidFill>
                      <a:srgbClr val="F1F5F9"/>
                    </a:solidFill>
                  </a:tcPr>
                </a:tc>
                <a:tc>
                  <a:txBody>
                    <a:bodyPr/>
                    <a:lstStyle/>
                    <a:p>
                      <a:pPr>
                        <a:defRPr sz="900">
                          <a:solidFill>
                            <a:srgbClr val="0F172A"/>
                          </a:solidFill>
                        </a:defRPr>
                      </a:pPr>
                      <a:r>
                        <a:t>Fiserv, Inc.</a:t>
                      </a:r>
                    </a:p>
                  </a:txBody>
                  <a:tcPr>
                    <a:solidFill>
                      <a:srgbClr val="F1F5F9"/>
                    </a:solidFill>
                  </a:tcPr>
                </a:tc>
                <a:tc>
                  <a:txBody>
                    <a:bodyPr/>
                    <a:lstStyle/>
                    <a:p>
                      <a:pPr>
                        <a:defRPr sz="900">
                          <a:solidFill>
                            <a:srgbClr val="0F172A"/>
                          </a:solidFill>
                        </a:defRPr>
                      </a:pPr>
                      <a:r>
                        <a:t>15</a:t>
                      </a:r>
                    </a:p>
                  </a:txBody>
                  <a:tcPr>
                    <a:solidFill>
                      <a:srgbClr val="F1F5F9"/>
                    </a:solidFill>
                  </a:tcPr>
                </a:tc>
                <a:tc>
                  <a:txBody>
                    <a:bodyPr/>
                    <a:lstStyle/>
                    <a:p>
                      <a:pPr>
                        <a:defRPr sz="900" b="1">
                          <a:solidFill>
                            <a:srgbClr val="EF4444"/>
                          </a:solidFill>
                        </a:defRPr>
                      </a:pPr>
                      <a:r>
                        <a:t>Critical</a:t>
                      </a:r>
                    </a:p>
                  </a:txBody>
                  <a:tcPr>
                    <a:solidFill>
                      <a:srgbClr val="F1F5F9"/>
                    </a:solidFill>
                  </a:tcPr>
                </a:tc>
                <a:tc>
                  <a:txBody>
                    <a:bodyPr/>
                    <a:lstStyle/>
                    <a:p>
                      <a:pPr>
                        <a:defRPr sz="900">
                          <a:solidFill>
                            <a:srgbClr val="0F172A"/>
                          </a:solidFill>
                        </a:defRPr>
                      </a:pPr>
                      <a:r>
                        <a:t>Critical</a:t>
                      </a:r>
                    </a:p>
                  </a:txBody>
                  <a:tcPr>
                    <a:solidFill>
                      <a:srgbClr val="F1F5F9"/>
                    </a:solidFill>
                  </a:tcPr>
                </a:tc>
                <a:tc>
                  <a:txBody>
                    <a:bodyPr/>
                    <a:lstStyle/>
                    <a:p>
                      <a:pPr>
                        <a:defRPr sz="900">
                          <a:solidFill>
                            <a:srgbClr val="0F172A"/>
                          </a:solidFill>
                        </a:defRPr>
                      </a:pPr>
                      <a:r>
                        <a:t>Core banking (DNA) &amp; card platform accessing 1.4M customer master records. Depth: Full sweep (docs, trust, jobs, filings).</a:t>
                      </a:r>
                    </a:p>
                  </a:txBody>
                  <a:tcPr>
                    <a:solidFill>
                      <a:srgbClr val="F1F5F9"/>
                    </a:solidFill>
                  </a:tcPr>
                </a:tc>
              </a:tr>
              <a:tr h="672737">
                <a:tc>
                  <a:txBody>
                    <a:bodyPr/>
                    <a:lstStyle/>
                    <a:p>
                      <a:pPr>
                        <a:defRPr sz="900">
                          <a:solidFill>
                            <a:srgbClr val="0F172A"/>
                          </a:solidFill>
                        </a:defRPr>
                      </a:pPr>
                      <a:r>
                        <a:t>V-003</a:t>
                      </a:r>
                    </a:p>
                  </a:txBody>
                  <a:tcPr>
                    <a:solidFill>
                      <a:srgbClr val="FFFFFF"/>
                    </a:solidFill>
                  </a:tcPr>
                </a:tc>
                <a:tc>
                  <a:txBody>
                    <a:bodyPr/>
                    <a:lstStyle/>
                    <a:p>
                      <a:pPr>
                        <a:defRPr sz="900">
                          <a:solidFill>
                            <a:srgbClr val="0F172A"/>
                          </a:solidFill>
                        </a:defRPr>
                      </a:pPr>
                      <a:r>
                        <a:t>FSSI</a:t>
                      </a:r>
                    </a:p>
                  </a:txBody>
                  <a:tcPr>
                    <a:solidFill>
                      <a:srgbClr val="FFFFFF"/>
                    </a:solidFill>
                  </a:tcPr>
                </a:tc>
                <a:tc>
                  <a:txBody>
                    <a:bodyPr/>
                    <a:lstStyle/>
                    <a:p>
                      <a:pPr>
                        <a:defRPr sz="900">
                          <a:solidFill>
                            <a:srgbClr val="0F172A"/>
                          </a:solidFill>
                        </a:defRPr>
                      </a:pPr>
                      <a:r>
                        <a:t>9</a:t>
                      </a:r>
                    </a:p>
                  </a:txBody>
                  <a:tcPr>
                    <a:solidFill>
                      <a:srgbClr val="FFFFFF"/>
                    </a:solidFill>
                  </a:tcPr>
                </a:tc>
                <a:tc>
                  <a:txBody>
                    <a:bodyPr/>
                    <a:lstStyle/>
                    <a:p>
                      <a:pPr>
                        <a:defRPr sz="900" b="1">
                          <a:solidFill>
                            <a:srgbClr val="F59E0B"/>
                          </a:solidFill>
                        </a:defRPr>
                      </a:pPr>
                      <a:r>
                        <a:t>High</a:t>
                      </a:r>
                    </a:p>
                  </a:txBody>
                  <a:tcPr>
                    <a:solidFill>
                      <a:srgbClr val="FFFFFF"/>
                    </a:solidFill>
                  </a:tcPr>
                </a:tc>
                <a:tc>
                  <a:txBody>
                    <a:bodyPr/>
                    <a:lstStyle/>
                    <a:p>
                      <a:pPr>
                        <a:defRPr sz="900">
                          <a:solidFill>
                            <a:srgbClr val="0F172A"/>
                          </a:solidFill>
                        </a:defRPr>
                      </a:pPr>
                      <a:r>
                        <a:t>High</a:t>
                      </a:r>
                    </a:p>
                  </a:txBody>
                  <a:tcPr>
                    <a:solidFill>
                      <a:srgbClr val="FFFFFF"/>
                    </a:solidFill>
                  </a:tcPr>
                </a:tc>
                <a:tc>
                  <a:txBody>
                    <a:bodyPr/>
                    <a:lstStyle/>
                    <a:p>
                      <a:pPr>
                        <a:defRPr sz="900">
                          <a:solidFill>
                            <a:srgbClr val="0F172A"/>
                          </a:solidFill>
                        </a:defRPr>
                      </a:pPr>
                      <a:r>
                        <a:t>Statement print &amp; e-delivery processing for 850k customer accounts. Depth: Product docs, trust center, jobs, filings.</a:t>
                      </a:r>
                    </a:p>
                  </a:txBody>
                  <a:tcPr>
                    <a:solidFill>
                      <a:srgbClr val="FFFFFF"/>
                    </a:solidFill>
                  </a:tcPr>
                </a:tc>
              </a:tr>
              <a:tr h="672737">
                <a:tc>
                  <a:txBody>
                    <a:bodyPr/>
                    <a:lstStyle/>
                    <a:p>
                      <a:pPr>
                        <a:defRPr sz="900">
                          <a:solidFill>
                            <a:srgbClr val="0F172A"/>
                          </a:solidFill>
                        </a:defRPr>
                      </a:pPr>
                      <a:r>
                        <a:t>V-004</a:t>
                      </a:r>
                    </a:p>
                  </a:txBody>
                  <a:tcPr>
                    <a:solidFill>
                      <a:srgbClr val="F1F5F9"/>
                    </a:solidFill>
                  </a:tcPr>
                </a:tc>
                <a:tc>
                  <a:txBody>
                    <a:bodyPr/>
                    <a:lstStyle/>
                    <a:p>
                      <a:pPr>
                        <a:defRPr sz="900">
                          <a:solidFill>
                            <a:srgbClr val="0F172A"/>
                          </a:solidFill>
                        </a:defRPr>
                      </a:pPr>
                      <a:r>
                        <a:t>Terrapin Technologies</a:t>
                      </a:r>
                    </a:p>
                  </a:txBody>
                  <a:tcPr>
                    <a:solidFill>
                      <a:srgbClr val="F1F5F9"/>
                    </a:solidFill>
                  </a:tcPr>
                </a:tc>
                <a:tc>
                  <a:txBody>
                    <a:bodyPr/>
                    <a:lstStyle/>
                    <a:p>
                      <a:pPr>
                        <a:defRPr sz="900">
                          <a:solidFill>
                            <a:srgbClr val="0F172A"/>
                          </a:solidFill>
                        </a:defRPr>
                      </a:pPr>
                      <a:r>
                        <a:t>6</a:t>
                      </a:r>
                    </a:p>
                  </a:txBody>
                  <a:tcPr>
                    <a:solidFill>
                      <a:srgbClr val="F1F5F9"/>
                    </a:solidFill>
                  </a:tcPr>
                </a:tc>
                <a:tc>
                  <a:txBody>
                    <a:bodyPr/>
                    <a:lstStyle/>
                    <a:p>
                      <a:pPr>
                        <a:defRPr sz="900" b="1">
                          <a:solidFill>
                            <a:srgbClr val="3B82F6"/>
                          </a:solidFill>
                        </a:defRPr>
                      </a:pPr>
                      <a:r>
                        <a:t>Medium</a:t>
                      </a:r>
                    </a:p>
                  </a:txBody>
                  <a:tcPr>
                    <a:solidFill>
                      <a:srgbClr val="F1F5F9"/>
                    </a:solidFill>
                  </a:tcPr>
                </a:tc>
                <a:tc>
                  <a:txBody>
                    <a:bodyPr/>
                    <a:lstStyle/>
                    <a:p>
                      <a:pPr>
                        <a:defRPr sz="900">
                          <a:solidFill>
                            <a:srgbClr val="0F172A"/>
                          </a:solidFill>
                        </a:defRPr>
                      </a:pPr>
                      <a:r>
                        <a:t>Moderate</a:t>
                      </a:r>
                    </a:p>
                  </a:txBody>
                  <a:tcPr>
                    <a:solidFill>
                      <a:srgbClr val="F1F5F9"/>
                    </a:solidFill>
                  </a:tcPr>
                </a:tc>
                <a:tc>
                  <a:txBody>
                    <a:bodyPr/>
                    <a:lstStyle/>
                    <a:p>
                      <a:pPr>
                        <a:defRPr sz="900">
                          <a:solidFill>
                            <a:srgbClr val="0F172A"/>
                          </a:solidFill>
                        </a:defRPr>
                      </a:pPr>
                      <a:r>
                        <a:t>Wealth data solution consolidating 38k advisor accounts &amp; commissions. Depth: Website, docs, and job listings.</a:t>
                      </a:r>
                    </a:p>
                  </a:txBody>
                  <a:tcPr>
                    <a:solidFill>
                      <a:srgbClr val="F1F5F9"/>
                    </a:solidFill>
                  </a:tcPr>
                </a:tc>
              </a:tr>
              <a:tr h="672737">
                <a:tc>
                  <a:txBody>
                    <a:bodyPr/>
                    <a:lstStyle/>
                    <a:p>
                      <a:pPr>
                        <a:defRPr sz="900">
                          <a:solidFill>
                            <a:srgbClr val="0F172A"/>
                          </a:solidFill>
                        </a:defRPr>
                      </a:pPr>
                      <a:r>
                        <a:t>V-005</a:t>
                      </a:r>
                    </a:p>
                  </a:txBody>
                  <a:tcPr>
                    <a:solidFill>
                      <a:srgbClr val="FFFFFF"/>
                    </a:solidFill>
                  </a:tcPr>
                </a:tc>
                <a:tc>
                  <a:txBody>
                    <a:bodyPr/>
                    <a:lstStyle/>
                    <a:p>
                      <a:pPr>
                        <a:defRPr sz="900">
                          <a:solidFill>
                            <a:srgbClr val="0F172A"/>
                          </a:solidFill>
                        </a:defRPr>
                      </a:pPr>
                      <a:r>
                        <a:t>BNY</a:t>
                      </a:r>
                    </a:p>
                  </a:txBody>
                  <a:tcPr>
                    <a:solidFill>
                      <a:srgbClr val="FFFFFF"/>
                    </a:solidFill>
                  </a:tcPr>
                </a:tc>
                <a:tc>
                  <a:txBody>
                    <a:bodyPr/>
                    <a:lstStyle/>
                    <a:p>
                      <a:pPr>
                        <a:defRPr sz="900">
                          <a:solidFill>
                            <a:srgbClr val="0F172A"/>
                          </a:solidFill>
                        </a:defRPr>
                      </a:pPr>
                      <a:r>
                        <a:t>9</a:t>
                      </a:r>
                    </a:p>
                  </a:txBody>
                  <a:tcPr>
                    <a:solidFill>
                      <a:srgbClr val="FFFFFF"/>
                    </a:solidFill>
                  </a:tcPr>
                </a:tc>
                <a:tc>
                  <a:txBody>
                    <a:bodyPr/>
                    <a:lstStyle/>
                    <a:p>
                      <a:pPr>
                        <a:defRPr sz="900" b="1">
                          <a:solidFill>
                            <a:srgbClr val="F59E0B"/>
                          </a:solidFill>
                        </a:defRPr>
                      </a:pPr>
                      <a:r>
                        <a:t>High</a:t>
                      </a:r>
                    </a:p>
                  </a:txBody>
                  <a:tcPr>
                    <a:solidFill>
                      <a:srgbClr val="FFFFFF"/>
                    </a:solidFill>
                  </a:tcPr>
                </a:tc>
                <a:tc>
                  <a:txBody>
                    <a:bodyPr/>
                    <a:lstStyle/>
                    <a:p>
                      <a:pPr>
                        <a:defRPr sz="900">
                          <a:solidFill>
                            <a:srgbClr val="0F172A"/>
                          </a:solidFill>
                        </a:defRPr>
                      </a:pPr>
                      <a:r>
                        <a:t>High</a:t>
                      </a:r>
                    </a:p>
                  </a:txBody>
                  <a:tcPr>
                    <a:solidFill>
                      <a:srgbClr val="FFFFFF"/>
                    </a:solidFill>
                  </a:tcPr>
                </a:tc>
                <a:tc>
                  <a:txBody>
                    <a:bodyPr/>
                    <a:lstStyle/>
                    <a:p>
                      <a:pPr>
                        <a:defRPr sz="900">
                          <a:solidFill>
                            <a:srgbClr val="0F172A"/>
                          </a:solidFill>
                        </a:defRPr>
                      </a:pPr>
                      <a:r>
                        <a:t>RTP transmission services processing 2.1M payment messages. Depth: Product docs, trust center, jobs, filings.</a:t>
                      </a:r>
                    </a:p>
                  </a:txBody>
                  <a:tcPr>
                    <a:solidFill>
                      <a:srgbClr val="FFFFFF"/>
                    </a:solidFill>
                  </a:tcPr>
                </a:tc>
              </a:tr>
              <a:tr h="672738">
                <a:tc>
                  <a:txBody>
                    <a:bodyPr/>
                    <a:lstStyle/>
                    <a:p>
                      <a:pPr>
                        <a:defRPr sz="900">
                          <a:solidFill>
                            <a:srgbClr val="0F172A"/>
                          </a:solidFill>
                        </a:defRPr>
                      </a:pPr>
                      <a:r>
                        <a:t>V-006</a:t>
                      </a:r>
                    </a:p>
                  </a:txBody>
                  <a:tcPr>
                    <a:solidFill>
                      <a:srgbClr val="F1F5F9"/>
                    </a:solidFill>
                  </a:tcPr>
                </a:tc>
                <a:tc>
                  <a:txBody>
                    <a:bodyPr/>
                    <a:lstStyle/>
                    <a:p>
                      <a:pPr>
                        <a:defRPr sz="900">
                          <a:solidFill>
                            <a:srgbClr val="0F172A"/>
                          </a:solidFill>
                        </a:defRPr>
                      </a:pPr>
                      <a:r>
                        <a:t>The Clearing House</a:t>
                      </a:r>
                    </a:p>
                  </a:txBody>
                  <a:tcPr>
                    <a:solidFill>
                      <a:srgbClr val="F1F5F9"/>
                    </a:solidFill>
                  </a:tcPr>
                </a:tc>
                <a:tc>
                  <a:txBody>
                    <a:bodyPr/>
                    <a:lstStyle/>
                    <a:p>
                      <a:pPr>
                        <a:defRPr sz="900">
                          <a:solidFill>
                            <a:srgbClr val="0F172A"/>
                          </a:solidFill>
                        </a:defRPr>
                      </a:pPr>
                      <a:r>
                        <a:t>12</a:t>
                      </a:r>
                    </a:p>
                  </a:txBody>
                  <a:tcPr>
                    <a:solidFill>
                      <a:srgbClr val="F1F5F9"/>
                    </a:solidFill>
                  </a:tcPr>
                </a:tc>
                <a:tc>
                  <a:txBody>
                    <a:bodyPr/>
                    <a:lstStyle/>
                    <a:p>
                      <a:pPr>
                        <a:defRPr sz="900" b="1">
                          <a:solidFill>
                            <a:srgbClr val="EF4444"/>
                          </a:solidFill>
                        </a:defRPr>
                      </a:pPr>
                      <a:r>
                        <a:t>Critical</a:t>
                      </a:r>
                    </a:p>
                  </a:txBody>
                  <a:tcPr>
                    <a:solidFill>
                      <a:srgbClr val="F1F5F9"/>
                    </a:solidFill>
                  </a:tcPr>
                </a:tc>
                <a:tc>
                  <a:txBody>
                    <a:bodyPr/>
                    <a:lstStyle/>
                    <a:p>
                      <a:pPr>
                        <a:defRPr sz="900">
                          <a:solidFill>
                            <a:srgbClr val="0F172A"/>
                          </a:solidFill>
                        </a:defRPr>
                      </a:pPr>
                      <a:r>
                        <a:t>Critical</a:t>
                      </a:r>
                    </a:p>
                  </a:txBody>
                  <a:tcPr>
                    <a:solidFill>
                      <a:srgbClr val="F1F5F9"/>
                    </a:solidFill>
                  </a:tcPr>
                </a:tc>
                <a:tc>
                  <a:txBody>
                    <a:bodyPr/>
                    <a:lstStyle/>
                    <a:p>
                      <a:pPr>
                        <a:defRPr sz="900">
                          <a:solidFill>
                            <a:srgbClr val="0F172A"/>
                          </a:solidFill>
                        </a:defRPr>
                      </a:pPr>
                      <a:r>
                        <a:t>National ACH &amp; RTP settlement clearing 14M payment messages. Depth: Full sweep (operating rules, specs, filings).</a:t>
                      </a:r>
                    </a:p>
                  </a:txBody>
                  <a:tcPr>
                    <a:solidFill>
                      <a:srgbClr val="F1F5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Expected Outcome 5: Vendor Assessment Findings</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Definitive Findings Matrix: Exactly 1 Inconclusive Reflects Methodological Rigor</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Table 9"/>
          <p:cNvGraphicFramePr>
            <a:graphicFrameLocks noGrp="1"/>
          </p:cNvGraphicFramePr>
          <p:nvPr/>
        </p:nvGraphicFramePr>
        <p:xfrm>
          <a:off x="731520" y="1536192"/>
          <a:ext cx="10728655" cy="4709160"/>
        </p:xfrm>
        <a:graphic>
          <a:graphicData uri="http://schemas.openxmlformats.org/drawingml/2006/table">
            <a:tbl>
              <a:tblPr firstRow="1" bandRow="1">
                <a:tableStyleId>{5C22544A-7EE6-4342-B048-85BDC9FD1C3A}</a:tableStyleId>
              </a:tblPr>
              <a:tblGrid>
                <a:gridCol w="822960"/>
                <a:gridCol w="1920240"/>
                <a:gridCol w="1005840"/>
                <a:gridCol w="1005840"/>
                <a:gridCol w="1097280"/>
                <a:gridCol w="4876495"/>
              </a:tblGrid>
              <a:tr h="672737">
                <a:tc>
                  <a:txBody>
                    <a:bodyPr/>
                    <a:lstStyle/>
                    <a:p>
                      <a:pPr>
                        <a:defRPr b="1" sz="950">
                          <a:solidFill>
                            <a:srgbClr val="FFFFFF"/>
                          </a:solidFill>
                        </a:defRPr>
                      </a:pPr>
                      <a:r>
                        <a:t>VID</a:t>
                      </a:r>
                    </a:p>
                  </a:txBody>
                  <a:tcPr>
                    <a:solidFill>
                      <a:srgbClr val="142B4C"/>
                    </a:solidFill>
                  </a:tcPr>
                </a:tc>
                <a:tc>
                  <a:txBody>
                    <a:bodyPr/>
                    <a:lstStyle/>
                    <a:p>
                      <a:pPr>
                        <a:defRPr b="1" sz="950">
                          <a:solidFill>
                            <a:srgbClr val="FFFFFF"/>
                          </a:solidFill>
                        </a:defRPr>
                      </a:pPr>
                      <a:r>
                        <a:t>Vendor Name</a:t>
                      </a:r>
                    </a:p>
                  </a:txBody>
                  <a:tcPr>
                    <a:solidFill>
                      <a:srgbClr val="142B4C"/>
                    </a:solidFill>
                  </a:tcPr>
                </a:tc>
                <a:tc>
                  <a:txBody>
                    <a:bodyPr/>
                    <a:lstStyle/>
                    <a:p>
                      <a:pPr>
                        <a:defRPr b="1" sz="950">
                          <a:solidFill>
                            <a:srgbClr val="FFFFFF"/>
                          </a:solidFill>
                        </a:defRPr>
                      </a:pPr>
                      <a:r>
                        <a:t>Criticality</a:t>
                      </a:r>
                    </a:p>
                  </a:txBody>
                  <a:tcPr>
                    <a:solidFill>
                      <a:srgbClr val="142B4C"/>
                    </a:solidFill>
                  </a:tcPr>
                </a:tc>
                <a:tc>
                  <a:txBody>
                    <a:bodyPr/>
                    <a:lstStyle/>
                    <a:p>
                      <a:pPr>
                        <a:defRPr b="1" sz="950">
                          <a:solidFill>
                            <a:srgbClr val="FFFFFF"/>
                          </a:solidFill>
                        </a:defRPr>
                      </a:pPr>
                      <a:r>
                        <a:t>AI Usage</a:t>
                      </a:r>
                    </a:p>
                  </a:txBody>
                  <a:tcPr>
                    <a:solidFill>
                      <a:srgbClr val="142B4C"/>
                    </a:solidFill>
                  </a:tcPr>
                </a:tc>
                <a:tc>
                  <a:txBody>
                    <a:bodyPr/>
                    <a:lstStyle/>
                    <a:p>
                      <a:pPr>
                        <a:defRPr b="1" sz="950">
                          <a:solidFill>
                            <a:srgbClr val="FFFFFF"/>
                          </a:solidFill>
                        </a:defRPr>
                      </a:pPr>
                      <a:r>
                        <a:t>Risk Rating</a:t>
                      </a:r>
                    </a:p>
                  </a:txBody>
                  <a:tcPr>
                    <a:solidFill>
                      <a:srgbClr val="142B4C"/>
                    </a:solidFill>
                  </a:tcPr>
                </a:tc>
                <a:tc>
                  <a:txBody>
                    <a:bodyPr/>
                    <a:lstStyle/>
                    <a:p>
                      <a:pPr>
                        <a:defRPr b="1" sz="950">
                          <a:solidFill>
                            <a:srgbClr val="FFFFFF"/>
                          </a:solidFill>
                        </a:defRPr>
                      </a:pPr>
                      <a:r>
                        <a:t>Identified Providers &amp; Verified Footprint</a:t>
                      </a:r>
                    </a:p>
                  </a:txBody>
                  <a:tcPr>
                    <a:solidFill>
                      <a:srgbClr val="142B4C"/>
                    </a:solidFill>
                  </a:tcPr>
                </a:tc>
              </a:tr>
              <a:tr h="672737">
                <a:tc>
                  <a:txBody>
                    <a:bodyPr/>
                    <a:lstStyle/>
                    <a:p>
                      <a:pPr>
                        <a:defRPr sz="900">
                          <a:solidFill>
                            <a:srgbClr val="0F172A"/>
                          </a:solidFill>
                        </a:defRPr>
                      </a:pPr>
                      <a:r>
                        <a:t>V-001</a:t>
                      </a:r>
                    </a:p>
                  </a:txBody>
                  <a:tcPr>
                    <a:solidFill>
                      <a:srgbClr val="FFFFFF"/>
                    </a:solidFill>
                  </a:tcPr>
                </a:tc>
                <a:tc>
                  <a:txBody>
                    <a:bodyPr/>
                    <a:lstStyle/>
                    <a:p>
                      <a:pPr>
                        <a:defRPr sz="900">
                          <a:solidFill>
                            <a:srgbClr val="0F172A"/>
                          </a:solidFill>
                        </a:defRPr>
                      </a:pPr>
                      <a:r>
                        <a:t>AutomWorx</a:t>
                      </a:r>
                    </a:p>
                  </a:txBody>
                  <a:tcPr>
                    <a:solidFill>
                      <a:srgbClr val="FFFFFF"/>
                    </a:solidFill>
                  </a:tcPr>
                </a:tc>
                <a:tc>
                  <a:txBody>
                    <a:bodyPr/>
                    <a:lstStyle/>
                    <a:p>
                      <a:pPr>
                        <a:defRPr sz="900">
                          <a:solidFill>
                            <a:srgbClr val="0F172A"/>
                          </a:solidFill>
                        </a:defRPr>
                      </a:pPr>
                      <a:r>
                        <a:t>Low</a:t>
                      </a:r>
                    </a:p>
                  </a:txBody>
                  <a:tcPr>
                    <a:solidFill>
                      <a:srgbClr val="FFFFFF"/>
                    </a:solidFill>
                  </a:tcPr>
                </a:tc>
                <a:tc>
                  <a:txBody>
                    <a:bodyPr/>
                    <a:lstStyle/>
                    <a:p>
                      <a:pPr>
                        <a:defRPr sz="900" b="1">
                          <a:solidFill>
                            <a:srgbClr val="EF4444"/>
                          </a:solidFill>
                        </a:defRPr>
                      </a:pPr>
                      <a:r>
                        <a:t>Yes</a:t>
                      </a:r>
                    </a:p>
                  </a:txBody>
                  <a:tcPr>
                    <a:solidFill>
                      <a:srgbClr val="FFFFFF"/>
                    </a:solidFill>
                  </a:tcPr>
                </a:tc>
                <a:tc>
                  <a:txBody>
                    <a:bodyPr/>
                    <a:lstStyle/>
                    <a:p>
                      <a:pPr>
                        <a:defRPr sz="900" b="1">
                          <a:solidFill>
                            <a:srgbClr val="3B82F6"/>
                          </a:solidFill>
                        </a:defRPr>
                      </a:pPr>
                      <a:r>
                        <a:t>Medium</a:t>
                      </a:r>
                    </a:p>
                  </a:txBody>
                  <a:tcPr>
                    <a:solidFill>
                      <a:srgbClr val="FFFFFF"/>
                    </a:solidFill>
                  </a:tcPr>
                </a:tc>
                <a:tc>
                  <a:txBody>
                    <a:bodyPr/>
                    <a:lstStyle/>
                    <a:p>
                      <a:pPr>
                        <a:defRPr sz="900">
                          <a:solidFill>
                            <a:srgbClr val="0F172A"/>
                          </a:solidFill>
                        </a:defRPr>
                      </a:pPr>
                      <a:r>
                        <a:t>Google (Gemini), OpenAI (ChatGPT). AI policy confirms consultants use commercial LLMs for scripting/work completion.</a:t>
                      </a:r>
                    </a:p>
                  </a:txBody>
                  <a:tcPr>
                    <a:solidFill>
                      <a:srgbClr val="FFFFFF"/>
                    </a:solidFill>
                  </a:tcPr>
                </a:tc>
              </a:tr>
              <a:tr h="672737">
                <a:tc>
                  <a:txBody>
                    <a:bodyPr/>
                    <a:lstStyle/>
                    <a:p>
                      <a:pPr>
                        <a:defRPr sz="900">
                          <a:solidFill>
                            <a:srgbClr val="0F172A"/>
                          </a:solidFill>
                        </a:defRPr>
                      </a:pPr>
                      <a:r>
                        <a:t>V-002</a:t>
                      </a:r>
                    </a:p>
                  </a:txBody>
                  <a:tcPr>
                    <a:solidFill>
                      <a:srgbClr val="F1F5F9"/>
                    </a:solidFill>
                  </a:tcPr>
                </a:tc>
                <a:tc>
                  <a:txBody>
                    <a:bodyPr/>
                    <a:lstStyle/>
                    <a:p>
                      <a:pPr>
                        <a:defRPr sz="900">
                          <a:solidFill>
                            <a:srgbClr val="0F172A"/>
                          </a:solidFill>
                        </a:defRPr>
                      </a:pPr>
                      <a:r>
                        <a:t>Fiserv, Inc.</a:t>
                      </a:r>
                    </a:p>
                  </a:txBody>
                  <a:tcPr>
                    <a:solidFill>
                      <a:srgbClr val="F1F5F9"/>
                    </a:solidFill>
                  </a:tcPr>
                </a:tc>
                <a:tc>
                  <a:txBody>
                    <a:bodyPr/>
                    <a:lstStyle/>
                    <a:p>
                      <a:pPr>
                        <a:defRPr sz="900">
                          <a:solidFill>
                            <a:srgbClr val="0F172A"/>
                          </a:solidFill>
                        </a:defRPr>
                      </a:pPr>
                      <a:r>
                        <a:t>Critical</a:t>
                      </a:r>
                    </a:p>
                  </a:txBody>
                  <a:tcPr>
                    <a:solidFill>
                      <a:srgbClr val="F1F5F9"/>
                    </a:solidFill>
                  </a:tcPr>
                </a:tc>
                <a:tc>
                  <a:txBody>
                    <a:bodyPr/>
                    <a:lstStyle/>
                    <a:p>
                      <a:pPr>
                        <a:defRPr sz="900" b="1">
                          <a:solidFill>
                            <a:srgbClr val="EF4444"/>
                          </a:solidFill>
                        </a:defRPr>
                      </a:pPr>
                      <a:r>
                        <a:t>Yes</a:t>
                      </a:r>
                    </a:p>
                  </a:txBody>
                  <a:tcPr>
                    <a:solidFill>
                      <a:srgbClr val="F1F5F9"/>
                    </a:solidFill>
                  </a:tcPr>
                </a:tc>
                <a:tc>
                  <a:txBody>
                    <a:bodyPr/>
                    <a:lstStyle/>
                    <a:p>
                      <a:pPr>
                        <a:defRPr sz="900" b="1">
                          <a:solidFill>
                            <a:srgbClr val="EF4444"/>
                          </a:solidFill>
                        </a:defRPr>
                      </a:pPr>
                      <a:r>
                        <a:t>Critical</a:t>
                      </a:r>
                    </a:p>
                  </a:txBody>
                  <a:tcPr>
                    <a:solidFill>
                      <a:srgbClr val="F1F5F9"/>
                    </a:solidFill>
                  </a:tcPr>
                </a:tc>
                <a:tc>
                  <a:txBody>
                    <a:bodyPr/>
                    <a:lstStyle/>
                    <a:p>
                      <a:pPr>
                        <a:defRPr sz="900">
                          <a:solidFill>
                            <a:srgbClr val="0F172A"/>
                          </a:solidFill>
                        </a:defRPr>
                      </a:pPr>
                      <a:r>
                        <a:t>Azure OpenAI, Apple (Siri), Amazon (Alexa), Fiserv. 124 signals across AML Risk Manager, predictive analytics, agentic AI.</a:t>
                      </a:r>
                    </a:p>
                  </a:txBody>
                  <a:tcPr>
                    <a:solidFill>
                      <a:srgbClr val="F1F5F9"/>
                    </a:solidFill>
                  </a:tcPr>
                </a:tc>
              </a:tr>
              <a:tr h="672737">
                <a:tc>
                  <a:txBody>
                    <a:bodyPr/>
                    <a:lstStyle/>
                    <a:p>
                      <a:pPr>
                        <a:defRPr sz="900">
                          <a:solidFill>
                            <a:srgbClr val="0F172A"/>
                          </a:solidFill>
                        </a:defRPr>
                      </a:pPr>
                      <a:r>
                        <a:t>V-003</a:t>
                      </a:r>
                    </a:p>
                  </a:txBody>
                  <a:tcPr>
                    <a:solidFill>
                      <a:srgbClr val="FFFFFF"/>
                    </a:solidFill>
                  </a:tcPr>
                </a:tc>
                <a:tc>
                  <a:txBody>
                    <a:bodyPr/>
                    <a:lstStyle/>
                    <a:p>
                      <a:pPr>
                        <a:defRPr sz="900">
                          <a:solidFill>
                            <a:srgbClr val="0F172A"/>
                          </a:solidFill>
                        </a:defRPr>
                      </a:pPr>
                      <a:r>
                        <a:t>FSSI</a:t>
                      </a:r>
                    </a:p>
                  </a:txBody>
                  <a:tcPr>
                    <a:solidFill>
                      <a:srgbClr val="FFFFFF"/>
                    </a:solidFill>
                  </a:tcPr>
                </a:tc>
                <a:tc>
                  <a:txBody>
                    <a:bodyPr/>
                    <a:lstStyle/>
                    <a:p>
                      <a:pPr>
                        <a:defRPr sz="900">
                          <a:solidFill>
                            <a:srgbClr val="0F172A"/>
                          </a:solidFill>
                        </a:defRPr>
                      </a:pPr>
                      <a:r>
                        <a:t>High</a:t>
                      </a:r>
                    </a:p>
                  </a:txBody>
                  <a:tcPr>
                    <a:solidFill>
                      <a:srgbClr val="FFFFFF"/>
                    </a:solidFill>
                  </a:tcPr>
                </a:tc>
                <a:tc>
                  <a:txBody>
                    <a:bodyPr/>
                    <a:lstStyle/>
                    <a:p>
                      <a:pPr>
                        <a:defRPr sz="900" b="1">
                          <a:solidFill>
                            <a:srgbClr val="10B981"/>
                          </a:solidFill>
                        </a:defRPr>
                      </a:pPr>
                      <a:r>
                        <a:t>No</a:t>
                      </a:r>
                    </a:p>
                  </a:txBody>
                  <a:tcPr>
                    <a:solidFill>
                      <a:srgbClr val="FFFFFF"/>
                    </a:solidFill>
                  </a:tcPr>
                </a:tc>
                <a:tc>
                  <a:txBody>
                    <a:bodyPr/>
                    <a:lstStyle/>
                    <a:p>
                      <a:pPr>
                        <a:defRPr sz="900" b="1">
                          <a:solidFill>
                            <a:srgbClr val="10B981"/>
                          </a:solidFill>
                        </a:defRPr>
                      </a:pPr>
                      <a:r>
                        <a:t>None ident.</a:t>
                      </a:r>
                    </a:p>
                  </a:txBody>
                  <a:tcPr>
                    <a:solidFill>
                      <a:srgbClr val="FFFFFF"/>
                    </a:solidFill>
                  </a:tcPr>
                </a:tc>
                <a:tc>
                  <a:txBody>
                    <a:bodyPr/>
                    <a:lstStyle/>
                    <a:p>
                      <a:pPr>
                        <a:defRPr sz="900">
                          <a:solidFill>
                            <a:srgbClr val="0F172A"/>
                          </a:solidFill>
                        </a:defRPr>
                      </a:pPr>
                      <a:r>
                        <a:t>N/A. Thorough OSINT sweep of 14 Tier A/B pages (SOC 2, trust center, print operations). Zero AI claims detected.</a:t>
                      </a:r>
                    </a:p>
                  </a:txBody>
                  <a:tcPr>
                    <a:solidFill>
                      <a:srgbClr val="FFFFFF"/>
                    </a:solidFill>
                  </a:tcPr>
                </a:tc>
              </a:tr>
              <a:tr h="672737">
                <a:tc>
                  <a:txBody>
                    <a:bodyPr/>
                    <a:lstStyle/>
                    <a:p>
                      <a:pPr>
                        <a:defRPr sz="900">
                          <a:solidFill>
                            <a:srgbClr val="0F172A"/>
                          </a:solidFill>
                        </a:defRPr>
                      </a:pPr>
                      <a:r>
                        <a:t>V-004</a:t>
                      </a:r>
                    </a:p>
                  </a:txBody>
                  <a:tcPr>
                    <a:solidFill>
                      <a:srgbClr val="F1F5F9"/>
                    </a:solidFill>
                  </a:tcPr>
                </a:tc>
                <a:tc>
                  <a:txBody>
                    <a:bodyPr/>
                    <a:lstStyle/>
                    <a:p>
                      <a:pPr>
                        <a:defRPr sz="900">
                          <a:solidFill>
                            <a:srgbClr val="0F172A"/>
                          </a:solidFill>
                        </a:defRPr>
                      </a:pPr>
                      <a:r>
                        <a:t>Terrapin Tech.</a:t>
                      </a:r>
                    </a:p>
                  </a:txBody>
                  <a:tcPr>
                    <a:solidFill>
                      <a:srgbClr val="F1F5F9"/>
                    </a:solidFill>
                  </a:tcPr>
                </a:tc>
                <a:tc>
                  <a:txBody>
                    <a:bodyPr/>
                    <a:lstStyle/>
                    <a:p>
                      <a:pPr>
                        <a:defRPr sz="900">
                          <a:solidFill>
                            <a:srgbClr val="0F172A"/>
                          </a:solidFill>
                        </a:defRPr>
                      </a:pPr>
                      <a:r>
                        <a:t>Medium</a:t>
                      </a:r>
                    </a:p>
                  </a:txBody>
                  <a:tcPr>
                    <a:solidFill>
                      <a:srgbClr val="F1F5F9"/>
                    </a:solidFill>
                  </a:tcPr>
                </a:tc>
                <a:tc>
                  <a:txBody>
                    <a:bodyPr/>
                    <a:lstStyle/>
                    <a:p>
                      <a:pPr>
                        <a:defRPr sz="900" b="1">
                          <a:solidFill>
                            <a:srgbClr val="F59E0B"/>
                          </a:solidFill>
                        </a:defRPr>
                      </a:pPr>
                      <a:r>
                        <a:t>Inconclusive</a:t>
                      </a:r>
                    </a:p>
                  </a:txBody>
                  <a:tcPr>
                    <a:solidFill>
                      <a:srgbClr val="F1F5F9"/>
                    </a:solidFill>
                  </a:tcPr>
                </a:tc>
                <a:tc>
                  <a:txBody>
                    <a:bodyPr/>
                    <a:lstStyle/>
                    <a:p>
                      <a:pPr>
                        <a:defRPr sz="900" b="1">
                          <a:solidFill>
                            <a:srgbClr val="3B82F6"/>
                          </a:solidFill>
                        </a:defRPr>
                      </a:pPr>
                      <a:r>
                        <a:t>Medium</a:t>
                      </a:r>
                    </a:p>
                  </a:txBody>
                  <a:tcPr>
                    <a:solidFill>
                      <a:srgbClr val="F1F5F9"/>
                    </a:solidFill>
                  </a:tcPr>
                </a:tc>
                <a:tc>
                  <a:txBody>
                    <a:bodyPr/>
                    <a:lstStyle/>
                    <a:p>
                      <a:pPr>
                        <a:defRPr sz="900">
                          <a:solidFill>
                            <a:srgbClr val="0F172A"/>
                          </a:solidFill>
                        </a:defRPr>
                      </a:pPr>
                      <a:r>
                        <a:t>None named. Minimal web footprint (1 page reachable; API/docs 404). Honest inconclusive requiring targeted questionnaire.</a:t>
                      </a:r>
                    </a:p>
                  </a:txBody>
                  <a:tcPr>
                    <a:solidFill>
                      <a:srgbClr val="F1F5F9"/>
                    </a:solidFill>
                  </a:tcPr>
                </a:tc>
              </a:tr>
              <a:tr h="672737">
                <a:tc>
                  <a:txBody>
                    <a:bodyPr/>
                    <a:lstStyle/>
                    <a:p>
                      <a:pPr>
                        <a:defRPr sz="900">
                          <a:solidFill>
                            <a:srgbClr val="0F172A"/>
                          </a:solidFill>
                        </a:defRPr>
                      </a:pPr>
                      <a:r>
                        <a:t>V-005</a:t>
                      </a:r>
                    </a:p>
                  </a:txBody>
                  <a:tcPr>
                    <a:solidFill>
                      <a:srgbClr val="FFFFFF"/>
                    </a:solidFill>
                  </a:tcPr>
                </a:tc>
                <a:tc>
                  <a:txBody>
                    <a:bodyPr/>
                    <a:lstStyle/>
                    <a:p>
                      <a:pPr>
                        <a:defRPr sz="900">
                          <a:solidFill>
                            <a:srgbClr val="0F172A"/>
                          </a:solidFill>
                        </a:defRPr>
                      </a:pPr>
                      <a:r>
                        <a:t>BNY</a:t>
                      </a:r>
                    </a:p>
                  </a:txBody>
                  <a:tcPr>
                    <a:solidFill>
                      <a:srgbClr val="FFFFFF"/>
                    </a:solidFill>
                  </a:tcPr>
                </a:tc>
                <a:tc>
                  <a:txBody>
                    <a:bodyPr/>
                    <a:lstStyle/>
                    <a:p>
                      <a:pPr>
                        <a:defRPr sz="900">
                          <a:solidFill>
                            <a:srgbClr val="0F172A"/>
                          </a:solidFill>
                        </a:defRPr>
                      </a:pPr>
                      <a:r>
                        <a:t>High</a:t>
                      </a:r>
                    </a:p>
                  </a:txBody>
                  <a:tcPr>
                    <a:solidFill>
                      <a:srgbClr val="FFFFFF"/>
                    </a:solidFill>
                  </a:tcPr>
                </a:tc>
                <a:tc>
                  <a:txBody>
                    <a:bodyPr/>
                    <a:lstStyle/>
                    <a:p>
                      <a:pPr>
                        <a:defRPr sz="900" b="1">
                          <a:solidFill>
                            <a:srgbClr val="EF4444"/>
                          </a:solidFill>
                        </a:defRPr>
                      </a:pPr>
                      <a:r>
                        <a:t>Yes</a:t>
                      </a:r>
                    </a:p>
                  </a:txBody>
                  <a:tcPr>
                    <a:solidFill>
                      <a:srgbClr val="FFFFFF"/>
                    </a:solidFill>
                  </a:tcPr>
                </a:tc>
                <a:tc>
                  <a:txBody>
                    <a:bodyPr/>
                    <a:lstStyle/>
                    <a:p>
                      <a:pPr>
                        <a:defRPr sz="900" b="1">
                          <a:solidFill>
                            <a:srgbClr val="F59E0B"/>
                          </a:solidFill>
                        </a:defRPr>
                      </a:pPr>
                      <a:r>
                        <a:t>High</a:t>
                      </a:r>
                    </a:p>
                  </a:txBody>
                  <a:tcPr>
                    <a:solidFill>
                      <a:srgbClr val="FFFFFF"/>
                    </a:solidFill>
                  </a:tcPr>
                </a:tc>
                <a:tc>
                  <a:txBody>
                    <a:bodyPr/>
                    <a:lstStyle/>
                    <a:p>
                      <a:pPr>
                        <a:defRPr sz="900">
                          <a:solidFill>
                            <a:srgbClr val="0F172A"/>
                          </a:solidFill>
                        </a:defRPr>
                      </a:pPr>
                      <a:r>
                        <a:t>Microsoft, OpenAI, BNY AI Hub. Confirmed AI-powered document processing and workflow optimization in corporate platforms.</a:t>
                      </a:r>
                    </a:p>
                  </a:txBody>
                  <a:tcPr>
                    <a:solidFill>
                      <a:srgbClr val="FFFFFF"/>
                    </a:solidFill>
                  </a:tcPr>
                </a:tc>
              </a:tr>
              <a:tr h="672738">
                <a:tc>
                  <a:txBody>
                    <a:bodyPr/>
                    <a:lstStyle/>
                    <a:p>
                      <a:pPr>
                        <a:defRPr sz="900">
                          <a:solidFill>
                            <a:srgbClr val="0F172A"/>
                          </a:solidFill>
                        </a:defRPr>
                      </a:pPr>
                      <a:r>
                        <a:t>V-006</a:t>
                      </a:r>
                    </a:p>
                  </a:txBody>
                  <a:tcPr>
                    <a:solidFill>
                      <a:srgbClr val="F1F5F9"/>
                    </a:solidFill>
                  </a:tcPr>
                </a:tc>
                <a:tc>
                  <a:txBody>
                    <a:bodyPr/>
                    <a:lstStyle/>
                    <a:p>
                      <a:pPr>
                        <a:defRPr sz="900">
                          <a:solidFill>
                            <a:srgbClr val="0F172A"/>
                          </a:solidFill>
                        </a:defRPr>
                      </a:pPr>
                      <a:r>
                        <a:t>The Clearing House</a:t>
                      </a:r>
                    </a:p>
                  </a:txBody>
                  <a:tcPr>
                    <a:solidFill>
                      <a:srgbClr val="F1F5F9"/>
                    </a:solidFill>
                  </a:tcPr>
                </a:tc>
                <a:tc>
                  <a:txBody>
                    <a:bodyPr/>
                    <a:lstStyle/>
                    <a:p>
                      <a:pPr>
                        <a:defRPr sz="900">
                          <a:solidFill>
                            <a:srgbClr val="0F172A"/>
                          </a:solidFill>
                        </a:defRPr>
                      </a:pPr>
                      <a:r>
                        <a:t>Critical</a:t>
                      </a:r>
                    </a:p>
                  </a:txBody>
                  <a:tcPr>
                    <a:solidFill>
                      <a:srgbClr val="F1F5F9"/>
                    </a:solidFill>
                  </a:tcPr>
                </a:tc>
                <a:tc>
                  <a:txBody>
                    <a:bodyPr/>
                    <a:lstStyle/>
                    <a:p>
                      <a:pPr>
                        <a:defRPr sz="900" b="1">
                          <a:solidFill>
                            <a:srgbClr val="10B981"/>
                          </a:solidFill>
                        </a:defRPr>
                      </a:pPr>
                      <a:r>
                        <a:t>No</a:t>
                      </a:r>
                    </a:p>
                  </a:txBody>
                  <a:tcPr>
                    <a:solidFill>
                      <a:srgbClr val="F1F5F9"/>
                    </a:solidFill>
                  </a:tcPr>
                </a:tc>
                <a:tc>
                  <a:txBody>
                    <a:bodyPr/>
                    <a:lstStyle/>
                    <a:p>
                      <a:pPr>
                        <a:defRPr sz="900" b="1">
                          <a:solidFill>
                            <a:srgbClr val="10B981"/>
                          </a:solidFill>
                        </a:defRPr>
                      </a:pPr>
                      <a:r>
                        <a:t>None ident.</a:t>
                      </a:r>
                    </a:p>
                  </a:txBody>
                  <a:tcPr>
                    <a:solidFill>
                      <a:srgbClr val="F1F5F9"/>
                    </a:solidFill>
                  </a:tcPr>
                </a:tc>
                <a:tc>
                  <a:txBody>
                    <a:bodyPr/>
                    <a:lstStyle/>
                    <a:p>
                      <a:pPr>
                        <a:defRPr sz="900">
                          <a:solidFill>
                            <a:srgbClr val="0F172A"/>
                          </a:solidFill>
                        </a:defRPr>
                      </a:pPr>
                      <a:r>
                        <a:t>N/A. Extensive audit of 1,016 pages of network rules &amp; specs. Core ACH/RTP clearing rail operates deterministically without AI.</a:t>
                      </a:r>
                    </a:p>
                  </a:txBody>
                  <a:tcPr>
                    <a:solidFill>
                      <a:srgbClr val="F1F5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Surfacing Enterprise Risk &amp; Governance Playbook</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Mapping Public AI Footprints to Meridian's Risk Framework &amp; 15/30-Day Action Plans</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4809744" cy="292608"/>
          </a:xfrm>
          <a:prstGeom prst="rect">
            <a:avLst/>
          </a:prstGeom>
          <a:noFill/>
        </p:spPr>
        <p:txBody>
          <a:bodyPr wrap="square" lIns="0" tIns="0" rIns="0" bIns="0">
            <a:spAutoFit/>
          </a:bodyPr>
          <a:lstStyle/>
          <a:p>
            <a:pPr>
              <a:defRPr sz="1200" b="1">
                <a:solidFill>
                  <a:srgbClr val="142B4C"/>
                </a:solidFill>
              </a:defRPr>
            </a:pPr>
            <a:r>
              <a:t>FOUR CORE ENTERPRISE AI RISKS</a:t>
            </a:r>
          </a:p>
        </p:txBody>
      </p:sp>
      <p:sp>
        <p:nvSpPr>
          <p:cNvPr id="13" name="TextBox 12"/>
          <p:cNvSpPr txBox="1"/>
          <p:nvPr/>
        </p:nvSpPr>
        <p:spPr>
          <a:xfrm>
            <a:off x="960120" y="2011680"/>
            <a:ext cx="4754880" cy="4114800"/>
          </a:xfrm>
          <a:prstGeom prst="rect">
            <a:avLst/>
          </a:prstGeom>
          <a:noFill/>
        </p:spPr>
        <p:txBody>
          <a:bodyPr wrap="square" lIns="0" tIns="0" rIns="0" bIns="0">
            <a:spAutoFit/>
          </a:bodyPr>
          <a:lstStyle/>
          <a:p>
            <a:pPr>
              <a:spcBef>
                <a:spcPts val="600"/>
              </a:spcBef>
              <a:defRPr sz="1000" b="1">
                <a:solidFill>
                  <a:srgbClr val="142B4C"/>
                </a:solidFill>
              </a:defRPr>
            </a:pPr>
            <a:r>
              <a:t>▪ 1. Sensitive Data Ingestion:</a:t>
            </a:r>
          </a:p>
          <a:p>
            <a:pPr>
              <a:spcBef>
                <a:spcPts val="200"/>
              </a:spcBef>
              <a:defRPr sz="880">
                <a:solidFill>
                  <a:srgbClr val="0F172A"/>
                </a:solidFill>
              </a:defRPr>
            </a:pPr>
            <a:r>
              <a:t>Commercial LLMs or unvetted pipelines ingesting customer records or payment transactions.</a:t>
            </a:r>
            <a:br/>
            <a:r>
              <a:t>↳ Scope: 1.4M customer accounts (Fiserv DNA), 2.1M payment messages (BNY RTP).</a:t>
            </a:r>
          </a:p>
          <a:p>
            <a:pPr>
              <a:spcBef>
                <a:spcPts val="600"/>
              </a:spcBef>
              <a:defRPr sz="1000" b="1">
                <a:solidFill>
                  <a:srgbClr val="142B4C"/>
                </a:solidFill>
              </a:defRPr>
            </a:pPr>
            <a:r>
              <a:t>▪ 2. Shadow AI Sub-processors:</a:t>
            </a:r>
          </a:p>
          <a:p>
            <a:pPr>
              <a:spcBef>
                <a:spcPts val="200"/>
              </a:spcBef>
              <a:defRPr sz="880">
                <a:solidFill>
                  <a:srgbClr val="0F172A"/>
                </a:solidFill>
              </a:defRPr>
            </a:pPr>
            <a:r>
              <a:t>Third-party cloud models (OpenAI, Microsoft Azure) deployed without formal DPA listing.</a:t>
            </a:r>
            <a:br/>
            <a:r>
              <a:t>↳ Scope: Unmonitored chain-of-custody across outsourced banking and workflow services.</a:t>
            </a:r>
          </a:p>
          <a:p>
            <a:pPr>
              <a:spcBef>
                <a:spcPts val="600"/>
              </a:spcBef>
              <a:defRPr sz="1000" b="1">
                <a:solidFill>
                  <a:srgbClr val="142B4C"/>
                </a:solidFill>
              </a:defRPr>
            </a:pPr>
            <a:r>
              <a:t>▪ 3. Script &amp; Credential Leakage:</a:t>
            </a:r>
          </a:p>
          <a:p>
            <a:pPr>
              <a:spcBef>
                <a:spcPts val="200"/>
              </a:spcBef>
              <a:defRPr sz="880">
                <a:solidFill>
                  <a:srgbClr val="0F172A"/>
                </a:solidFill>
              </a:defRPr>
            </a:pPr>
            <a:r>
              <a:t>Consulting staff pasting internal scripts or production credentials into public LLMs.</a:t>
            </a:r>
            <a:br/>
            <a:r>
              <a:t>↳ Scope: Direct infrastructure exposure via unvetted scripting automation (AutomWorx).</a:t>
            </a:r>
          </a:p>
          <a:p>
            <a:pPr>
              <a:spcBef>
                <a:spcPts val="600"/>
              </a:spcBef>
              <a:defRPr sz="1000" b="1">
                <a:solidFill>
                  <a:srgbClr val="142B4C"/>
                </a:solidFill>
              </a:defRPr>
            </a:pPr>
            <a:r>
              <a:t>▪ 4. Contractual &amp; Audit Voids:</a:t>
            </a:r>
          </a:p>
          <a:p>
            <a:pPr>
              <a:spcBef>
                <a:spcPts val="200"/>
              </a:spcBef>
              <a:defRPr sz="880">
                <a:solidFill>
                  <a:srgbClr val="0F172A"/>
                </a:solidFill>
              </a:defRPr>
            </a:pPr>
            <a:r>
              <a:t>Absence of contractual guarantees prohibiting vendor models from training on client data.</a:t>
            </a:r>
            <a:br/>
            <a:r>
              <a:t>↳ Scope: Legal inability to audit model architectures or demand data purging on termination.</a:t>
            </a:r>
          </a:p>
        </p:txBody>
      </p:sp>
      <p:sp>
        <p:nvSpPr>
          <p:cNvPr id="14" name="Rectangle 13"/>
          <p:cNvSpPr/>
          <p:nvPr/>
        </p:nvSpPr>
        <p:spPr>
          <a:xfrm>
            <a:off x="6248095"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095"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9263" y="1673351"/>
            <a:ext cx="4809744" cy="292608"/>
          </a:xfrm>
          <a:prstGeom prst="rect">
            <a:avLst/>
          </a:prstGeom>
          <a:noFill/>
        </p:spPr>
        <p:txBody>
          <a:bodyPr wrap="square" lIns="0" tIns="0" rIns="0" bIns="0">
            <a:spAutoFit/>
          </a:bodyPr>
          <a:lstStyle/>
          <a:p>
            <a:pPr>
              <a:defRPr sz="1200" b="1">
                <a:solidFill>
                  <a:srgbClr val="ED6B2D"/>
                </a:solidFill>
              </a:defRPr>
            </a:pPr>
            <a:r>
              <a:t>RECOMMENDED GOVERNANCE PLAYBOOK</a:t>
            </a:r>
          </a:p>
        </p:txBody>
      </p:sp>
      <p:sp>
        <p:nvSpPr>
          <p:cNvPr id="17" name="TextBox 16"/>
          <p:cNvSpPr txBox="1"/>
          <p:nvPr/>
        </p:nvSpPr>
        <p:spPr>
          <a:xfrm>
            <a:off x="6473952" y="2011680"/>
            <a:ext cx="4754880" cy="4114800"/>
          </a:xfrm>
          <a:prstGeom prst="rect">
            <a:avLst/>
          </a:prstGeom>
          <a:noFill/>
        </p:spPr>
        <p:txBody>
          <a:bodyPr wrap="square" lIns="0" tIns="0" rIns="0" bIns="0">
            <a:spAutoFit/>
          </a:bodyPr>
          <a:lstStyle/>
          <a:p>
            <a:pPr>
              <a:spcBef>
                <a:spcPts val="600"/>
              </a:spcBef>
              <a:defRPr sz="1000" b="1">
                <a:solidFill>
                  <a:srgbClr val="ED6B2D"/>
                </a:solidFill>
              </a:defRPr>
            </a:pPr>
            <a:r>
              <a:t>▪ Immediate 15-Day Targeted Questionnaires:</a:t>
            </a:r>
          </a:p>
          <a:p>
            <a:pPr>
              <a:spcBef>
                <a:spcPts val="200"/>
              </a:spcBef>
              <a:defRPr sz="880">
                <a:solidFill>
                  <a:srgbClr val="0F172A"/>
                </a:solidFill>
              </a:defRPr>
            </a:pPr>
            <a:r>
              <a:t>Issue specific inquiries to Fiserv, BNY, and AutomWorx covering model providers, hosting region, data retention policies, and training restrictions.</a:t>
            </a:r>
            <a:br/>
            <a:r>
              <a:t>↳ Timeline: Dispatched within 5 business days; response due in 15 days.</a:t>
            </a:r>
          </a:p>
          <a:p>
            <a:pPr>
              <a:spcBef>
                <a:spcPts val="600"/>
              </a:spcBef>
              <a:defRPr sz="1000" b="1">
                <a:solidFill>
                  <a:srgbClr val="ED6B2D"/>
                </a:solidFill>
              </a:defRPr>
            </a:pPr>
            <a:r>
              <a:t>▪ AI Sub-Processor Inventory Registration:</a:t>
            </a:r>
          </a:p>
          <a:p>
            <a:pPr>
              <a:spcBef>
                <a:spcPts val="200"/>
              </a:spcBef>
              <a:defRPr sz="880">
                <a:solidFill>
                  <a:srgbClr val="0F172A"/>
                </a:solidFill>
              </a:defRPr>
            </a:pPr>
            <a:r>
              <a:t>Formally register named providers (Microsoft, OpenAI, Google) with an unresolved-provider flag pending written vendor verification.</a:t>
            </a:r>
            <a:br/>
            <a:r>
              <a:t>↳ Timeline: Immediate integration into Meridian's enterprise GRC repository.</a:t>
            </a:r>
          </a:p>
          <a:p>
            <a:pPr>
              <a:spcBef>
                <a:spcPts val="600"/>
              </a:spcBef>
              <a:defRPr sz="1000" b="1">
                <a:solidFill>
                  <a:srgbClr val="ED6B2D"/>
                </a:solidFill>
              </a:defRPr>
            </a:pPr>
            <a:r>
              <a:t>▪ Contractual Remediation Clauses:</a:t>
            </a:r>
          </a:p>
          <a:p>
            <a:pPr>
              <a:spcBef>
                <a:spcPts val="200"/>
              </a:spcBef>
              <a:defRPr sz="880">
                <a:solidFill>
                  <a:srgbClr val="0F172A"/>
                </a:solidFill>
              </a:defRPr>
            </a:pPr>
            <a:r>
              <a:t>Add mandatory clauses at contract review: strict training prohibitions, mandatory 30-day sub-processor change notices, and AI audit rights.</a:t>
            </a:r>
            <a:br/>
            <a:r>
              <a:t>↳ Timeline: Required for all upcoming renewals and new supplier contracts.</a:t>
            </a:r>
          </a:p>
          <a:p>
            <a:pPr>
              <a:spcBef>
                <a:spcPts val="600"/>
              </a:spcBef>
              <a:defRPr sz="1000" b="1">
                <a:solidFill>
                  <a:srgbClr val="ED6B2D"/>
                </a:solidFill>
              </a:defRPr>
            </a:pPr>
            <a:r>
              <a:t>▪ 30-Day TPRC Escalation Path:</a:t>
            </a:r>
          </a:p>
          <a:p>
            <a:pPr>
              <a:spcBef>
                <a:spcPts val="200"/>
              </a:spcBef>
              <a:defRPr sz="880">
                <a:solidFill>
                  <a:srgbClr val="0F172A"/>
                </a:solidFill>
              </a:defRPr>
            </a:pPr>
            <a:r>
              <a:t>If vendor confirmations are not received within 30 days, escalate to Meridian Third-Party Risk Committee for operational containment.</a:t>
            </a:r>
            <a:br/>
            <a:r>
              <a:t>↳ Timeline: Formal review and potential transaction throttling on Day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Working Demonstration &amp; Deliverables Summary</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Live Web Demonstration (Instant Presentation Mode) and Completed Audit Deliverables</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4809744" cy="292608"/>
          </a:xfrm>
          <a:prstGeom prst="rect">
            <a:avLst/>
          </a:prstGeom>
          <a:noFill/>
        </p:spPr>
        <p:txBody>
          <a:bodyPr wrap="square" lIns="0" tIns="0" rIns="0" bIns="0">
            <a:spAutoFit/>
          </a:bodyPr>
          <a:lstStyle/>
          <a:p>
            <a:pPr>
              <a:defRPr sz="1200" b="1">
                <a:solidFill>
                  <a:srgbClr val="ED6B2D"/>
                </a:solidFill>
              </a:defRPr>
            </a:pPr>
            <a:r>
              <a:t>STREAMLIT DEMO: INSTANT PRESENTATION MODE</a:t>
            </a:r>
          </a:p>
        </p:txBody>
      </p:sp>
      <p:sp>
        <p:nvSpPr>
          <p:cNvPr id="13" name="TextBox 12"/>
          <p:cNvSpPr txBox="1"/>
          <p:nvPr/>
        </p:nvSpPr>
        <p:spPr>
          <a:xfrm>
            <a:off x="960120" y="2029968"/>
            <a:ext cx="4754880" cy="4023360"/>
          </a:xfrm>
          <a:prstGeom prst="rect">
            <a:avLst/>
          </a:prstGeom>
          <a:noFill/>
        </p:spPr>
        <p:txBody>
          <a:bodyPr wrap="square" lIns="0" tIns="0" rIns="0" bIns="0">
            <a:spAutoFit/>
          </a:bodyPr>
          <a:lstStyle/>
          <a:p>
            <a:pPr>
              <a:spcBef>
                <a:spcPts val="600"/>
              </a:spcBef>
              <a:defRPr sz="950">
                <a:solidFill>
                  <a:srgbClr val="0F172A"/>
                </a:solidFill>
              </a:defRPr>
            </a:pPr>
            <a:r>
              <a:t>▪ Zero Live Latency: Automatically loads pre-computed, cryptographically verified results upon page load (http://localhost:8501). No waiting for web crawls during meetings.</a:t>
            </a:r>
          </a:p>
          <a:p>
            <a:pPr>
              <a:spcBef>
                <a:spcPts val="600"/>
              </a:spcBef>
              <a:defRPr sz="950">
                <a:solidFill>
                  <a:srgbClr val="0F172A"/>
                </a:solidFill>
              </a:defRPr>
            </a:pPr>
            <a:r>
              <a:t>▪ Executive KPI Banner: Surfaces top metrics at a glance: 6 Assessed, 3 Confirmed AI, 2 Ruled Out, 1 Inconclusive, 1 Critical Risk.</a:t>
            </a:r>
          </a:p>
          <a:p>
            <a:pPr>
              <a:spcBef>
                <a:spcPts val="600"/>
              </a:spcBef>
              <a:defRPr sz="950">
                <a:solidFill>
                  <a:srgbClr val="0F172A"/>
                </a:solidFill>
              </a:defRPr>
            </a:pPr>
            <a:r>
              <a:t>▪ Per-Vendor Evidence Cards: Expandable deep-dive cards showing exact verbatim quotes, source URLs, retrieval dates, and named model providers.</a:t>
            </a:r>
          </a:p>
          <a:p>
            <a:pPr>
              <a:spcBef>
                <a:spcPts val="600"/>
              </a:spcBef>
              <a:defRPr sz="950">
                <a:solidFill>
                  <a:srgbClr val="0F172A"/>
                </a:solidFill>
              </a:defRPr>
            </a:pPr>
            <a:r>
              <a:t>▪ Live Execution Drawer: An optional expander allows live crawling and real-time Groq LPU inference on custom uploaded workbooks if requested.</a:t>
            </a:r>
          </a:p>
          <a:p>
            <a:pPr>
              <a:spcBef>
                <a:spcPts val="600"/>
              </a:spcBef>
              <a:defRPr sz="950">
                <a:solidFill>
                  <a:srgbClr val="0F172A"/>
                </a:solidFill>
              </a:defRPr>
            </a:pPr>
            <a:r>
              <a:t>▪ One-Click Download: Direct download button for the completed Meridian_Vendor_Output.xlsx.</a:t>
            </a:r>
          </a:p>
        </p:txBody>
      </p:sp>
      <p:sp>
        <p:nvSpPr>
          <p:cNvPr id="14" name="Rectangle 13"/>
          <p:cNvSpPr/>
          <p:nvPr/>
        </p:nvSpPr>
        <p:spPr>
          <a:xfrm>
            <a:off x="6248095" y="1536192"/>
            <a:ext cx="521208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48095" y="1536192"/>
            <a:ext cx="521208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9263" y="1673351"/>
            <a:ext cx="4809744" cy="292608"/>
          </a:xfrm>
          <a:prstGeom prst="rect">
            <a:avLst/>
          </a:prstGeom>
          <a:noFill/>
        </p:spPr>
        <p:txBody>
          <a:bodyPr wrap="square" lIns="0" tIns="0" rIns="0" bIns="0">
            <a:spAutoFit/>
          </a:bodyPr>
          <a:lstStyle/>
          <a:p>
            <a:pPr>
              <a:defRPr sz="1200" b="1">
                <a:solidFill>
                  <a:srgbClr val="142B4C"/>
                </a:solidFill>
              </a:defRPr>
            </a:pPr>
            <a:r>
              <a:t>COMPLETED EXCEL WORKBOOK DELIVERABLE</a:t>
            </a:r>
          </a:p>
        </p:txBody>
      </p:sp>
      <p:sp>
        <p:nvSpPr>
          <p:cNvPr id="17" name="TextBox 16"/>
          <p:cNvSpPr txBox="1"/>
          <p:nvPr/>
        </p:nvSpPr>
        <p:spPr>
          <a:xfrm>
            <a:off x="6473952" y="2029968"/>
            <a:ext cx="4754880" cy="4023360"/>
          </a:xfrm>
          <a:prstGeom prst="rect">
            <a:avLst/>
          </a:prstGeom>
          <a:noFill/>
        </p:spPr>
        <p:txBody>
          <a:bodyPr wrap="square" lIns="0" tIns="0" rIns="0" bIns="0">
            <a:spAutoFit/>
          </a:bodyPr>
          <a:lstStyle/>
          <a:p>
            <a:pPr>
              <a:spcBef>
                <a:spcPts val="600"/>
              </a:spcBef>
              <a:defRPr sz="950">
                <a:solidFill>
                  <a:srgbClr val="0F172A"/>
                </a:solidFill>
              </a:defRPr>
            </a:pPr>
            <a:r>
              <a:t>▪ Columns B–K Integrity: 100% byte-for-byte identical to client input. Verified by automated round-trip tests.</a:t>
            </a:r>
          </a:p>
          <a:p>
            <a:pPr>
              <a:spcBef>
                <a:spcPts val="600"/>
              </a:spcBef>
              <a:defRPr sz="950">
                <a:solidFill>
                  <a:srgbClr val="0F172A"/>
                </a:solidFill>
              </a:defRPr>
            </a:pPr>
            <a:r>
              <a:t>▪ Example Row (V-000): Retained verbatim as requested in specification. Formats and styling preserved.</a:t>
            </a:r>
          </a:p>
          <a:p>
            <a:pPr>
              <a:spcBef>
                <a:spcPts val="600"/>
              </a:spcBef>
              <a:defRPr sz="950">
                <a:solidFill>
                  <a:srgbClr val="0F172A"/>
                </a:solidFill>
              </a:defRPr>
            </a:pPr>
            <a:r>
              <a:t>▪ Columns L–V Populated: Criticality Tier, Rationale, Depth, AI Usage, Evidence, How Using, Providers, Risk, Risk Rationale, Recommended Action, Assessed By.</a:t>
            </a:r>
          </a:p>
          <a:p>
            <a:pPr>
              <a:spcBef>
                <a:spcPts val="600"/>
              </a:spcBef>
              <a:defRPr sz="950">
                <a:solidFill>
                  <a:srgbClr val="0F172A"/>
                </a:solidFill>
              </a:defRPr>
            </a:pPr>
            <a:r>
              <a:t>▪ 132-Entry Evidence Log Sheet: New audited sheet detailing Vendor ID, Source Tier, URL, Retrieval Date, Verbatim Excerpt, Signal Tag, and SHA-256 Snapshot Hash.</a:t>
            </a:r>
          </a:p>
          <a:p>
            <a:pPr>
              <a:spcBef>
                <a:spcPts val="600"/>
              </a:spcBef>
              <a:defRPr sz="950">
                <a:solidFill>
                  <a:srgbClr val="0F172A"/>
                </a:solidFill>
              </a:defRPr>
            </a:pPr>
            <a:r>
              <a:t>▪ Automated Test Suite: 18 unit tests (pytest) verifying criticality determinism, quote guard, weighting logic, and column B–K round-trip integrity.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142B4C"/>
                </a:solidFill>
              </a:defRPr>
            </a:pPr>
            <a:r>
              <a:t>OPTIV CONSULTING  |  CYBER STRATEGY PRACTICE</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142B4C"/>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530352"/>
            <a:ext cx="10728655" cy="411480"/>
          </a:xfrm>
          <a:prstGeom prst="rect">
            <a:avLst/>
          </a:prstGeom>
          <a:noFill/>
        </p:spPr>
        <p:txBody>
          <a:bodyPr wrap="square" lIns="0" tIns="0" rIns="0" bIns="0">
            <a:spAutoFit/>
          </a:bodyPr>
          <a:lstStyle/>
          <a:p>
            <a:pPr>
              <a:defRPr sz="2100" b="1">
                <a:solidFill>
                  <a:srgbClr val="142B4C"/>
                </a:solidFill>
              </a:defRPr>
            </a:pPr>
            <a:r>
              <a:t>Strategic Governance Roadmap &amp; Next Steps</a:t>
            </a:r>
          </a:p>
        </p:txBody>
      </p:sp>
      <p:sp>
        <p:nvSpPr>
          <p:cNvPr id="8" name="TextBox 7"/>
          <p:cNvSpPr txBox="1"/>
          <p:nvPr/>
        </p:nvSpPr>
        <p:spPr>
          <a:xfrm>
            <a:off x="731520" y="987552"/>
            <a:ext cx="10728655" cy="292608"/>
          </a:xfrm>
          <a:prstGeom prst="rect">
            <a:avLst/>
          </a:prstGeom>
          <a:noFill/>
        </p:spPr>
        <p:txBody>
          <a:bodyPr wrap="square" lIns="0" tIns="0" rIns="0" bIns="0">
            <a:spAutoFit/>
          </a:bodyPr>
          <a:lstStyle/>
          <a:p>
            <a:pPr>
              <a:defRPr sz="1100">
                <a:solidFill>
                  <a:srgbClr val="64748B"/>
                </a:solidFill>
              </a:defRPr>
            </a:pPr>
            <a:r>
              <a:t>A Phased 90-Day Implementation Plan for Meridian Third-Party Risk Management</a:t>
            </a:r>
          </a:p>
        </p:txBody>
      </p:sp>
      <p:sp>
        <p:nvSpPr>
          <p:cNvPr id="9" name="Rectangle 8"/>
          <p:cNvSpPr/>
          <p:nvPr/>
        </p:nvSpPr>
        <p:spPr>
          <a:xfrm>
            <a:off x="731520" y="1335024"/>
            <a:ext cx="1371600" cy="36576"/>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673351"/>
            <a:ext cx="3026664" cy="292608"/>
          </a:xfrm>
          <a:prstGeom prst="rect">
            <a:avLst/>
          </a:prstGeom>
          <a:noFill/>
        </p:spPr>
        <p:txBody>
          <a:bodyPr wrap="square" lIns="0" tIns="0" rIns="0" bIns="0">
            <a:spAutoFit/>
          </a:bodyPr>
          <a:lstStyle/>
          <a:p>
            <a:pPr>
              <a:defRPr sz="1200" b="1">
                <a:solidFill>
                  <a:srgbClr val="142B4C"/>
                </a:solidFill>
              </a:defRPr>
            </a:pPr>
            <a:r>
              <a:t>PHASE 1: DAYS 1–30</a:t>
            </a:r>
          </a:p>
        </p:txBody>
      </p:sp>
      <p:sp>
        <p:nvSpPr>
          <p:cNvPr id="13" name="TextBox 12"/>
          <p:cNvSpPr txBox="1"/>
          <p:nvPr/>
        </p:nvSpPr>
        <p:spPr>
          <a:xfrm>
            <a:off x="932688" y="2011680"/>
            <a:ext cx="3026664" cy="4114800"/>
          </a:xfrm>
          <a:prstGeom prst="rect">
            <a:avLst/>
          </a:prstGeom>
          <a:noFill/>
        </p:spPr>
        <p:txBody>
          <a:bodyPr wrap="square" lIns="0" tIns="0" rIns="0" bIns="0">
            <a:spAutoFit/>
          </a:bodyPr>
          <a:lstStyle/>
          <a:p>
            <a:pPr>
              <a:defRPr sz="1050" b="1">
                <a:solidFill>
                  <a:srgbClr val="142B4C"/>
                </a:solidFill>
              </a:defRPr>
            </a:pPr>
            <a:r>
              <a:t>IMMEDIATE TRIAGE &amp; ENQUIRIES</a:t>
            </a:r>
          </a:p>
          <a:p>
            <a:pPr>
              <a:spcBef>
                <a:spcPts val="500"/>
              </a:spcBef>
              <a:defRPr sz="950" b="1">
                <a:solidFill>
                  <a:srgbClr val="142B4C"/>
                </a:solidFill>
              </a:defRPr>
            </a:pPr>
            <a:r>
              <a:t>▪ Core Focus:</a:t>
            </a:r>
          </a:p>
          <a:p>
            <a:pPr>
              <a:spcBef>
                <a:spcPts val="100"/>
              </a:spcBef>
              <a:defRPr sz="850">
                <a:solidFill>
                  <a:srgbClr val="0F172A"/>
                </a:solidFill>
              </a:defRPr>
            </a:pPr>
            <a:r>
              <a:t>Isolate high-risk exposures and dispatch formal inquiries to confirmed AI vendors.</a:t>
            </a:r>
          </a:p>
          <a:p>
            <a:pPr>
              <a:spcBef>
                <a:spcPts val="500"/>
              </a:spcBef>
              <a:defRPr sz="950" b="1">
                <a:solidFill>
                  <a:srgbClr val="142B4C"/>
                </a:solidFill>
              </a:defRPr>
            </a:pPr>
            <a:r>
              <a:t>▪ Workstream 1:</a:t>
            </a:r>
          </a:p>
          <a:p>
            <a:pPr>
              <a:spcBef>
                <a:spcPts val="100"/>
              </a:spcBef>
              <a:defRPr sz="850">
                <a:solidFill>
                  <a:srgbClr val="0F172A"/>
                </a:solidFill>
              </a:defRPr>
            </a:pPr>
            <a:r>
              <a:t>Dispatch 15-day targeted questionnaires to Fiserv (DNA core banking), BNY (RTP rail), and AutomWorx.</a:t>
            </a:r>
          </a:p>
          <a:p>
            <a:pPr>
              <a:spcBef>
                <a:spcPts val="500"/>
              </a:spcBef>
              <a:defRPr sz="950" b="1">
                <a:solidFill>
                  <a:srgbClr val="142B4C"/>
                </a:solidFill>
              </a:defRPr>
            </a:pPr>
            <a:r>
              <a:t>▪ Workstream 2:</a:t>
            </a:r>
          </a:p>
          <a:p>
            <a:pPr>
              <a:spcBef>
                <a:spcPts val="100"/>
              </a:spcBef>
              <a:defRPr sz="850">
                <a:solidFill>
                  <a:srgbClr val="0F172A"/>
                </a:solidFill>
              </a:defRPr>
            </a:pPr>
            <a:r>
              <a:t>Register named AI model providers (Microsoft, OpenAI, Google) in Meridian's GRC inventory.</a:t>
            </a:r>
          </a:p>
          <a:p>
            <a:pPr>
              <a:spcBef>
                <a:spcPts val="500"/>
              </a:spcBef>
              <a:defRPr sz="950" b="1">
                <a:solidFill>
                  <a:srgbClr val="142B4C"/>
                </a:solidFill>
              </a:defRPr>
            </a:pPr>
            <a:r>
              <a:t>▪ Key Deliverable:</a:t>
            </a:r>
          </a:p>
          <a:p>
            <a:pPr>
              <a:spcBef>
                <a:spcPts val="100"/>
              </a:spcBef>
              <a:defRPr sz="850">
                <a:solidFill>
                  <a:srgbClr val="0F172A"/>
                </a:solidFill>
              </a:defRPr>
            </a:pPr>
            <a:r>
              <a:t>Targeted TPRM Questionnaires &amp; Interim Shadow AI Sub-processor Register.</a:t>
            </a:r>
          </a:p>
          <a:p>
            <a:pPr>
              <a:spcBef>
                <a:spcPts val="500"/>
              </a:spcBef>
              <a:defRPr sz="950" b="1">
                <a:solidFill>
                  <a:srgbClr val="142B4C"/>
                </a:solidFill>
              </a:defRPr>
            </a:pPr>
            <a:r>
              <a:t>▪ Success Metric:</a:t>
            </a:r>
          </a:p>
          <a:p>
            <a:pPr>
              <a:spcBef>
                <a:spcPts val="100"/>
              </a:spcBef>
              <a:defRPr sz="850">
                <a:solidFill>
                  <a:srgbClr val="0F172A"/>
                </a:solidFill>
              </a:defRPr>
            </a:pPr>
            <a:r>
              <a:t>100% questionnaire delivery within 10 days; 0 unvetted external models processing live data.</a:t>
            </a:r>
          </a:p>
        </p:txBody>
      </p:sp>
      <p:sp>
        <p:nvSpPr>
          <p:cNvPr id="14" name="Rectangle 13"/>
          <p:cNvSpPr/>
          <p:nvPr/>
        </p:nvSpPr>
        <p:spPr>
          <a:xfrm>
            <a:off x="43891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1673351"/>
            <a:ext cx="3026664" cy="292608"/>
          </a:xfrm>
          <a:prstGeom prst="rect">
            <a:avLst/>
          </a:prstGeom>
          <a:noFill/>
        </p:spPr>
        <p:txBody>
          <a:bodyPr wrap="square" lIns="0" tIns="0" rIns="0" bIns="0">
            <a:spAutoFit/>
          </a:bodyPr>
          <a:lstStyle/>
          <a:p>
            <a:pPr>
              <a:defRPr sz="1200" b="1">
                <a:solidFill>
                  <a:srgbClr val="ED6B2D"/>
                </a:solidFill>
              </a:defRPr>
            </a:pPr>
            <a:r>
              <a:t>PHASE 2: DAYS 31–60</a:t>
            </a:r>
          </a:p>
        </p:txBody>
      </p:sp>
      <p:sp>
        <p:nvSpPr>
          <p:cNvPr id="17" name="TextBox 16"/>
          <p:cNvSpPr txBox="1"/>
          <p:nvPr/>
        </p:nvSpPr>
        <p:spPr>
          <a:xfrm>
            <a:off x="4590288" y="2011680"/>
            <a:ext cx="3026664" cy="4114800"/>
          </a:xfrm>
          <a:prstGeom prst="rect">
            <a:avLst/>
          </a:prstGeom>
          <a:noFill/>
        </p:spPr>
        <p:txBody>
          <a:bodyPr wrap="square" lIns="0" tIns="0" rIns="0" bIns="0">
            <a:spAutoFit/>
          </a:bodyPr>
          <a:lstStyle/>
          <a:p>
            <a:pPr>
              <a:defRPr sz="1050" b="1">
                <a:solidFill>
                  <a:srgbClr val="ED6B2D"/>
                </a:solidFill>
              </a:defRPr>
            </a:pPr>
            <a:r>
              <a:t>ESCALATION &amp; CLAUSE REMEDIATION</a:t>
            </a:r>
          </a:p>
          <a:p>
            <a:pPr>
              <a:spcBef>
                <a:spcPts val="500"/>
              </a:spcBef>
              <a:defRPr sz="950" b="1">
                <a:solidFill>
                  <a:srgbClr val="ED6B2D"/>
                </a:solidFill>
              </a:defRPr>
            </a:pPr>
            <a:r>
              <a:t>▪ Core Focus:</a:t>
            </a:r>
          </a:p>
          <a:p>
            <a:pPr>
              <a:spcBef>
                <a:spcPts val="100"/>
              </a:spcBef>
              <a:defRPr sz="850">
                <a:solidFill>
                  <a:srgbClr val="0F172A"/>
                </a:solidFill>
              </a:defRPr>
            </a:pPr>
            <a:r>
              <a:t>Enforce contractual safeguards and escalate unresponsive or unverified vendor claims.</a:t>
            </a:r>
          </a:p>
          <a:p>
            <a:pPr>
              <a:spcBef>
                <a:spcPts val="500"/>
              </a:spcBef>
              <a:defRPr sz="950" b="1">
                <a:solidFill>
                  <a:srgbClr val="ED6B2D"/>
                </a:solidFill>
              </a:defRPr>
            </a:pPr>
            <a:r>
              <a:t>▪ Workstream 1:</a:t>
            </a:r>
          </a:p>
          <a:p>
            <a:pPr>
              <a:spcBef>
                <a:spcPts val="100"/>
              </a:spcBef>
              <a:defRPr sz="850">
                <a:solidFill>
                  <a:srgbClr val="0F172A"/>
                </a:solidFill>
              </a:defRPr>
            </a:pPr>
            <a:r>
              <a:t>Escalate unconfirmed vendor responses to Meridian Third-Party Risk Committee (TPRC).</a:t>
            </a:r>
          </a:p>
          <a:p>
            <a:pPr>
              <a:spcBef>
                <a:spcPts val="500"/>
              </a:spcBef>
              <a:defRPr sz="950" b="1">
                <a:solidFill>
                  <a:srgbClr val="ED6B2D"/>
                </a:solidFill>
              </a:defRPr>
            </a:pPr>
            <a:r>
              <a:t>▪ Workstream 2:</a:t>
            </a:r>
          </a:p>
          <a:p>
            <a:pPr>
              <a:spcBef>
                <a:spcPts val="100"/>
              </a:spcBef>
              <a:defRPr sz="850">
                <a:solidFill>
                  <a:srgbClr val="0F172A"/>
                </a:solidFill>
              </a:defRPr>
            </a:pPr>
            <a:r>
              <a:t>Demand formal architecture data-flow diagrams from Fiserv and BNY confirming training boundaries.</a:t>
            </a:r>
          </a:p>
          <a:p>
            <a:pPr>
              <a:spcBef>
                <a:spcPts val="500"/>
              </a:spcBef>
              <a:defRPr sz="950" b="1">
                <a:solidFill>
                  <a:srgbClr val="ED6B2D"/>
                </a:solidFill>
              </a:defRPr>
            </a:pPr>
            <a:r>
              <a:t>▪ Key Deliverable:</a:t>
            </a:r>
          </a:p>
          <a:p>
            <a:pPr>
              <a:spcBef>
                <a:spcPts val="100"/>
              </a:spcBef>
              <a:defRPr sz="850">
                <a:solidFill>
                  <a:srgbClr val="0F172A"/>
                </a:solidFill>
              </a:defRPr>
            </a:pPr>
            <a:r>
              <a:t>Executed AI Model Contract Addenda &amp; Mandatory 30-Day Sub-processor Change Notices.</a:t>
            </a:r>
          </a:p>
          <a:p>
            <a:pPr>
              <a:spcBef>
                <a:spcPts val="500"/>
              </a:spcBef>
              <a:defRPr sz="950" b="1">
                <a:solidFill>
                  <a:srgbClr val="ED6B2D"/>
                </a:solidFill>
              </a:defRPr>
            </a:pPr>
            <a:r>
              <a:t>▪ Success Metric:</a:t>
            </a:r>
          </a:p>
          <a:p>
            <a:pPr>
              <a:spcBef>
                <a:spcPts val="100"/>
              </a:spcBef>
              <a:defRPr sz="850">
                <a:solidFill>
                  <a:srgbClr val="0F172A"/>
                </a:solidFill>
              </a:defRPr>
            </a:pPr>
            <a:r>
              <a:t>100% of Critical vendors contractually bound by training prohibitions and audit rights.</a:t>
            </a:r>
          </a:p>
        </p:txBody>
      </p:sp>
      <p:sp>
        <p:nvSpPr>
          <p:cNvPr id="18" name="Rectangle 17"/>
          <p:cNvSpPr/>
          <p:nvPr/>
        </p:nvSpPr>
        <p:spPr>
          <a:xfrm>
            <a:off x="8046720" y="1536192"/>
            <a:ext cx="3429000" cy="4709160"/>
          </a:xfrm>
          <a:prstGeom prst="rect">
            <a:avLst/>
          </a:prstGeom>
          <a:solidFill>
            <a:srgbClr val="FFFFFF"/>
          </a:solidFill>
          <a:ln w="15240">
            <a:solidFill>
              <a:srgbClr val="DA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536192"/>
            <a:ext cx="3429000" cy="45720"/>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47888" y="1673351"/>
            <a:ext cx="3026664" cy="292608"/>
          </a:xfrm>
          <a:prstGeom prst="rect">
            <a:avLst/>
          </a:prstGeom>
          <a:noFill/>
        </p:spPr>
        <p:txBody>
          <a:bodyPr wrap="square" lIns="0" tIns="0" rIns="0" bIns="0">
            <a:spAutoFit/>
          </a:bodyPr>
          <a:lstStyle/>
          <a:p>
            <a:pPr>
              <a:defRPr sz="1200" b="1">
                <a:solidFill>
                  <a:srgbClr val="142B4C"/>
                </a:solidFill>
              </a:defRPr>
            </a:pPr>
            <a:r>
              <a:t>PHASE 3: DAYS 61–90</a:t>
            </a:r>
          </a:p>
        </p:txBody>
      </p:sp>
      <p:sp>
        <p:nvSpPr>
          <p:cNvPr id="21" name="TextBox 20"/>
          <p:cNvSpPr txBox="1"/>
          <p:nvPr/>
        </p:nvSpPr>
        <p:spPr>
          <a:xfrm>
            <a:off x="8247888" y="2011680"/>
            <a:ext cx="3026664" cy="4114800"/>
          </a:xfrm>
          <a:prstGeom prst="rect">
            <a:avLst/>
          </a:prstGeom>
          <a:noFill/>
        </p:spPr>
        <p:txBody>
          <a:bodyPr wrap="square" lIns="0" tIns="0" rIns="0" bIns="0">
            <a:spAutoFit/>
          </a:bodyPr>
          <a:lstStyle/>
          <a:p>
            <a:pPr>
              <a:defRPr sz="1050" b="1">
                <a:solidFill>
                  <a:srgbClr val="142B4C"/>
                </a:solidFill>
              </a:defRPr>
            </a:pPr>
            <a:r>
              <a:t>CONTINUOUS OSINT AUTOMATION</a:t>
            </a:r>
          </a:p>
          <a:p>
            <a:pPr>
              <a:spcBef>
                <a:spcPts val="500"/>
              </a:spcBef>
              <a:defRPr sz="950" b="1">
                <a:solidFill>
                  <a:srgbClr val="142B4C"/>
                </a:solidFill>
              </a:defRPr>
            </a:pPr>
            <a:r>
              <a:t>▪ Core Focus:</a:t>
            </a:r>
          </a:p>
          <a:p>
            <a:pPr>
              <a:spcBef>
                <a:spcPts val="100"/>
              </a:spcBef>
              <a:defRPr sz="850">
                <a:solidFill>
                  <a:srgbClr val="0F172A"/>
                </a:solidFill>
              </a:defRPr>
            </a:pPr>
            <a:r>
              <a:t>Transition from point-in-time assessment to continuous, automated third-party AI discovery.</a:t>
            </a:r>
          </a:p>
          <a:p>
            <a:pPr>
              <a:spcBef>
                <a:spcPts val="500"/>
              </a:spcBef>
              <a:defRPr sz="950" b="1">
                <a:solidFill>
                  <a:srgbClr val="142B4C"/>
                </a:solidFill>
              </a:defRPr>
            </a:pPr>
            <a:r>
              <a:t>▪ Workstream 1:</a:t>
            </a:r>
          </a:p>
          <a:p>
            <a:pPr>
              <a:spcBef>
                <a:spcPts val="100"/>
              </a:spcBef>
              <a:defRPr sz="850">
                <a:solidFill>
                  <a:srgbClr val="0F172A"/>
                </a:solidFill>
              </a:defRPr>
            </a:pPr>
            <a:r>
              <a:t>Integrate OSINT collectors into quarterly CI/CD scheduled crawls with automated diff alerting.</a:t>
            </a:r>
          </a:p>
          <a:p>
            <a:pPr>
              <a:spcBef>
                <a:spcPts val="500"/>
              </a:spcBef>
              <a:defRPr sz="950" b="1">
                <a:solidFill>
                  <a:srgbClr val="142B4C"/>
                </a:solidFill>
              </a:defRPr>
            </a:pPr>
            <a:r>
              <a:t>▪ Workstream 2:</a:t>
            </a:r>
          </a:p>
          <a:p>
            <a:pPr>
              <a:spcBef>
                <a:spcPts val="100"/>
              </a:spcBef>
              <a:defRPr sz="850">
                <a:solidFill>
                  <a:srgbClr val="0F172A"/>
                </a:solidFill>
              </a:defRPr>
            </a:pPr>
            <a:r>
              <a:t>Conduct scheduled manual deep-dives on bot-protected vendors (Terrapin Technologies).</a:t>
            </a:r>
          </a:p>
          <a:p>
            <a:pPr>
              <a:spcBef>
                <a:spcPts val="500"/>
              </a:spcBef>
              <a:defRPr sz="950" b="1">
                <a:solidFill>
                  <a:srgbClr val="142B4C"/>
                </a:solidFill>
              </a:defRPr>
            </a:pPr>
            <a:r>
              <a:t>▪ Key Deliverable:</a:t>
            </a:r>
          </a:p>
          <a:p>
            <a:pPr>
              <a:spcBef>
                <a:spcPts val="100"/>
              </a:spcBef>
              <a:defRPr sz="850">
                <a:solidFill>
                  <a:srgbClr val="0F172A"/>
                </a:solidFill>
              </a:defRPr>
            </a:pPr>
            <a:r>
              <a:t>Automated Quarterly Crawl Engine &amp; Executive Board TPRM Risk Posture Dashboard.</a:t>
            </a:r>
          </a:p>
          <a:p>
            <a:pPr>
              <a:spcBef>
                <a:spcPts val="500"/>
              </a:spcBef>
              <a:defRPr sz="950" b="1">
                <a:solidFill>
                  <a:srgbClr val="142B4C"/>
                </a:solidFill>
              </a:defRPr>
            </a:pPr>
            <a:r>
              <a:t>▪ Success Metric:</a:t>
            </a:r>
          </a:p>
          <a:p>
            <a:pPr>
              <a:spcBef>
                <a:spcPts val="100"/>
              </a:spcBef>
              <a:defRPr sz="850">
                <a:solidFill>
                  <a:srgbClr val="0F172A"/>
                </a:solidFill>
              </a:defRPr>
            </a:pPr>
            <a:r>
              <a:t>Continuous, auditable third-party visibility across 100% of Meridian's vendor ecosystem.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92608"/>
            <a:ext cx="164592" cy="164592"/>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256032"/>
            <a:ext cx="7315200" cy="256032"/>
          </a:xfrm>
          <a:prstGeom prst="rect">
            <a:avLst/>
          </a:prstGeom>
          <a:noFill/>
        </p:spPr>
        <p:txBody>
          <a:bodyPr wrap="square" lIns="0" tIns="0" rIns="0" bIns="0">
            <a:spAutoFit/>
          </a:bodyPr>
          <a:lstStyle/>
          <a:p>
            <a:pPr>
              <a:defRPr sz="950" b="1">
                <a:solidFill>
                  <a:srgbClr val="ED6B2D"/>
                </a:solidFill>
              </a:defRPr>
            </a:pPr>
            <a:r>
              <a:t>DISCUSSION &amp; NEXT STEPS  |  OPTIV CONSULTING</a:t>
            </a:r>
          </a:p>
        </p:txBody>
      </p:sp>
      <p:sp>
        <p:nvSpPr>
          <p:cNvPr id="5" name="TextBox 4"/>
          <p:cNvSpPr txBox="1"/>
          <p:nvPr/>
        </p:nvSpPr>
        <p:spPr>
          <a:xfrm>
            <a:off x="7772400" y="256032"/>
            <a:ext cx="3687775" cy="256032"/>
          </a:xfrm>
          <a:prstGeom prst="rect">
            <a:avLst/>
          </a:prstGeom>
          <a:noFill/>
        </p:spPr>
        <p:txBody>
          <a:bodyPr wrap="none" lIns="0" tIns="0" rIns="0" bIns="0">
            <a:spAutoFit/>
          </a:bodyPr>
          <a:lstStyle/>
          <a:p>
            <a:pPr algn="r">
              <a:defRPr sz="950" b="1">
                <a:solidFill>
                  <a:srgbClr val="FFFFFF"/>
                </a:solidFill>
              </a:defRPr>
            </a:pPr>
            <a:r>
              <a:t>Optiv Consulting  |  Meridian Financial</a:t>
            </a:r>
          </a:p>
        </p:txBody>
      </p:sp>
      <p:sp>
        <p:nvSpPr>
          <p:cNvPr id="6" name="TextBox 5"/>
          <p:cNvSpPr txBox="1"/>
          <p:nvPr/>
        </p:nvSpPr>
        <p:spPr>
          <a:xfrm>
            <a:off x="731520" y="6473952"/>
            <a:ext cx="10728655" cy="228600"/>
          </a:xfrm>
          <a:prstGeom prst="rect">
            <a:avLst/>
          </a:prstGeom>
          <a:noFill/>
        </p:spPr>
        <p:txBody>
          <a:bodyPr wrap="none" lIns="0" tIns="0" rIns="0" bIns="0">
            <a:spAutoFit/>
          </a:bodyPr>
          <a:lstStyle/>
          <a:p>
            <a:pPr>
              <a:defRPr sz="850">
                <a:solidFill>
                  <a:srgbClr val="94A3B8"/>
                </a:solidFill>
              </a:defRPr>
            </a:pPr>
            <a:r>
              <a:t>Confidential  |  Aiman Dhanani (24BYB0033)  |  Case Study 1: Vendor AI Usage Analysis  |  September 2026</a:t>
            </a:r>
          </a:p>
        </p:txBody>
      </p:sp>
      <p:sp>
        <p:nvSpPr>
          <p:cNvPr id="7" name="TextBox 6"/>
          <p:cNvSpPr txBox="1"/>
          <p:nvPr/>
        </p:nvSpPr>
        <p:spPr>
          <a:xfrm>
            <a:off x="731520" y="1097280"/>
            <a:ext cx="10728655" cy="548640"/>
          </a:xfrm>
          <a:prstGeom prst="rect">
            <a:avLst/>
          </a:prstGeom>
          <a:noFill/>
        </p:spPr>
        <p:txBody>
          <a:bodyPr wrap="none" lIns="0" tIns="0" rIns="0" bIns="0">
            <a:spAutoFit/>
          </a:bodyPr>
          <a:lstStyle/>
          <a:p>
            <a:pPr>
              <a:defRPr sz="3600" b="1">
                <a:solidFill>
                  <a:srgbClr val="ED6B2D"/>
                </a:solidFill>
              </a:defRPr>
            </a:pPr>
            <a:r>
              <a:t>Discussion &amp; Questions</a:t>
            </a:r>
          </a:p>
        </p:txBody>
      </p:sp>
      <p:sp>
        <p:nvSpPr>
          <p:cNvPr id="8" name="TextBox 7"/>
          <p:cNvSpPr txBox="1"/>
          <p:nvPr/>
        </p:nvSpPr>
        <p:spPr>
          <a:xfrm>
            <a:off x="731520" y="1691640"/>
            <a:ext cx="10728655" cy="320040"/>
          </a:xfrm>
          <a:prstGeom prst="rect">
            <a:avLst/>
          </a:prstGeom>
          <a:noFill/>
        </p:spPr>
        <p:txBody>
          <a:bodyPr wrap="none" lIns="0" tIns="0" rIns="0" bIns="0">
            <a:spAutoFit/>
          </a:bodyPr>
          <a:lstStyle/>
          <a:p>
            <a:pPr>
              <a:defRPr sz="1300">
                <a:solidFill>
                  <a:srgbClr val="E2E8F0"/>
                </a:solidFill>
              </a:defRPr>
            </a:pPr>
            <a:r>
              <a:t>Thank you for your time and engagement. Key discussion prompts for the Third-Party Risk Committee:</a:t>
            </a:r>
          </a:p>
        </p:txBody>
      </p:sp>
      <p:sp>
        <p:nvSpPr>
          <p:cNvPr id="9" name="Rectangle 8"/>
          <p:cNvSpPr/>
          <p:nvPr/>
        </p:nvSpPr>
        <p:spPr>
          <a:xfrm>
            <a:off x="731520" y="2148840"/>
            <a:ext cx="10728655" cy="2011680"/>
          </a:xfrm>
          <a:prstGeom prst="rect">
            <a:avLst/>
          </a:prstGeom>
          <a:solidFill>
            <a:srgbClr val="112240"/>
          </a:solidFill>
          <a:ln w="15240">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86000"/>
            <a:ext cx="10149840" cy="1737360"/>
          </a:xfrm>
          <a:prstGeom prst="rect">
            <a:avLst/>
          </a:prstGeom>
          <a:noFill/>
        </p:spPr>
        <p:txBody>
          <a:bodyPr wrap="square" lIns="0" tIns="0" rIns="0" bIns="0">
            <a:spAutoFit/>
          </a:bodyPr>
          <a:lstStyle/>
          <a:p>
            <a:pPr>
              <a:defRPr sz="1100">
                <a:solidFill>
                  <a:srgbClr val="FFFFFF"/>
                </a:solidFill>
              </a:defRPr>
            </a:pPr>
            <a:r>
              <a:t>▪ 1. Questionnaire Prioritization: Validating the 15-day targeted questionnaire scope for Fiserv, BNY, and AutomWorx.</a:t>
            </a:r>
          </a:p>
          <a:p>
            <a:pPr>
              <a:spcBef>
                <a:spcPts val="800"/>
              </a:spcBef>
              <a:defRPr sz="1100">
                <a:solidFill>
                  <a:srgbClr val="FFFFFF"/>
                </a:solidFill>
              </a:defRPr>
            </a:pPr>
            <a:r>
              <a:t>▪ 2. Inconclusive Handling: Endorsing our methodology of isolating Terrapin Technologies as the sole honest coverage gap.</a:t>
            </a:r>
          </a:p>
          <a:p>
            <a:pPr>
              <a:spcBef>
                <a:spcPts val="800"/>
              </a:spcBef>
              <a:defRPr sz="1100">
                <a:solidFill>
                  <a:srgbClr val="FFFFFF"/>
                </a:solidFill>
              </a:defRPr>
            </a:pPr>
            <a:r>
              <a:t>▪ 3. Enterprise GRC Integration: Operationalizing quarterly automated OSINT crawls within Meridian's existing risk tools.</a:t>
            </a:r>
          </a:p>
        </p:txBody>
      </p:sp>
      <p:sp>
        <p:nvSpPr>
          <p:cNvPr id="11" name="Rectangle 10"/>
          <p:cNvSpPr/>
          <p:nvPr/>
        </p:nvSpPr>
        <p:spPr>
          <a:xfrm>
            <a:off x="731520" y="4343400"/>
            <a:ext cx="10728655" cy="1920240"/>
          </a:xfrm>
          <a:prstGeom prst="rect">
            <a:avLst/>
          </a:prstGeom>
          <a:solidFill>
            <a:srgbClr val="112240"/>
          </a:solidFill>
          <a:ln w="19050">
            <a:solidFill>
              <a:srgbClr val="1E3A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4343400"/>
            <a:ext cx="10728655" cy="54864"/>
          </a:xfrm>
          <a:prstGeom prst="rect">
            <a:avLst/>
          </a:prstGeom>
          <a:solidFill>
            <a:srgbClr val="ED6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553712"/>
            <a:ext cx="10149840" cy="1554480"/>
          </a:xfrm>
          <a:prstGeom prst="rect">
            <a:avLst/>
          </a:prstGeom>
          <a:noFill/>
        </p:spPr>
        <p:txBody>
          <a:bodyPr wrap="square" lIns="0" tIns="0" rIns="0" bIns="0">
            <a:spAutoFit/>
          </a:bodyPr>
          <a:lstStyle/>
          <a:p>
            <a:pPr>
              <a:defRPr sz="1550" b="1">
                <a:solidFill>
                  <a:srgbClr val="ED6B2D"/>
                </a:solidFill>
              </a:defRPr>
            </a:pPr>
            <a:r>
              <a:t>AIMAN DHANANI  •  REGISTRATION NUMBER: 24BYB0033</a:t>
            </a:r>
          </a:p>
          <a:p>
            <a:pPr>
              <a:spcBef>
                <a:spcPts val="600"/>
              </a:spcBef>
              <a:defRPr sz="1150">
                <a:solidFill>
                  <a:srgbClr val="CBD5E1"/>
                </a:solidFill>
              </a:defRPr>
            </a:pPr>
            <a:r>
              <a:t>Cyber Strategy Practice  |  Optiv Consulting  |  VIT Campus Engagement</a:t>
            </a:r>
            <a:br/>
            <a:r>
              <a:t>Deliverables: data/Meridian_Vendor_Output.xlsx  |  Streamlit Presentation Demo  |  Unit Tests (18/18 Pass)</a:t>
            </a:r>
            <a:br/>
            <a:r>
              <a:t>Repository: https://github.com/Aiman-D/optiv-case-study-1  |  Confidential  |  September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